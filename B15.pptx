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360" r:id="rId3"/>
    <p:sldId id="361" r:id="rId4"/>
    <p:sldId id="257" r:id="rId5"/>
    <p:sldId id="259" r:id="rId6"/>
    <p:sldId id="267" r:id="rId7"/>
    <p:sldId id="336" r:id="rId8"/>
    <p:sldId id="337" r:id="rId9"/>
    <p:sldId id="339" r:id="rId10"/>
    <p:sldId id="340" r:id="rId11"/>
    <p:sldId id="341" r:id="rId12"/>
    <p:sldId id="342" r:id="rId13"/>
    <p:sldId id="260" r:id="rId14"/>
    <p:sldId id="343" r:id="rId15"/>
    <p:sldId id="274" r:id="rId16"/>
    <p:sldId id="352" r:id="rId17"/>
    <p:sldId id="355" r:id="rId18"/>
    <p:sldId id="268" r:id="rId19"/>
    <p:sldId id="286" r:id="rId20"/>
    <p:sldId id="287" r:id="rId21"/>
    <p:sldId id="288" r:id="rId22"/>
    <p:sldId id="358" r:id="rId23"/>
    <p:sldId id="359" r:id="rId24"/>
    <p:sldId id="363" r:id="rId25"/>
    <p:sldId id="367" r:id="rId26"/>
    <p:sldId id="365" r:id="rId27"/>
    <p:sldId id="348" r:id="rId28"/>
    <p:sldId id="289" r:id="rId29"/>
    <p:sldId id="264" r:id="rId30"/>
    <p:sldId id="265" r:id="rId31"/>
    <p:sldId id="272" r:id="rId32"/>
    <p:sldId id="266"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p:scale>
          <a:sx n="75" d="100"/>
          <a:sy n="75" d="100"/>
        </p:scale>
        <p:origin x="946" y="21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esh chinnu" userId="09bee3bf25e4d92d" providerId="LiveId" clId="{7230CBB1-427F-4FD6-8BC6-F34C06F63AF8}"/>
    <pc:docChg chg="undo custSel modSld">
      <pc:chgData name="dinesh chinnu" userId="09bee3bf25e4d92d" providerId="LiveId" clId="{7230CBB1-427F-4FD6-8BC6-F34C06F63AF8}" dt="2026-04-10T05:01:15.914" v="1046" actId="20577"/>
      <pc:docMkLst>
        <pc:docMk/>
      </pc:docMkLst>
      <pc:sldChg chg="modSp mod">
        <pc:chgData name="dinesh chinnu" userId="09bee3bf25e4d92d" providerId="LiveId" clId="{7230CBB1-427F-4FD6-8BC6-F34C06F63AF8}" dt="2026-04-10T05:01:15.914" v="1046" actId="20577"/>
        <pc:sldMkLst>
          <pc:docMk/>
          <pc:sldMk cId="0" sldId="256"/>
        </pc:sldMkLst>
        <pc:spChg chg="mod">
          <ac:chgData name="dinesh chinnu" userId="09bee3bf25e4d92d" providerId="LiveId" clId="{7230CBB1-427F-4FD6-8BC6-F34C06F63AF8}" dt="2026-04-10T05:01:15.914" v="1046" actId="20577"/>
          <ac:spMkLst>
            <pc:docMk/>
            <pc:sldMk cId="0" sldId="256"/>
            <ac:spMk id="12" creationId="{00000000-0000-0000-0000-000000000000}"/>
          </ac:spMkLst>
        </pc:spChg>
        <pc:spChg chg="mod">
          <ac:chgData name="dinesh chinnu" userId="09bee3bf25e4d92d" providerId="LiveId" clId="{7230CBB1-427F-4FD6-8BC6-F34C06F63AF8}" dt="2026-04-10T05:01:11.989" v="1045" actId="1076"/>
          <ac:spMkLst>
            <pc:docMk/>
            <pc:sldMk cId="0" sldId="256"/>
            <ac:spMk id="17" creationId="{00000000-0000-0000-0000-000000000000}"/>
          </ac:spMkLst>
        </pc:spChg>
      </pc:sldChg>
      <pc:sldChg chg="modSp mod">
        <pc:chgData name="dinesh chinnu" userId="09bee3bf25e4d92d" providerId="LiveId" clId="{7230CBB1-427F-4FD6-8BC6-F34C06F63AF8}" dt="2026-04-10T04:49:15.171" v="160"/>
        <pc:sldMkLst>
          <pc:docMk/>
          <pc:sldMk cId="0" sldId="257"/>
        </pc:sldMkLst>
        <pc:spChg chg="mod">
          <ac:chgData name="dinesh chinnu" userId="09bee3bf25e4d92d" providerId="LiveId" clId="{7230CBB1-427F-4FD6-8BC6-F34C06F63AF8}" dt="2026-04-10T04:49:15.171" v="160"/>
          <ac:spMkLst>
            <pc:docMk/>
            <pc:sldMk cId="0" sldId="257"/>
            <ac:spMk id="14" creationId="{8BE28CC1-3175-FE25-3071-3C0E6FD20864}"/>
          </ac:spMkLst>
        </pc:spChg>
      </pc:sldChg>
      <pc:sldChg chg="modSp mod">
        <pc:chgData name="dinesh chinnu" userId="09bee3bf25e4d92d" providerId="LiveId" clId="{7230CBB1-427F-4FD6-8BC6-F34C06F63AF8}" dt="2026-04-10T04:49:38.354" v="192" actId="14100"/>
        <pc:sldMkLst>
          <pc:docMk/>
          <pc:sldMk cId="0" sldId="259"/>
        </pc:sldMkLst>
        <pc:spChg chg="mod">
          <ac:chgData name="dinesh chinnu" userId="09bee3bf25e4d92d" providerId="LiveId" clId="{7230CBB1-427F-4FD6-8BC6-F34C06F63AF8}" dt="2026-04-10T04:49:38.354" v="192" actId="14100"/>
          <ac:spMkLst>
            <pc:docMk/>
            <pc:sldMk cId="0" sldId="259"/>
            <ac:spMk id="2" creationId="{00000000-0000-0000-0000-000000000000}"/>
          </ac:spMkLst>
        </pc:spChg>
      </pc:sldChg>
      <pc:sldChg chg="modSp mod">
        <pc:chgData name="dinesh chinnu" userId="09bee3bf25e4d92d" providerId="LiveId" clId="{7230CBB1-427F-4FD6-8BC6-F34C06F63AF8}" dt="2026-04-10T04:51:19.280" v="348" actId="14100"/>
        <pc:sldMkLst>
          <pc:docMk/>
          <pc:sldMk cId="0" sldId="260"/>
        </pc:sldMkLst>
        <pc:spChg chg="mod">
          <ac:chgData name="dinesh chinnu" userId="09bee3bf25e4d92d" providerId="LiveId" clId="{7230CBB1-427F-4FD6-8BC6-F34C06F63AF8}" dt="2026-04-10T04:51:19.280" v="348" actId="14100"/>
          <ac:spMkLst>
            <pc:docMk/>
            <pc:sldMk cId="0" sldId="260"/>
            <ac:spMk id="2" creationId="{00000000-0000-0000-0000-000000000000}"/>
          </ac:spMkLst>
        </pc:spChg>
      </pc:sldChg>
      <pc:sldChg chg="modSp mod">
        <pc:chgData name="dinesh chinnu" userId="09bee3bf25e4d92d" providerId="LiveId" clId="{7230CBB1-427F-4FD6-8BC6-F34C06F63AF8}" dt="2026-04-10T04:55:01.248" v="660" actId="20577"/>
        <pc:sldMkLst>
          <pc:docMk/>
          <pc:sldMk cId="0" sldId="264"/>
        </pc:sldMkLst>
        <pc:spChg chg="mod">
          <ac:chgData name="dinesh chinnu" userId="09bee3bf25e4d92d" providerId="LiveId" clId="{7230CBB1-427F-4FD6-8BC6-F34C06F63AF8}" dt="2026-04-10T04:55:01.248" v="660" actId="20577"/>
          <ac:spMkLst>
            <pc:docMk/>
            <pc:sldMk cId="0" sldId="264"/>
            <ac:spMk id="2" creationId="{00000000-0000-0000-0000-000000000000}"/>
          </ac:spMkLst>
        </pc:spChg>
      </pc:sldChg>
      <pc:sldChg chg="modSp mod">
        <pc:chgData name="dinesh chinnu" userId="09bee3bf25e4d92d" providerId="LiveId" clId="{7230CBB1-427F-4FD6-8BC6-F34C06F63AF8}" dt="2026-04-10T04:55:25.551" v="683" actId="14100"/>
        <pc:sldMkLst>
          <pc:docMk/>
          <pc:sldMk cId="0" sldId="265"/>
        </pc:sldMkLst>
        <pc:spChg chg="mod">
          <ac:chgData name="dinesh chinnu" userId="09bee3bf25e4d92d" providerId="LiveId" clId="{7230CBB1-427F-4FD6-8BC6-F34C06F63AF8}" dt="2026-04-10T04:55:25.551" v="683" actId="14100"/>
          <ac:spMkLst>
            <pc:docMk/>
            <pc:sldMk cId="0" sldId="265"/>
            <ac:spMk id="4" creationId="{00000000-0000-0000-0000-000000000000}"/>
          </ac:spMkLst>
        </pc:spChg>
      </pc:sldChg>
      <pc:sldChg chg="modSp mod">
        <pc:chgData name="dinesh chinnu" userId="09bee3bf25e4d92d" providerId="LiveId" clId="{7230CBB1-427F-4FD6-8BC6-F34C06F63AF8}" dt="2026-04-10T04:56:10.752" v="790" actId="20577"/>
        <pc:sldMkLst>
          <pc:docMk/>
          <pc:sldMk cId="0" sldId="266"/>
        </pc:sldMkLst>
        <pc:spChg chg="mod">
          <ac:chgData name="dinesh chinnu" userId="09bee3bf25e4d92d" providerId="LiveId" clId="{7230CBB1-427F-4FD6-8BC6-F34C06F63AF8}" dt="2026-04-10T04:56:10.752" v="790" actId="20577"/>
          <ac:spMkLst>
            <pc:docMk/>
            <pc:sldMk cId="0" sldId="266"/>
            <ac:spMk id="3" creationId="{00000000-0000-0000-0000-000000000000}"/>
          </ac:spMkLst>
        </pc:spChg>
      </pc:sldChg>
      <pc:sldChg chg="modSp mod">
        <pc:chgData name="dinesh chinnu" userId="09bee3bf25e4d92d" providerId="LiveId" clId="{7230CBB1-427F-4FD6-8BC6-F34C06F63AF8}" dt="2026-04-10T04:50:00.009" v="201"/>
        <pc:sldMkLst>
          <pc:docMk/>
          <pc:sldMk cId="768045852" sldId="267"/>
        </pc:sldMkLst>
        <pc:spChg chg="mod">
          <ac:chgData name="dinesh chinnu" userId="09bee3bf25e4d92d" providerId="LiveId" clId="{7230CBB1-427F-4FD6-8BC6-F34C06F63AF8}" dt="2026-04-10T04:50:00.009" v="201"/>
          <ac:spMkLst>
            <pc:docMk/>
            <pc:sldMk cId="768045852" sldId="267"/>
            <ac:spMk id="2" creationId="{835A89D4-52AC-1D8D-E2E4-9A84CD4CD896}"/>
          </ac:spMkLst>
        </pc:spChg>
      </pc:sldChg>
      <pc:sldChg chg="modSp mod">
        <pc:chgData name="dinesh chinnu" userId="09bee3bf25e4d92d" providerId="LiveId" clId="{7230CBB1-427F-4FD6-8BC6-F34C06F63AF8}" dt="2026-04-10T04:52:25.251" v="439" actId="14100"/>
        <pc:sldMkLst>
          <pc:docMk/>
          <pc:sldMk cId="0" sldId="268"/>
        </pc:sldMkLst>
        <pc:spChg chg="mod">
          <ac:chgData name="dinesh chinnu" userId="09bee3bf25e4d92d" providerId="LiveId" clId="{7230CBB1-427F-4FD6-8BC6-F34C06F63AF8}" dt="2026-04-10T04:52:25.251" v="439" actId="14100"/>
          <ac:spMkLst>
            <pc:docMk/>
            <pc:sldMk cId="0" sldId="268"/>
            <ac:spMk id="12" creationId="{556D862C-BC1D-7C2E-717B-ADEFD6BB9069}"/>
          </ac:spMkLst>
        </pc:spChg>
      </pc:sldChg>
      <pc:sldChg chg="addSp delSp modSp mod">
        <pc:chgData name="dinesh chinnu" userId="09bee3bf25e4d92d" providerId="LiveId" clId="{7230CBB1-427F-4FD6-8BC6-F34C06F63AF8}" dt="2026-04-10T05:00:41.085" v="1014" actId="20577"/>
        <pc:sldMkLst>
          <pc:docMk/>
          <pc:sldMk cId="0" sldId="272"/>
        </pc:sldMkLst>
        <pc:spChg chg="add del mod">
          <ac:chgData name="dinesh chinnu" userId="09bee3bf25e4d92d" providerId="LiveId" clId="{7230CBB1-427F-4FD6-8BC6-F34C06F63AF8}" dt="2026-04-10T04:58:08.357" v="906" actId="20577"/>
          <ac:spMkLst>
            <pc:docMk/>
            <pc:sldMk cId="0" sldId="272"/>
            <ac:spMk id="3" creationId="{67980CE8-0DF4-ADFB-351E-3165106C569D}"/>
          </ac:spMkLst>
        </pc:spChg>
        <pc:spChg chg="add del mod">
          <ac:chgData name="dinesh chinnu" userId="09bee3bf25e4d92d" providerId="LiveId" clId="{7230CBB1-427F-4FD6-8BC6-F34C06F63AF8}" dt="2026-04-10T04:59:51.709" v="972" actId="478"/>
          <ac:spMkLst>
            <pc:docMk/>
            <pc:sldMk cId="0" sldId="272"/>
            <ac:spMk id="5" creationId="{6BCF3A71-6274-C7C3-B3F3-303DB04242BE}"/>
          </ac:spMkLst>
        </pc:spChg>
        <pc:spChg chg="add mod">
          <ac:chgData name="dinesh chinnu" userId="09bee3bf25e4d92d" providerId="LiveId" clId="{7230CBB1-427F-4FD6-8BC6-F34C06F63AF8}" dt="2026-04-10T05:00:41.085" v="1014" actId="20577"/>
          <ac:spMkLst>
            <pc:docMk/>
            <pc:sldMk cId="0" sldId="272"/>
            <ac:spMk id="7" creationId="{7DB598F6-BACA-8C04-F648-6C282B028181}"/>
          </ac:spMkLst>
        </pc:spChg>
        <pc:graphicFrameChg chg="modGraphic">
          <ac:chgData name="dinesh chinnu" userId="09bee3bf25e4d92d" providerId="LiveId" clId="{7230CBB1-427F-4FD6-8BC6-F34C06F63AF8}" dt="2026-04-09T17:07:25.843" v="20" actId="20577"/>
          <ac:graphicFrameMkLst>
            <pc:docMk/>
            <pc:sldMk cId="0" sldId="272"/>
            <ac:graphicFrameMk id="4" creationId="{40F8C159-E10E-1263-C3EF-28CF1B6055A5}"/>
          </ac:graphicFrameMkLst>
        </pc:graphicFrameChg>
      </pc:sldChg>
      <pc:sldChg chg="modSp mod">
        <pc:chgData name="dinesh chinnu" userId="09bee3bf25e4d92d" providerId="LiveId" clId="{7230CBB1-427F-4FD6-8BC6-F34C06F63AF8}" dt="2026-04-10T04:51:50.829" v="375" actId="14100"/>
        <pc:sldMkLst>
          <pc:docMk/>
          <pc:sldMk cId="0" sldId="274"/>
        </pc:sldMkLst>
        <pc:spChg chg="mod">
          <ac:chgData name="dinesh chinnu" userId="09bee3bf25e4d92d" providerId="LiveId" clId="{7230CBB1-427F-4FD6-8BC6-F34C06F63AF8}" dt="2026-04-10T04:51:50.829" v="375" actId="14100"/>
          <ac:spMkLst>
            <pc:docMk/>
            <pc:sldMk cId="0" sldId="274"/>
            <ac:spMk id="13" creationId="{5F67BBB7-854C-C2BF-D0C0-35C42EFB4936}"/>
          </ac:spMkLst>
        </pc:spChg>
      </pc:sldChg>
      <pc:sldChg chg="modSp mod">
        <pc:chgData name="dinesh chinnu" userId="09bee3bf25e4d92d" providerId="LiveId" clId="{7230CBB1-427F-4FD6-8BC6-F34C06F63AF8}" dt="2026-04-10T04:52:44.368" v="459"/>
        <pc:sldMkLst>
          <pc:docMk/>
          <pc:sldMk cId="0" sldId="286"/>
        </pc:sldMkLst>
        <pc:spChg chg="mod">
          <ac:chgData name="dinesh chinnu" userId="09bee3bf25e4d92d" providerId="LiveId" clId="{7230CBB1-427F-4FD6-8BC6-F34C06F63AF8}" dt="2026-04-10T04:52:44.368" v="459"/>
          <ac:spMkLst>
            <pc:docMk/>
            <pc:sldMk cId="0" sldId="286"/>
            <ac:spMk id="2" creationId="{00000000-0000-0000-0000-000000000000}"/>
          </ac:spMkLst>
        </pc:spChg>
      </pc:sldChg>
      <pc:sldChg chg="modSp mod">
        <pc:chgData name="dinesh chinnu" userId="09bee3bf25e4d92d" providerId="LiveId" clId="{7230CBB1-427F-4FD6-8BC6-F34C06F63AF8}" dt="2026-04-10T04:53:03.194" v="473" actId="20577"/>
        <pc:sldMkLst>
          <pc:docMk/>
          <pc:sldMk cId="0" sldId="287"/>
        </pc:sldMkLst>
        <pc:spChg chg="mod">
          <ac:chgData name="dinesh chinnu" userId="09bee3bf25e4d92d" providerId="LiveId" clId="{7230CBB1-427F-4FD6-8BC6-F34C06F63AF8}" dt="2026-04-10T04:53:03.194" v="473" actId="20577"/>
          <ac:spMkLst>
            <pc:docMk/>
            <pc:sldMk cId="0" sldId="287"/>
            <ac:spMk id="2" creationId="{00000000-0000-0000-0000-000000000000}"/>
          </ac:spMkLst>
        </pc:spChg>
      </pc:sldChg>
      <pc:sldChg chg="modSp mod">
        <pc:chgData name="dinesh chinnu" userId="09bee3bf25e4d92d" providerId="LiveId" clId="{7230CBB1-427F-4FD6-8BC6-F34C06F63AF8}" dt="2026-04-10T04:53:20.975" v="494"/>
        <pc:sldMkLst>
          <pc:docMk/>
          <pc:sldMk cId="0" sldId="288"/>
        </pc:sldMkLst>
        <pc:spChg chg="mod">
          <ac:chgData name="dinesh chinnu" userId="09bee3bf25e4d92d" providerId="LiveId" clId="{7230CBB1-427F-4FD6-8BC6-F34C06F63AF8}" dt="2026-04-10T04:53:20.975" v="494"/>
          <ac:spMkLst>
            <pc:docMk/>
            <pc:sldMk cId="0" sldId="288"/>
            <ac:spMk id="2" creationId="{00000000-0000-0000-0000-000000000000}"/>
          </ac:spMkLst>
        </pc:spChg>
      </pc:sldChg>
      <pc:sldChg chg="modSp mod">
        <pc:chgData name="dinesh chinnu" userId="09bee3bf25e4d92d" providerId="LiveId" clId="{7230CBB1-427F-4FD6-8BC6-F34C06F63AF8}" dt="2026-04-10T04:54:37.207" v="638" actId="20577"/>
        <pc:sldMkLst>
          <pc:docMk/>
          <pc:sldMk cId="0" sldId="289"/>
        </pc:sldMkLst>
        <pc:spChg chg="mod">
          <ac:chgData name="dinesh chinnu" userId="09bee3bf25e4d92d" providerId="LiveId" clId="{7230CBB1-427F-4FD6-8BC6-F34C06F63AF8}" dt="2026-04-10T04:54:37.207" v="638" actId="20577"/>
          <ac:spMkLst>
            <pc:docMk/>
            <pc:sldMk cId="0" sldId="289"/>
            <ac:spMk id="4" creationId="{00000000-0000-0000-0000-000000000000}"/>
          </ac:spMkLst>
        </pc:spChg>
      </pc:sldChg>
      <pc:sldChg chg="addSp delSp modSp mod">
        <pc:chgData name="dinesh chinnu" userId="09bee3bf25e4d92d" providerId="LiveId" clId="{7230CBB1-427F-4FD6-8BC6-F34C06F63AF8}" dt="2026-04-10T04:50:10.468" v="222"/>
        <pc:sldMkLst>
          <pc:docMk/>
          <pc:sldMk cId="3700435304" sldId="336"/>
        </pc:sldMkLst>
        <pc:spChg chg="mod">
          <ac:chgData name="dinesh chinnu" userId="09bee3bf25e4d92d" providerId="LiveId" clId="{7230CBB1-427F-4FD6-8BC6-F34C06F63AF8}" dt="2026-04-10T04:50:10.468" v="222"/>
          <ac:spMkLst>
            <pc:docMk/>
            <pc:sldMk cId="3700435304" sldId="336"/>
            <ac:spMk id="4" creationId="{67980CE8-0DF4-ADFB-351E-3165106C569D}"/>
          </ac:spMkLst>
        </pc:spChg>
        <pc:inkChg chg="add del">
          <ac:chgData name="dinesh chinnu" userId="09bee3bf25e4d92d" providerId="LiveId" clId="{7230CBB1-427F-4FD6-8BC6-F34C06F63AF8}" dt="2026-04-09T17:05:05.501" v="1" actId="9405"/>
          <ac:inkMkLst>
            <pc:docMk/>
            <pc:sldMk cId="3700435304" sldId="336"/>
            <ac:inkMk id="7" creationId="{41885853-2C8A-E8F9-3700-A2A47B841BEF}"/>
          </ac:inkMkLst>
        </pc:inkChg>
      </pc:sldChg>
      <pc:sldChg chg="modSp mod">
        <pc:chgData name="dinesh chinnu" userId="09bee3bf25e4d92d" providerId="LiveId" clId="{7230CBB1-427F-4FD6-8BC6-F34C06F63AF8}" dt="2026-04-10T04:50:32.025" v="262"/>
        <pc:sldMkLst>
          <pc:docMk/>
          <pc:sldMk cId="3944143009" sldId="337"/>
        </pc:sldMkLst>
        <pc:spChg chg="mod">
          <ac:chgData name="dinesh chinnu" userId="09bee3bf25e4d92d" providerId="LiveId" clId="{7230CBB1-427F-4FD6-8BC6-F34C06F63AF8}" dt="2026-04-10T04:50:32.025" v="262"/>
          <ac:spMkLst>
            <pc:docMk/>
            <pc:sldMk cId="3944143009" sldId="337"/>
            <ac:spMk id="7" creationId="{1810DAC3-C162-1B54-A3FB-7C9D444D1B40}"/>
          </ac:spMkLst>
        </pc:spChg>
      </pc:sldChg>
      <pc:sldChg chg="modSp mod">
        <pc:chgData name="dinesh chinnu" userId="09bee3bf25e4d92d" providerId="LiveId" clId="{7230CBB1-427F-4FD6-8BC6-F34C06F63AF8}" dt="2026-04-10T04:50:18.968" v="242"/>
        <pc:sldMkLst>
          <pc:docMk/>
          <pc:sldMk cId="1625868888" sldId="339"/>
        </pc:sldMkLst>
        <pc:spChg chg="mod">
          <ac:chgData name="dinesh chinnu" userId="09bee3bf25e4d92d" providerId="LiveId" clId="{7230CBB1-427F-4FD6-8BC6-F34C06F63AF8}" dt="2026-04-10T04:50:18.968" v="242"/>
          <ac:spMkLst>
            <pc:docMk/>
            <pc:sldMk cId="1625868888" sldId="339"/>
            <ac:spMk id="12" creationId="{FDBC4DA0-3485-77FC-A50F-9616A37F4E78}"/>
          </ac:spMkLst>
        </pc:spChg>
      </pc:sldChg>
      <pc:sldChg chg="modSp mod">
        <pc:chgData name="dinesh chinnu" userId="09bee3bf25e4d92d" providerId="LiveId" clId="{7230CBB1-427F-4FD6-8BC6-F34C06F63AF8}" dt="2026-04-10T04:50:44.023" v="282"/>
        <pc:sldMkLst>
          <pc:docMk/>
          <pc:sldMk cId="2039676073" sldId="340"/>
        </pc:sldMkLst>
        <pc:spChg chg="mod">
          <ac:chgData name="dinesh chinnu" userId="09bee3bf25e4d92d" providerId="LiveId" clId="{7230CBB1-427F-4FD6-8BC6-F34C06F63AF8}" dt="2026-04-10T04:50:44.023" v="282"/>
          <ac:spMkLst>
            <pc:docMk/>
            <pc:sldMk cId="2039676073" sldId="340"/>
            <ac:spMk id="7" creationId="{3CA54D76-2C5B-3B0A-6AB6-4C241DC7C0CB}"/>
          </ac:spMkLst>
        </pc:spChg>
      </pc:sldChg>
      <pc:sldChg chg="modSp mod">
        <pc:chgData name="dinesh chinnu" userId="09bee3bf25e4d92d" providerId="LiveId" clId="{7230CBB1-427F-4FD6-8BC6-F34C06F63AF8}" dt="2026-04-10T04:50:58.111" v="305"/>
        <pc:sldMkLst>
          <pc:docMk/>
          <pc:sldMk cId="2843614100" sldId="341"/>
        </pc:sldMkLst>
        <pc:spChg chg="mod">
          <ac:chgData name="dinesh chinnu" userId="09bee3bf25e4d92d" providerId="LiveId" clId="{7230CBB1-427F-4FD6-8BC6-F34C06F63AF8}" dt="2026-04-10T04:50:58.111" v="305"/>
          <ac:spMkLst>
            <pc:docMk/>
            <pc:sldMk cId="2843614100" sldId="341"/>
            <ac:spMk id="7" creationId="{5F782A64-5024-0D32-D726-4B18742BB096}"/>
          </ac:spMkLst>
        </pc:spChg>
        <pc:graphicFrameChg chg="modGraphic">
          <ac:chgData name="dinesh chinnu" userId="09bee3bf25e4d92d" providerId="LiveId" clId="{7230CBB1-427F-4FD6-8BC6-F34C06F63AF8}" dt="2026-04-09T17:06:02.212" v="3" actId="20577"/>
          <ac:graphicFrameMkLst>
            <pc:docMk/>
            <pc:sldMk cId="2843614100" sldId="341"/>
            <ac:graphicFrameMk id="5" creationId="{1ACFE0DA-BCE7-1FD1-A621-4D3EBA2A9796}"/>
          </ac:graphicFrameMkLst>
        </pc:graphicFrameChg>
      </pc:sldChg>
      <pc:sldChg chg="modSp mod">
        <pc:chgData name="dinesh chinnu" userId="09bee3bf25e4d92d" providerId="LiveId" clId="{7230CBB1-427F-4FD6-8BC6-F34C06F63AF8}" dt="2026-04-10T04:51:07.125" v="326"/>
        <pc:sldMkLst>
          <pc:docMk/>
          <pc:sldMk cId="576659366" sldId="342"/>
        </pc:sldMkLst>
        <pc:spChg chg="mod">
          <ac:chgData name="dinesh chinnu" userId="09bee3bf25e4d92d" providerId="LiveId" clId="{7230CBB1-427F-4FD6-8BC6-F34C06F63AF8}" dt="2026-04-10T04:51:07.125" v="326"/>
          <ac:spMkLst>
            <pc:docMk/>
            <pc:sldMk cId="576659366" sldId="342"/>
            <ac:spMk id="7" creationId="{A8108747-1D1C-3EDF-8F68-005E9A83C918}"/>
          </ac:spMkLst>
        </pc:spChg>
        <pc:graphicFrameChg chg="modGraphic">
          <ac:chgData name="dinesh chinnu" userId="09bee3bf25e4d92d" providerId="LiveId" clId="{7230CBB1-427F-4FD6-8BC6-F34C06F63AF8}" dt="2026-04-09T17:06:09.570" v="5" actId="20577"/>
          <ac:graphicFrameMkLst>
            <pc:docMk/>
            <pc:sldMk cId="576659366" sldId="342"/>
            <ac:graphicFrameMk id="5" creationId="{40F8C159-E10E-1263-C3EF-28CF1B6055A5}"/>
          </ac:graphicFrameMkLst>
        </pc:graphicFrameChg>
      </pc:sldChg>
      <pc:sldChg chg="modSp mod">
        <pc:chgData name="dinesh chinnu" userId="09bee3bf25e4d92d" providerId="LiveId" clId="{7230CBB1-427F-4FD6-8BC6-F34C06F63AF8}" dt="2026-04-10T04:51:34.002" v="371" actId="14100"/>
        <pc:sldMkLst>
          <pc:docMk/>
          <pc:sldMk cId="3024609542" sldId="343"/>
        </pc:sldMkLst>
        <pc:spChg chg="mod">
          <ac:chgData name="dinesh chinnu" userId="09bee3bf25e4d92d" providerId="LiveId" clId="{7230CBB1-427F-4FD6-8BC6-F34C06F63AF8}" dt="2026-04-10T04:51:34.002" v="371" actId="14100"/>
          <ac:spMkLst>
            <pc:docMk/>
            <pc:sldMk cId="3024609542" sldId="343"/>
            <ac:spMk id="2" creationId="{411CE394-0AE2-38F9-D8B2-50A0AC6C9DDD}"/>
          </ac:spMkLst>
        </pc:spChg>
      </pc:sldChg>
      <pc:sldChg chg="modSp mod">
        <pc:chgData name="dinesh chinnu" userId="09bee3bf25e4d92d" providerId="LiveId" clId="{7230CBB1-427F-4FD6-8BC6-F34C06F63AF8}" dt="2026-04-10T04:54:24.611" v="616"/>
        <pc:sldMkLst>
          <pc:docMk/>
          <pc:sldMk cId="3963302981" sldId="348"/>
        </pc:sldMkLst>
        <pc:spChg chg="mod">
          <ac:chgData name="dinesh chinnu" userId="09bee3bf25e4d92d" providerId="LiveId" clId="{7230CBB1-427F-4FD6-8BC6-F34C06F63AF8}" dt="2026-04-10T04:54:24.611" v="616"/>
          <ac:spMkLst>
            <pc:docMk/>
            <pc:sldMk cId="3963302981" sldId="348"/>
            <ac:spMk id="4" creationId="{1593648D-5B93-C008-2CB7-6D89762C0910}"/>
          </ac:spMkLst>
        </pc:spChg>
        <pc:graphicFrameChg chg="modGraphic">
          <ac:chgData name="dinesh chinnu" userId="09bee3bf25e4d92d" providerId="LiveId" clId="{7230CBB1-427F-4FD6-8BC6-F34C06F63AF8}" dt="2026-04-09T17:07:15.518" v="16" actId="20577"/>
          <ac:graphicFrameMkLst>
            <pc:docMk/>
            <pc:sldMk cId="3963302981" sldId="348"/>
            <ac:graphicFrameMk id="6" creationId="{40F8C159-E10E-1263-C3EF-28CF1B6055A5}"/>
          </ac:graphicFrameMkLst>
        </pc:graphicFrameChg>
      </pc:sldChg>
      <pc:sldChg chg="modSp mod">
        <pc:chgData name="dinesh chinnu" userId="09bee3bf25e4d92d" providerId="LiveId" clId="{7230CBB1-427F-4FD6-8BC6-F34C06F63AF8}" dt="2026-04-10T04:52:04.879" v="396"/>
        <pc:sldMkLst>
          <pc:docMk/>
          <pc:sldMk cId="2860490016" sldId="352"/>
        </pc:sldMkLst>
        <pc:spChg chg="mod">
          <ac:chgData name="dinesh chinnu" userId="09bee3bf25e4d92d" providerId="LiveId" clId="{7230CBB1-427F-4FD6-8BC6-F34C06F63AF8}" dt="2026-04-10T04:52:04.879" v="396"/>
          <ac:spMkLst>
            <pc:docMk/>
            <pc:sldMk cId="2860490016" sldId="352"/>
            <ac:spMk id="14" creationId="{D6B1D9D8-581A-50EB-BD05-1CCEE66756B5}"/>
          </ac:spMkLst>
        </pc:spChg>
      </pc:sldChg>
      <pc:sldChg chg="modSp mod">
        <pc:chgData name="dinesh chinnu" userId="09bee3bf25e4d92d" providerId="LiveId" clId="{7230CBB1-427F-4FD6-8BC6-F34C06F63AF8}" dt="2026-04-10T04:52:12.664" v="416"/>
        <pc:sldMkLst>
          <pc:docMk/>
          <pc:sldMk cId="3876279924" sldId="355"/>
        </pc:sldMkLst>
        <pc:spChg chg="mod">
          <ac:chgData name="dinesh chinnu" userId="09bee3bf25e4d92d" providerId="LiveId" clId="{7230CBB1-427F-4FD6-8BC6-F34C06F63AF8}" dt="2026-04-10T04:52:12.664" v="416"/>
          <ac:spMkLst>
            <pc:docMk/>
            <pc:sldMk cId="3876279924" sldId="355"/>
            <ac:spMk id="10" creationId="{689766AB-3A85-36B0-95C2-DF3E1143F688}"/>
          </ac:spMkLst>
        </pc:spChg>
        <pc:graphicFrameChg chg="modGraphic">
          <ac:chgData name="dinesh chinnu" userId="09bee3bf25e4d92d" providerId="LiveId" clId="{7230CBB1-427F-4FD6-8BC6-F34C06F63AF8}" dt="2026-04-09T17:06:32.206" v="7" actId="20577"/>
          <ac:graphicFrameMkLst>
            <pc:docMk/>
            <pc:sldMk cId="3876279924" sldId="355"/>
            <ac:graphicFrameMk id="9" creationId="{40F8C159-E10E-1263-C3EF-28CF1B6055A5}"/>
          </ac:graphicFrameMkLst>
        </pc:graphicFrameChg>
      </pc:sldChg>
      <pc:sldChg chg="modSp mod">
        <pc:chgData name="dinesh chinnu" userId="09bee3bf25e4d92d" providerId="LiveId" clId="{7230CBB1-427F-4FD6-8BC6-F34C06F63AF8}" dt="2026-04-10T04:53:33.973" v="515" actId="20577"/>
        <pc:sldMkLst>
          <pc:docMk/>
          <pc:sldMk cId="1219587090" sldId="358"/>
        </pc:sldMkLst>
        <pc:spChg chg="mod">
          <ac:chgData name="dinesh chinnu" userId="09bee3bf25e4d92d" providerId="LiveId" clId="{7230CBB1-427F-4FD6-8BC6-F34C06F63AF8}" dt="2026-04-10T04:53:33.973" v="515" actId="20577"/>
          <ac:spMkLst>
            <pc:docMk/>
            <pc:sldMk cId="1219587090" sldId="358"/>
            <ac:spMk id="16" creationId="{D25883C3-2367-4F2B-A9EA-2FDB81160075}"/>
          </ac:spMkLst>
        </pc:spChg>
        <pc:graphicFrameChg chg="modGraphic">
          <ac:chgData name="dinesh chinnu" userId="09bee3bf25e4d92d" providerId="LiveId" clId="{7230CBB1-427F-4FD6-8BC6-F34C06F63AF8}" dt="2026-04-09T17:06:43.150" v="9" actId="20577"/>
          <ac:graphicFrameMkLst>
            <pc:docMk/>
            <pc:sldMk cId="1219587090" sldId="358"/>
            <ac:graphicFrameMk id="8" creationId="{40F8C159-E10E-1263-C3EF-28CF1B6055A5}"/>
          </ac:graphicFrameMkLst>
        </pc:graphicFrameChg>
      </pc:sldChg>
      <pc:sldChg chg="modSp mod">
        <pc:chgData name="dinesh chinnu" userId="09bee3bf25e4d92d" providerId="LiveId" clId="{7230CBB1-427F-4FD6-8BC6-F34C06F63AF8}" dt="2026-04-10T04:53:42.470" v="535"/>
        <pc:sldMkLst>
          <pc:docMk/>
          <pc:sldMk cId="1928240061" sldId="359"/>
        </pc:sldMkLst>
        <pc:spChg chg="mod">
          <ac:chgData name="dinesh chinnu" userId="09bee3bf25e4d92d" providerId="LiveId" clId="{7230CBB1-427F-4FD6-8BC6-F34C06F63AF8}" dt="2026-04-10T04:53:42.470" v="535"/>
          <ac:spMkLst>
            <pc:docMk/>
            <pc:sldMk cId="1928240061" sldId="359"/>
            <ac:spMk id="9" creationId="{F500F010-2807-9061-5E53-2B67D1B1F754}"/>
          </ac:spMkLst>
        </pc:spChg>
        <pc:graphicFrameChg chg="modGraphic">
          <ac:chgData name="dinesh chinnu" userId="09bee3bf25e4d92d" providerId="LiveId" clId="{7230CBB1-427F-4FD6-8BC6-F34C06F63AF8}" dt="2026-04-09T17:06:50.459" v="10" actId="20577"/>
          <ac:graphicFrameMkLst>
            <pc:docMk/>
            <pc:sldMk cId="1928240061" sldId="359"/>
            <ac:graphicFrameMk id="7" creationId="{40F8C159-E10E-1263-C3EF-28CF1B6055A5}"/>
          </ac:graphicFrameMkLst>
        </pc:graphicFrameChg>
      </pc:sldChg>
      <pc:sldChg chg="modSp mod">
        <pc:chgData name="dinesh chinnu" userId="09bee3bf25e4d92d" providerId="LiveId" clId="{7230CBB1-427F-4FD6-8BC6-F34C06F63AF8}" dt="2026-04-10T04:48:01.298" v="120" actId="14100"/>
        <pc:sldMkLst>
          <pc:docMk/>
          <pc:sldMk cId="1413631334" sldId="360"/>
        </pc:sldMkLst>
        <pc:spChg chg="mod">
          <ac:chgData name="dinesh chinnu" userId="09bee3bf25e4d92d" providerId="LiveId" clId="{7230CBB1-427F-4FD6-8BC6-F34C06F63AF8}" dt="2026-04-10T04:48:01.298" v="120" actId="14100"/>
          <ac:spMkLst>
            <pc:docMk/>
            <pc:sldMk cId="1413631334" sldId="360"/>
            <ac:spMk id="2" creationId="{94A5B460-9CAD-0259-B0E6-B343E1130A16}"/>
          </ac:spMkLst>
        </pc:spChg>
      </pc:sldChg>
      <pc:sldChg chg="modSp mod">
        <pc:chgData name="dinesh chinnu" userId="09bee3bf25e4d92d" providerId="LiveId" clId="{7230CBB1-427F-4FD6-8BC6-F34C06F63AF8}" dt="2026-04-10T04:48:41.337" v="134" actId="1035"/>
        <pc:sldMkLst>
          <pc:docMk/>
          <pc:sldMk cId="1926896106" sldId="361"/>
        </pc:sldMkLst>
        <pc:spChg chg="mod">
          <ac:chgData name="dinesh chinnu" userId="09bee3bf25e4d92d" providerId="LiveId" clId="{7230CBB1-427F-4FD6-8BC6-F34C06F63AF8}" dt="2026-04-10T04:48:41.337" v="134" actId="1035"/>
          <ac:spMkLst>
            <pc:docMk/>
            <pc:sldMk cId="1926896106" sldId="361"/>
            <ac:spMk id="2" creationId="{51AE7FC2-B8A1-BD60-4AB0-FB644484E3E8}"/>
          </ac:spMkLst>
        </pc:spChg>
      </pc:sldChg>
      <pc:sldChg chg="modSp mod">
        <pc:chgData name="dinesh chinnu" userId="09bee3bf25e4d92d" providerId="LiveId" clId="{7230CBB1-427F-4FD6-8BC6-F34C06F63AF8}" dt="2026-04-10T04:53:55.207" v="555"/>
        <pc:sldMkLst>
          <pc:docMk/>
          <pc:sldMk cId="1603255440" sldId="363"/>
        </pc:sldMkLst>
        <pc:spChg chg="mod">
          <ac:chgData name="dinesh chinnu" userId="09bee3bf25e4d92d" providerId="LiveId" clId="{7230CBB1-427F-4FD6-8BC6-F34C06F63AF8}" dt="2026-04-10T04:53:55.207" v="555"/>
          <ac:spMkLst>
            <pc:docMk/>
            <pc:sldMk cId="1603255440" sldId="363"/>
            <ac:spMk id="4" creationId="{11D41424-61C8-29F8-44B9-27D98E2B2A2C}"/>
          </ac:spMkLst>
        </pc:spChg>
        <pc:graphicFrameChg chg="modGraphic">
          <ac:chgData name="dinesh chinnu" userId="09bee3bf25e4d92d" providerId="LiveId" clId="{7230CBB1-427F-4FD6-8BC6-F34C06F63AF8}" dt="2026-04-09T17:06:58.145" v="12" actId="20577"/>
          <ac:graphicFrameMkLst>
            <pc:docMk/>
            <pc:sldMk cId="1603255440" sldId="363"/>
            <ac:graphicFrameMk id="6" creationId="{0076FDEA-FD64-4CCD-4CE5-7860396DB4DF}"/>
          </ac:graphicFrameMkLst>
        </pc:graphicFrameChg>
      </pc:sldChg>
      <pc:sldChg chg="modSp mod">
        <pc:chgData name="dinesh chinnu" userId="09bee3bf25e4d92d" providerId="LiveId" clId="{7230CBB1-427F-4FD6-8BC6-F34C06F63AF8}" dt="2026-04-10T04:54:15.255" v="596"/>
        <pc:sldMkLst>
          <pc:docMk/>
          <pc:sldMk cId="910288120" sldId="365"/>
        </pc:sldMkLst>
        <pc:spChg chg="mod">
          <ac:chgData name="dinesh chinnu" userId="09bee3bf25e4d92d" providerId="LiveId" clId="{7230CBB1-427F-4FD6-8BC6-F34C06F63AF8}" dt="2026-04-10T04:54:15.255" v="596"/>
          <ac:spMkLst>
            <pc:docMk/>
            <pc:sldMk cId="910288120" sldId="365"/>
            <ac:spMk id="4" creationId="{932E8297-58E7-5BBE-5954-0EA2DA5F3D8B}"/>
          </ac:spMkLst>
        </pc:spChg>
        <pc:graphicFrameChg chg="modGraphic">
          <ac:chgData name="dinesh chinnu" userId="09bee3bf25e4d92d" providerId="LiveId" clId="{7230CBB1-427F-4FD6-8BC6-F34C06F63AF8}" dt="2026-04-09T17:07:09.221" v="14" actId="20577"/>
          <ac:graphicFrameMkLst>
            <pc:docMk/>
            <pc:sldMk cId="910288120" sldId="365"/>
            <ac:graphicFrameMk id="6" creationId="{493DE5E4-B11D-A1CF-5961-DD5E925270A1}"/>
          </ac:graphicFrameMkLst>
        </pc:graphicFrameChg>
      </pc:sldChg>
      <pc:sldChg chg="modSp mod">
        <pc:chgData name="dinesh chinnu" userId="09bee3bf25e4d92d" providerId="LiveId" clId="{7230CBB1-427F-4FD6-8BC6-F34C06F63AF8}" dt="2026-04-10T04:54:04.728" v="575"/>
        <pc:sldMkLst>
          <pc:docMk/>
          <pc:sldMk cId="4241965800" sldId="367"/>
        </pc:sldMkLst>
        <pc:spChg chg="mod">
          <ac:chgData name="dinesh chinnu" userId="09bee3bf25e4d92d" providerId="LiveId" clId="{7230CBB1-427F-4FD6-8BC6-F34C06F63AF8}" dt="2026-04-10T04:54:04.728" v="575"/>
          <ac:spMkLst>
            <pc:docMk/>
            <pc:sldMk cId="4241965800" sldId="367"/>
            <ac:spMk id="4" creationId="{F75E50FA-73E0-5A72-72E5-CD810EC183C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7203DB1-22C9-4328-8E0B-13A98EA180CE}" type="datetimeFigureOut">
              <a:rPr lang="en-IN" smtClean="0"/>
              <a:t>10-04-2026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3C257F-7C75-44DD-AC1C-7150640DC7DB}" type="slidenum">
              <a:rPr lang="en-IN" smtClean="0"/>
              <a:t>‹#›</a:t>
            </a:fld>
            <a:endParaRPr lang="en-IN"/>
          </a:p>
        </p:txBody>
      </p:sp>
    </p:spTree>
    <p:extLst>
      <p:ext uri="{BB962C8B-B14F-4D97-AF65-F5344CB8AC3E}">
        <p14:creationId xmlns:p14="http://schemas.microsoft.com/office/powerpoint/2010/main" val="137996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drive.google.com/file/d/1bWr0vDKFJ5xhUB8YsBZtsShwOikuuqzn/view?usp=sharing"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pranathibestha/CSE-2022-26-Batch-B15" TargetMode="External"/><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5008" y="6652988"/>
            <a:ext cx="11436866" cy="233046"/>
            <a:chOff x="755008" y="6634440"/>
            <a:chExt cx="11436866" cy="233046"/>
          </a:xfrm>
        </p:grpSpPr>
        <p:sp>
          <p:nvSpPr>
            <p:cNvPr id="3" name="object 3"/>
            <p:cNvSpPr/>
            <p:nvPr/>
          </p:nvSpPr>
          <p:spPr>
            <a:xfrm>
              <a:off x="755008" y="6634440"/>
              <a:ext cx="5803907"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r>
                <a:rPr lang="en-US" sz="1200" dirty="0">
                  <a:solidFill>
                    <a:schemeClr val="bg1"/>
                  </a:solidFill>
                </a:rPr>
                <a:t>    DEPT. OF COMPUTER SCIENCE AND ENGINEERING</a:t>
              </a:r>
              <a:endParaRPr sz="1200" dirty="0">
                <a:solidFill>
                  <a:schemeClr val="bg1"/>
                </a:solidFill>
              </a:endParaRPr>
            </a:p>
          </p:txBody>
        </p:sp>
        <p:sp>
          <p:nvSpPr>
            <p:cNvPr id="4" name="object 4"/>
            <p:cNvSpPr/>
            <p:nvPr/>
          </p:nvSpPr>
          <p:spPr>
            <a:xfrm>
              <a:off x="6096000" y="6634441"/>
              <a:ext cx="5658359" cy="233045"/>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r>
                <a:rPr lang="en-US" sz="1200" dirty="0">
                  <a:solidFill>
                    <a:schemeClr val="bg1"/>
                  </a:solidFill>
                </a:rPr>
                <a:t>      SRINIVASA RAMANUJAN INSTITUTE OF TECHNOLOGY</a:t>
              </a:r>
              <a:endParaRPr sz="1200" dirty="0">
                <a:solidFill>
                  <a:schemeClr val="bg1"/>
                </a:solidFill>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r>
                <a:rPr lang="en-US" dirty="0"/>
                <a:t>  1</a:t>
              </a:r>
              <a:endParaRPr dirty="0"/>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dirty="0"/>
          </a:p>
        </p:txBody>
      </p:sp>
      <p:sp>
        <p:nvSpPr>
          <p:cNvPr id="7" name="object 7"/>
          <p:cNvSpPr/>
          <p:nvPr/>
        </p:nvSpPr>
        <p:spPr>
          <a:xfrm>
            <a:off x="0" y="6653591"/>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pPr marL="12700" algn="ctr">
              <a:lnSpc>
                <a:spcPts val="1845"/>
              </a:lnSpc>
            </a:pPr>
            <a:r>
              <a:rPr lang="en-US" sz="1400" spc="-10" dirty="0">
                <a:solidFill>
                  <a:schemeClr val="bg1"/>
                </a:solidFill>
                <a:latin typeface="Times New Roman" panose="02020603050405020304" pitchFamily="18" charset="0"/>
                <a:cs typeface="Times New Roman" panose="02020603050405020304" pitchFamily="18" charset="0"/>
              </a:rPr>
              <a:t>B </a:t>
            </a:r>
            <a:r>
              <a:rPr lang="en-US" sz="1400" dirty="0">
                <a:solidFill>
                  <a:schemeClr val="bg1"/>
                </a:solidFill>
                <a:latin typeface="Times New Roman" panose="02020603050405020304" pitchFamily="18" charset="0"/>
                <a:cs typeface="Times New Roman" panose="02020603050405020304" pitchFamily="18" charset="0"/>
              </a:rPr>
              <a:t>-</a:t>
            </a:r>
            <a:r>
              <a:rPr lang="en-US" sz="1400" spc="-5" dirty="0">
                <a:solidFill>
                  <a:schemeClr val="bg1"/>
                </a:solidFill>
                <a:latin typeface="Times New Roman" panose="02020603050405020304" pitchFamily="18" charset="0"/>
                <a:cs typeface="Times New Roman" panose="02020603050405020304" pitchFamily="18" charset="0"/>
              </a:rPr>
              <a:t> </a:t>
            </a:r>
            <a:r>
              <a:rPr lang="en-US" sz="1400" spc="-25" dirty="0">
                <a:solidFill>
                  <a:schemeClr val="bg1"/>
                </a:solidFill>
                <a:latin typeface="Times New Roman" panose="02020603050405020304" pitchFamily="18" charset="0"/>
                <a:cs typeface="Times New Roman" panose="02020603050405020304" pitchFamily="18" charset="0"/>
              </a:rPr>
              <a:t>15</a:t>
            </a:r>
          </a:p>
        </p:txBody>
      </p:sp>
      <p:sp>
        <p:nvSpPr>
          <p:cNvPr id="8" name="object 8"/>
          <p:cNvSpPr txBox="1"/>
          <p:nvPr/>
        </p:nvSpPr>
        <p:spPr>
          <a:xfrm>
            <a:off x="5181601" y="1735293"/>
            <a:ext cx="2362200" cy="415627"/>
          </a:xfrm>
          <a:prstGeom prst="rect">
            <a:avLst/>
          </a:prstGeom>
        </p:spPr>
        <p:txBody>
          <a:bodyPr vert="horz" wrap="square" lIns="0" tIns="13335" rIns="0" bIns="0" rtlCol="0">
            <a:spAutoFit/>
          </a:bodyPr>
          <a:lstStyle/>
          <a:p>
            <a:pPr algn="ctr">
              <a:lnSpc>
                <a:spcPts val="2080"/>
              </a:lnSpc>
              <a:spcBef>
                <a:spcPts val="105"/>
              </a:spcBef>
            </a:pPr>
            <a:r>
              <a:rPr lang="en-IN" spc="-10" dirty="0">
                <a:latin typeface="Times New Roman"/>
                <a:cs typeface="Times New Roman"/>
              </a:rPr>
              <a:t>T.JOSHIKA</a:t>
            </a:r>
            <a:endParaRPr lang="en-IN" sz="175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234G5A0504</a:t>
            </a:r>
            <a:endParaRPr sz="900" dirty="0">
              <a:latin typeface="Times New Roman"/>
              <a:cs typeface="Times New Roman"/>
            </a:endParaRPr>
          </a:p>
        </p:txBody>
      </p:sp>
      <p:sp>
        <p:nvSpPr>
          <p:cNvPr id="9" name="object 9"/>
          <p:cNvSpPr txBox="1"/>
          <p:nvPr/>
        </p:nvSpPr>
        <p:spPr>
          <a:xfrm>
            <a:off x="3733800" y="2476799"/>
            <a:ext cx="4724400" cy="1320874"/>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IN" sz="2400" spc="-10" dirty="0">
                <a:latin typeface="Times New Roman"/>
                <a:cs typeface="Times New Roman"/>
              </a:rPr>
              <a:t>Dr. </a:t>
            </a:r>
            <a:r>
              <a:rPr lang="en-IN" sz="2400" spc="-10" dirty="0" err="1">
                <a:latin typeface="Times New Roman"/>
                <a:cs typeface="Times New Roman"/>
              </a:rPr>
              <a:t>S.Ravi</a:t>
            </a:r>
            <a:r>
              <a:rPr lang="en-IN" sz="2400" spc="-10" dirty="0">
                <a:latin typeface="Times New Roman"/>
                <a:cs typeface="Times New Roman"/>
              </a:rPr>
              <a:t> Kumar</a:t>
            </a:r>
            <a:r>
              <a:rPr sz="2400" spc="-10" dirty="0">
                <a:latin typeface="Times New Roman"/>
                <a:cs typeface="Times New Roman"/>
              </a:rPr>
              <a:t>,</a:t>
            </a:r>
            <a:r>
              <a:rPr lang="en-IN" sz="2400" spc="-10" dirty="0">
                <a:latin typeface="Times New Roman"/>
                <a:cs typeface="Times New Roman"/>
              </a:rPr>
              <a:t> </a:t>
            </a:r>
            <a:r>
              <a:rPr lang="en-IN" sz="1400" spc="-10" dirty="0">
                <a:latin typeface="Times New Roman"/>
                <a:cs typeface="Times New Roman"/>
              </a:rPr>
              <a:t>M.C.A., Ph.D.</a:t>
            </a:r>
            <a:r>
              <a:rPr sz="1400" spc="-10" dirty="0">
                <a:latin typeface="Times New Roman"/>
                <a:cs typeface="Times New Roman"/>
              </a:rPr>
              <a:t> </a:t>
            </a:r>
            <a:endParaRPr lang="en-IN" sz="1400" spc="-10" dirty="0">
              <a:latin typeface="Times New Roman"/>
              <a:cs typeface="Times New Roman"/>
            </a:endParaRPr>
          </a:p>
          <a:p>
            <a:pPr marL="12065" marR="5080" algn="ctr">
              <a:lnSpc>
                <a:spcPts val="2790"/>
              </a:lnSpc>
              <a:spcBef>
                <a:spcPts val="114"/>
              </a:spcBef>
            </a:pPr>
            <a:r>
              <a:rPr lang="en-IN" sz="1400" spc="-20" dirty="0">
                <a:latin typeface="Times New Roman"/>
                <a:cs typeface="Times New Roman"/>
              </a:rPr>
              <a:t>Associate</a:t>
            </a:r>
            <a:r>
              <a:rPr lang="en-IN" sz="1400" spc="-40" dirty="0">
                <a:latin typeface="Times New Roman"/>
                <a:cs typeface="Times New Roman"/>
              </a:rPr>
              <a:t> </a:t>
            </a: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2557188" y="1724463"/>
            <a:ext cx="2624412" cy="455381"/>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B.PRANATHI</a:t>
            </a:r>
            <a:endParaRPr sz="2000" dirty="0">
              <a:latin typeface="Times New Roman"/>
              <a:cs typeface="Times New Roman"/>
            </a:endParaRPr>
          </a:p>
          <a:p>
            <a:pPr marL="1270" algn="ctr">
              <a:lnSpc>
                <a:spcPts val="1060"/>
              </a:lnSpc>
            </a:pPr>
            <a:r>
              <a:rPr sz="900" dirty="0">
                <a:latin typeface="Times New Roman"/>
                <a:cs typeface="Times New Roman"/>
              </a:rPr>
              <a:t>Roll</a:t>
            </a:r>
            <a:r>
              <a:rPr sz="900" spc="40" dirty="0">
                <a:latin typeface="Times New Roman"/>
                <a:cs typeface="Times New Roman"/>
              </a:rPr>
              <a:t> </a:t>
            </a:r>
            <a:r>
              <a:rPr sz="900" dirty="0">
                <a:latin typeface="Times New Roman"/>
                <a:cs typeface="Times New Roman"/>
              </a:rPr>
              <a:t>No.</a:t>
            </a:r>
            <a:r>
              <a:rPr sz="900" spc="40" dirty="0">
                <a:latin typeface="Times New Roman"/>
                <a:cs typeface="Times New Roman"/>
              </a:rPr>
              <a:t> </a:t>
            </a:r>
            <a:r>
              <a:rPr lang="en-IN" sz="900" spc="-10" dirty="0">
                <a:latin typeface="Times New Roman"/>
                <a:cs typeface="Times New Roman"/>
              </a:rPr>
              <a:t>224G1A0571</a:t>
            </a:r>
            <a:endParaRPr sz="900" dirty="0">
              <a:latin typeface="Times New Roman"/>
              <a:cs typeface="Times New Roman"/>
            </a:endParaRPr>
          </a:p>
        </p:txBody>
      </p:sp>
      <p:sp>
        <p:nvSpPr>
          <p:cNvPr id="12" name="object 12"/>
          <p:cNvSpPr txBox="1"/>
          <p:nvPr/>
        </p:nvSpPr>
        <p:spPr>
          <a:xfrm>
            <a:off x="7467599" y="1735293"/>
            <a:ext cx="3200401" cy="423321"/>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a:t>
            </a:r>
            <a:r>
              <a:rPr lang="en-IN" spc="-10" dirty="0">
                <a:latin typeface="Times New Roman"/>
                <a:cs typeface="Times New Roman"/>
              </a:rPr>
              <a:t>C.KRISHNA KOWSHIK</a:t>
            </a:r>
            <a:endParaRPr lang="en-IN" sz="1800" dirty="0">
              <a:latin typeface="Times New Roman"/>
              <a:cs typeface="Times New Roman"/>
            </a:endParaRPr>
          </a:p>
          <a:p>
            <a:pPr marL="635" algn="ctr">
              <a:lnSpc>
                <a:spcPts val="1060"/>
              </a:lnSpc>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224G1A0538</a:t>
            </a:r>
            <a:endParaRPr sz="900" dirty="0">
              <a:latin typeface="Times New Roman"/>
              <a:cs typeface="Times New Roman"/>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7" name="object 17"/>
          <p:cNvSpPr txBox="1">
            <a:spLocks noGrp="1"/>
          </p:cNvSpPr>
          <p:nvPr>
            <p:ph type="title"/>
          </p:nvPr>
        </p:nvSpPr>
        <p:spPr>
          <a:xfrm>
            <a:off x="-381000" y="509378"/>
            <a:ext cx="10528300" cy="443711"/>
          </a:xfrm>
          <a:prstGeom prst="rect">
            <a:avLst/>
          </a:prstGeom>
        </p:spPr>
        <p:txBody>
          <a:bodyPr vert="horz" wrap="square" lIns="0" tIns="12700" rIns="0" bIns="0" rtlCol="0">
            <a:spAutoFit/>
          </a:bodyPr>
          <a:lstStyle/>
          <a:p>
            <a:pPr marL="12700" algn="ctr">
              <a:lnSpc>
                <a:spcPct val="100000"/>
              </a:lnSpc>
              <a:spcBef>
                <a:spcPts val="100"/>
              </a:spcBef>
            </a:pPr>
            <a:r>
              <a:rPr lang="en-IN" sz="2800" dirty="0"/>
              <a:t>                               </a:t>
            </a:r>
            <a:r>
              <a:rPr lang="en-US" sz="2800" dirty="0"/>
              <a:t>Intrusion Detection System Using Federated Learning</a:t>
            </a:r>
            <a:endParaRPr sz="2800" dirty="0"/>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3" cstate="print"/>
          <a:stretch>
            <a:fillRect/>
          </a:stretch>
        </p:blipFill>
        <p:spPr>
          <a:xfrm>
            <a:off x="5329143" y="3408075"/>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BA232-A4C2-199D-1EB6-4218F611FB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A5B460-9CAD-0259-B0E6-B343E1130A16}"/>
              </a:ext>
            </a:extLst>
          </p:cNvPr>
          <p:cNvSpPr txBox="1"/>
          <p:nvPr/>
        </p:nvSpPr>
        <p:spPr>
          <a:xfrm>
            <a:off x="3352800" y="-26936"/>
            <a:ext cx="4724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Intrusion Detection System Using Federated Learning</a:t>
            </a:r>
            <a:endParaRPr sz="1500" dirty="0">
              <a:latin typeface="Times New Roman"/>
              <a:cs typeface="Times New Roman"/>
            </a:endParaRPr>
          </a:p>
        </p:txBody>
      </p:sp>
      <p:grpSp>
        <p:nvGrpSpPr>
          <p:cNvPr id="3" name="object 3">
            <a:extLst>
              <a:ext uri="{FF2B5EF4-FFF2-40B4-BE49-F238E27FC236}">
                <a16:creationId xmlns:a16="http://schemas.microsoft.com/office/drawing/2014/main" id="{3889D92E-FA76-FE0C-CB01-98DE89002130}"/>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6FCC1FA6-9233-6F1F-327C-C8E3AE9894B4}"/>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02A7AE59-7A92-7876-EAE5-8FC97482D329}"/>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8A2D9400-8166-951B-1B95-B20EE3F10B72}"/>
              </a:ext>
            </a:extLst>
          </p:cNvPr>
          <p:cNvSpPr txBox="1">
            <a:spLocks noGrp="1"/>
          </p:cNvSpPr>
          <p:nvPr>
            <p:ph type="title"/>
          </p:nvPr>
        </p:nvSpPr>
        <p:spPr>
          <a:xfrm>
            <a:off x="149031" y="232920"/>
            <a:ext cx="3353711" cy="1367041"/>
          </a:xfrm>
          <a:prstGeom prst="rect">
            <a:avLst/>
          </a:prstGeom>
        </p:spPr>
        <p:txBody>
          <a:bodyPr vert="horz" wrap="square" lIns="0" tIns="12700" rIns="0" bIns="0" rtlCol="0">
            <a:spAutoFit/>
          </a:bodyPr>
          <a:lstStyle/>
          <a:p>
            <a:r>
              <a:rPr lang="en-US" dirty="0">
                <a:latin typeface="Times New Roman" panose="02020603050405020304" pitchFamily="18" charset="0"/>
                <a:cs typeface="Times New Roman" panose="02020603050405020304" pitchFamily="18" charset="0"/>
              </a:rPr>
              <a:t>Queries From Review 0</a:t>
            </a:r>
            <a:endParaRPr lang="en-IN" dirty="0"/>
          </a:p>
        </p:txBody>
      </p:sp>
      <p:sp>
        <p:nvSpPr>
          <p:cNvPr id="8" name="object 8">
            <a:extLst>
              <a:ext uri="{FF2B5EF4-FFF2-40B4-BE49-F238E27FC236}">
                <a16:creationId xmlns:a16="http://schemas.microsoft.com/office/drawing/2014/main" id="{53160EE5-03F7-A899-F01B-446E19D4F826}"/>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BA50A0D0-0580-7B17-85CA-2678F39146F9}"/>
              </a:ext>
            </a:extLst>
          </p:cNvPr>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a:extLst>
              <a:ext uri="{FF2B5EF4-FFF2-40B4-BE49-F238E27FC236}">
                <a16:creationId xmlns:a16="http://schemas.microsoft.com/office/drawing/2014/main" id="{CFFCF6D9-93E6-E7EE-80E4-5F2FCAE58995}"/>
              </a:ext>
            </a:extLst>
          </p:cNvPr>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4641AA0F-AF13-4461-EC75-4A1B176FA19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lang="en-IN" spc="-25" smtClean="0"/>
              <a:t>2</a:t>
            </a:fld>
            <a:endParaRPr spc="-25" dirty="0"/>
          </a:p>
        </p:txBody>
      </p:sp>
      <p:sp>
        <p:nvSpPr>
          <p:cNvPr id="16" name="Google Shape;50;p6">
            <a:extLst>
              <a:ext uri="{FF2B5EF4-FFF2-40B4-BE49-F238E27FC236}">
                <a16:creationId xmlns:a16="http://schemas.microsoft.com/office/drawing/2014/main" id="{08514C68-00E2-395D-142E-6CE0892A3FFE}"/>
              </a:ext>
            </a:extLst>
          </p:cNvPr>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algn="just">
              <a:lnSpc>
                <a:spcPct val="200000"/>
              </a:lnSpc>
              <a:buFont typeface="Arial" panose="020B0604020202020204" pitchFamily="34" charset="0"/>
              <a:buChar char="•"/>
            </a:pPr>
            <a:r>
              <a:rPr lang="en-US" sz="2400" dirty="0"/>
              <a:t>What is Federated Learning?</a:t>
            </a:r>
          </a:p>
          <a:p>
            <a:pPr algn="just">
              <a:lnSpc>
                <a:spcPct val="200000"/>
              </a:lnSpc>
              <a:buFont typeface="Arial" panose="020B0604020202020204" pitchFamily="34" charset="0"/>
              <a:buChar char="•"/>
            </a:pPr>
            <a:r>
              <a:rPr lang="en-US" sz="2400" dirty="0"/>
              <a:t>What is the main objective of your project?</a:t>
            </a:r>
          </a:p>
          <a:p>
            <a:pPr algn="just">
              <a:lnSpc>
                <a:spcPct val="200000"/>
              </a:lnSpc>
              <a:buFont typeface="Arial" panose="020B0604020202020204" pitchFamily="34" charset="0"/>
              <a:buChar char="•"/>
            </a:pPr>
            <a:r>
              <a:rPr lang="en-US" sz="2400" dirty="0"/>
              <a:t>What real-time problem does your project solve?</a:t>
            </a:r>
          </a:p>
          <a:p>
            <a:pPr algn="just">
              <a:lnSpc>
                <a:spcPct val="200000"/>
              </a:lnSpc>
              <a:buFont typeface="Arial" panose="020B0604020202020204" pitchFamily="34" charset="0"/>
              <a:buChar char="•"/>
            </a:pPr>
            <a:r>
              <a:rPr lang="en-IN" altLang="en-US" sz="2400" dirty="0"/>
              <a:t>What are the algorithms used?</a:t>
            </a:r>
          </a:p>
          <a:p>
            <a:pPr algn="just">
              <a:lnSpc>
                <a:spcPct val="200000"/>
              </a:lnSpc>
              <a:buFont typeface="Arial" panose="020B0604020202020204" pitchFamily="34" charset="0"/>
              <a:buChar char="•"/>
            </a:pPr>
            <a:r>
              <a:rPr lang="en-US" sz="2400" dirty="0"/>
              <a:t>Why did you combine Federated Learning with IDS?</a:t>
            </a:r>
            <a:endParaRPr lang="en-IN" altLang="en-US" sz="2400" dirty="0"/>
          </a:p>
        </p:txBody>
      </p:sp>
    </p:spTree>
    <p:extLst>
      <p:ext uri="{BB962C8B-B14F-4D97-AF65-F5344CB8AC3E}">
        <p14:creationId xmlns:p14="http://schemas.microsoft.com/office/powerpoint/2010/main" val="1413631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D187-D64E-9D6F-B797-48B99C3392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AE7FC2-B8A1-BD60-4AB0-FB644484E3E8}"/>
              </a:ext>
            </a:extLst>
          </p:cNvPr>
          <p:cNvSpPr txBox="1"/>
          <p:nvPr/>
        </p:nvSpPr>
        <p:spPr>
          <a:xfrm>
            <a:off x="3400163" y="0"/>
            <a:ext cx="4270569"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Intrusion Detection System Using Federated learning </a:t>
            </a:r>
            <a:endParaRPr sz="1500" dirty="0">
              <a:latin typeface="Times New Roman"/>
              <a:cs typeface="Times New Roman"/>
            </a:endParaRPr>
          </a:p>
        </p:txBody>
      </p:sp>
      <p:grpSp>
        <p:nvGrpSpPr>
          <p:cNvPr id="3" name="object 3">
            <a:extLst>
              <a:ext uri="{FF2B5EF4-FFF2-40B4-BE49-F238E27FC236}">
                <a16:creationId xmlns:a16="http://schemas.microsoft.com/office/drawing/2014/main" id="{83787A28-DCB8-899F-7A77-F31B20A7AAC6}"/>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A0DF0E4F-1812-AB0B-5665-AC5D8A44CF01}"/>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3EBF5215-2938-DE53-AE42-8B82AF8489CF}"/>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id="{F8BA80F5-8094-A04F-BDE2-81C5B1A646C9}"/>
              </a:ext>
            </a:extLst>
          </p:cNvPr>
          <p:cNvSpPr txBox="1">
            <a:spLocks noGrp="1"/>
          </p:cNvSpPr>
          <p:nvPr>
            <p:ph type="title"/>
          </p:nvPr>
        </p:nvSpPr>
        <p:spPr>
          <a:xfrm>
            <a:off x="149031" y="232920"/>
            <a:ext cx="4270569" cy="689932"/>
          </a:xfrm>
          <a:prstGeom prst="rect">
            <a:avLst/>
          </a:prstGeom>
        </p:spPr>
        <p:txBody>
          <a:bodyPr vert="horz" wrap="square" lIns="0" tIns="12700" rIns="0" bIns="0" rtlCol="0">
            <a:spAutoFit/>
          </a:bodyPr>
          <a:lstStyle/>
          <a:p>
            <a:pPr marL="12700">
              <a:lnSpc>
                <a:spcPct val="100000"/>
              </a:lnSpc>
              <a:spcBef>
                <a:spcPts val="100"/>
              </a:spcBef>
            </a:pPr>
            <a:r>
              <a:rPr lang="en-US" dirty="0">
                <a:sym typeface="+mn-ea"/>
              </a:rPr>
              <a:t>Title </a:t>
            </a:r>
            <a:r>
              <a:rPr lang="en-US" dirty="0" err="1">
                <a:sym typeface="+mn-ea"/>
              </a:rPr>
              <a:t>Explaination</a:t>
            </a:r>
            <a:endParaRPr dirty="0"/>
          </a:p>
        </p:txBody>
      </p:sp>
      <p:sp>
        <p:nvSpPr>
          <p:cNvPr id="8" name="object 8">
            <a:extLst>
              <a:ext uri="{FF2B5EF4-FFF2-40B4-BE49-F238E27FC236}">
                <a16:creationId xmlns:a16="http://schemas.microsoft.com/office/drawing/2014/main" id="{76B2D86F-3408-0539-CD7B-A540BEA9C3C8}"/>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0C2ABCD2-72FF-1CE3-D800-1B66813E9D40}"/>
              </a:ext>
            </a:extLst>
          </p:cNvPr>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a:extLst>
              <a:ext uri="{FF2B5EF4-FFF2-40B4-BE49-F238E27FC236}">
                <a16:creationId xmlns:a16="http://schemas.microsoft.com/office/drawing/2014/main" id="{1A9B8BB2-F296-D973-5D6A-10222E4ADB15}"/>
              </a:ext>
            </a:extLst>
          </p:cNvPr>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DDAE197D-B4D1-5A95-0F31-3ADAC89625E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lang="en-IN" spc="-25" smtClean="0"/>
              <a:t>3</a:t>
            </a:fld>
            <a:endParaRPr spc="-25" dirty="0"/>
          </a:p>
        </p:txBody>
      </p:sp>
      <p:sp>
        <p:nvSpPr>
          <p:cNvPr id="16" name="Google Shape;50;p6">
            <a:extLst>
              <a:ext uri="{FF2B5EF4-FFF2-40B4-BE49-F238E27FC236}">
                <a16:creationId xmlns:a16="http://schemas.microsoft.com/office/drawing/2014/main" id="{B1E14BCF-3BAF-69AA-0B4E-28E3C0A6397B}"/>
              </a:ext>
            </a:extLst>
          </p:cNvPr>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fontScale="92500" lnSpcReduction="10000"/>
          </a:bodyPr>
          <a:lstStyle/>
          <a:p>
            <a:pPr marL="342900" indent="-342900" algn="l">
              <a:lnSpc>
                <a:spcPct val="150000"/>
              </a:lnSpc>
              <a:spcBef>
                <a:spcPts val="0"/>
              </a:spcBef>
              <a:buSzPts val="2400"/>
              <a:buFont typeface="Arial" panose="020B0604020202020204" pitchFamily="34" charset="0"/>
              <a:buChar char="•"/>
            </a:pPr>
            <a:r>
              <a:rPr lang="en-IN" sz="2400" b="1" dirty="0"/>
              <a:t>Intrusion Detection System (IDS)</a:t>
            </a:r>
            <a:r>
              <a:rPr lang="en-US" sz="2400" b="1" dirty="0"/>
              <a:t> </a:t>
            </a:r>
            <a:r>
              <a:rPr lang="en-US" sz="2400" dirty="0"/>
              <a:t>→Refers to a cybersecurity mechanism designed to monitor network or system activities and detect malicious behavior, unauthorized access, or potential security threats. The IDS analyzes traffic patterns and system data to identify anomalies or known attack signatures, helping organizations respond quickly to cyber threats.</a:t>
            </a:r>
          </a:p>
          <a:p>
            <a:pPr marL="342900" indent="-342900" algn="l">
              <a:lnSpc>
                <a:spcPct val="150000"/>
              </a:lnSpc>
              <a:buFont typeface="Arial" panose="020B0604020202020204" pitchFamily="34" charset="0"/>
              <a:buChar char="•"/>
            </a:pPr>
            <a:r>
              <a:rPr lang="en-IN" sz="2400" b="1" dirty="0"/>
              <a:t>Federated Learning (FL)</a:t>
            </a:r>
            <a:r>
              <a:rPr lang="en-US" sz="2400" b="1" dirty="0"/>
              <a:t> </a:t>
            </a:r>
            <a:r>
              <a:rPr lang="en-US" sz="2400" dirty="0"/>
              <a:t>→Indicates the use of a decentralized machine learning approach where multiple clients collaboratively train a global model without sharing their raw data. Instead of sending sensitive data to a central server, only model updates are shared. This ensures data privacy, security, and compliance while still improving the detection model’s performance.</a:t>
            </a:r>
          </a:p>
          <a:p>
            <a:pPr marL="342900" indent="-342900" algn="l">
              <a:lnSpc>
                <a:spcPct val="150000"/>
              </a:lnSpc>
              <a:spcBef>
                <a:spcPts val="0"/>
              </a:spcBef>
              <a:buSzPts val="2400"/>
              <a:buFont typeface="Arial" panose="020B0604020202020204" pitchFamily="34" charset="0"/>
              <a:buChar char="•"/>
            </a:pPr>
            <a:r>
              <a:rPr lang="en-US" sz="2400" b="1" dirty="0"/>
              <a:t>Privacy-Preserving and Distributed Threat Detection </a:t>
            </a:r>
            <a:r>
              <a:rPr lang="en-US" sz="2400" dirty="0"/>
              <a:t>→Integrates Federated Learning with IDS to enable distributed threat detection without sharing sensitive user data, ensuring privacy preservation.</a:t>
            </a:r>
          </a:p>
          <a:p>
            <a:pPr marL="457200" lvl="0" indent="-457200" algn="just">
              <a:lnSpc>
                <a:spcPct val="100000"/>
              </a:lnSpc>
              <a:spcBef>
                <a:spcPts val="1000"/>
              </a:spcBef>
              <a:buFont typeface="Arial" panose="020B0604020202020204" pitchFamily="34" charset="0"/>
              <a:buChar char="•"/>
            </a:pPr>
            <a:endParaRPr lang="en-US" sz="2400" dirty="0"/>
          </a:p>
        </p:txBody>
      </p:sp>
    </p:spTree>
    <p:extLst>
      <p:ext uri="{BB962C8B-B14F-4D97-AF65-F5344CB8AC3E}">
        <p14:creationId xmlns:p14="http://schemas.microsoft.com/office/powerpoint/2010/main" val="1926896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39" y="260997"/>
            <a:ext cx="12192239" cy="803160"/>
            <a:chOff x="0" y="212399"/>
            <a:chExt cx="12192239" cy="803160"/>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IN" spc="-10" dirty="0"/>
              <a:t>Contents</a:t>
            </a:r>
            <a:endParaRPr spc="-10"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2" name="TextBox 11">
            <a:extLst>
              <a:ext uri="{FF2B5EF4-FFF2-40B4-BE49-F238E27FC236}">
                <a16:creationId xmlns:a16="http://schemas.microsoft.com/office/drawing/2014/main" id="{3C75DF2A-9520-53D7-A7F8-50D70F9D6C16}"/>
              </a:ext>
            </a:extLst>
          </p:cNvPr>
          <p:cNvSpPr txBox="1"/>
          <p:nvPr/>
        </p:nvSpPr>
        <p:spPr>
          <a:xfrm>
            <a:off x="228600" y="1143000"/>
            <a:ext cx="6223518" cy="4611519"/>
          </a:xfrm>
          <a:prstGeom prst="rect">
            <a:avLst/>
          </a:prstGeom>
          <a:noFill/>
        </p:spPr>
        <p:txBody>
          <a:bodyPr wrap="square">
            <a:spAutoFit/>
          </a:bodyPr>
          <a:lstStyle/>
          <a:p>
            <a:pPr marL="462280" indent="-462280">
              <a:lnSpc>
                <a:spcPct val="150000"/>
              </a:lnSpc>
              <a:buBlip>
                <a:blip>
                  <a:extLst>
                    <a:ext uri="{96DAC541-7B7A-43D3-8B79-37D633B846F1}">
                      <asvg:svgBlip xmlns:asvg="http://schemas.microsoft.com/office/drawing/2016/SVG/main" r:embed="rId3"/>
                    </a:ext>
                  </a:extLst>
                </a:blip>
              </a:buBlip>
            </a:pPr>
            <a:r>
              <a:rPr lang="en-US" dirty="0"/>
              <a:t>Abstract</a:t>
            </a:r>
          </a:p>
          <a:p>
            <a:pPr marL="462280" indent="-462280">
              <a:lnSpc>
                <a:spcPct val="150000"/>
              </a:lnSpc>
              <a:buBlip>
                <a:blip>
                  <a:extLst>
                    <a:ext uri="{96DAC541-7B7A-43D3-8B79-37D633B846F1}">
                      <asvg:svgBlip xmlns:asvg="http://schemas.microsoft.com/office/drawing/2016/SVG/main" r:embed="rId3"/>
                    </a:ext>
                  </a:extLst>
                </a:blip>
              </a:buBlip>
            </a:pPr>
            <a:r>
              <a:rPr lang="en-US" dirty="0"/>
              <a:t>Introduction</a:t>
            </a:r>
          </a:p>
          <a:p>
            <a:pPr marL="462280" indent="-462280">
              <a:lnSpc>
                <a:spcPct val="150000"/>
              </a:lnSpc>
              <a:buBlip>
                <a:blip>
                  <a:extLst>
                    <a:ext uri="{96DAC541-7B7A-43D3-8B79-37D633B846F1}">
                      <asvg:svgBlip xmlns:asvg="http://schemas.microsoft.com/office/drawing/2016/SVG/main" r:embed="rId3"/>
                    </a:ext>
                  </a:extLst>
                </a:blip>
              </a:buBlip>
            </a:pPr>
            <a:r>
              <a:rPr lang="en-US" altLang="en-IN" dirty="0"/>
              <a:t>Literature Survey</a:t>
            </a:r>
          </a:p>
          <a:p>
            <a:pPr marL="462280" indent="-462280">
              <a:lnSpc>
                <a:spcPct val="150000"/>
              </a:lnSpc>
              <a:buBlip>
                <a:blip>
                  <a:extLst>
                    <a:ext uri="{96DAC541-7B7A-43D3-8B79-37D633B846F1}">
                      <asvg:svgBlip xmlns:asvg="http://schemas.microsoft.com/office/drawing/2016/SVG/main" r:embed="rId3"/>
                    </a:ext>
                  </a:extLst>
                </a:blip>
              </a:buBlip>
            </a:pPr>
            <a:r>
              <a:rPr lang="en-US" dirty="0"/>
              <a:t>Existing System</a:t>
            </a:r>
          </a:p>
          <a:p>
            <a:pPr marL="462280" indent="-462280">
              <a:lnSpc>
                <a:spcPct val="150000"/>
              </a:lnSpc>
              <a:buBlip>
                <a:blip>
                  <a:extLst>
                    <a:ext uri="{96DAC541-7B7A-43D3-8B79-37D633B846F1}">
                      <asvg:svgBlip xmlns:asvg="http://schemas.microsoft.com/office/drawing/2016/SVG/main" r:embed="rId3"/>
                    </a:ext>
                  </a:extLst>
                </a:blip>
              </a:buBlip>
            </a:pPr>
            <a:r>
              <a:rPr lang="en-US" dirty="0"/>
              <a:t>Proposed System</a:t>
            </a:r>
          </a:p>
          <a:p>
            <a:pPr marL="462280" indent="-462280">
              <a:lnSpc>
                <a:spcPct val="150000"/>
              </a:lnSpc>
              <a:buBlip>
                <a:blip>
                  <a:extLst>
                    <a:ext uri="{96DAC541-7B7A-43D3-8B79-37D633B846F1}">
                      <asvg:svgBlip xmlns:asvg="http://schemas.microsoft.com/office/drawing/2016/SVG/main" r:embed="rId3"/>
                    </a:ext>
                  </a:extLst>
                </a:blip>
              </a:buBlip>
            </a:pPr>
            <a:r>
              <a:rPr lang="en-US" dirty="0"/>
              <a:t>Planning</a:t>
            </a:r>
          </a:p>
          <a:p>
            <a:pPr marL="462280" indent="-462280">
              <a:lnSpc>
                <a:spcPct val="150000"/>
              </a:lnSpc>
              <a:buBlip>
                <a:blip>
                  <a:extLst>
                    <a:ext uri="{96DAC541-7B7A-43D3-8B79-37D633B846F1}">
                      <asvg:svgBlip xmlns:asvg="http://schemas.microsoft.com/office/drawing/2016/SVG/main" r:embed="rId3"/>
                    </a:ext>
                  </a:extLst>
                </a:blip>
              </a:buBlip>
            </a:pPr>
            <a:r>
              <a:rPr lang="en-US" dirty="0"/>
              <a:t>Design</a:t>
            </a:r>
          </a:p>
          <a:p>
            <a:pPr marL="462280" indent="-462280">
              <a:lnSpc>
                <a:spcPct val="150000"/>
              </a:lnSpc>
              <a:buBlip>
                <a:blip>
                  <a:extLst>
                    <a:ext uri="{96DAC541-7B7A-43D3-8B79-37D633B846F1}">
                      <asvg:svgBlip xmlns:asvg="http://schemas.microsoft.com/office/drawing/2016/SVG/main" r:embed="rId3"/>
                    </a:ext>
                  </a:extLst>
                </a:blip>
              </a:buBlip>
            </a:pPr>
            <a:r>
              <a:rPr lang="en-US" dirty="0"/>
              <a:t>Implementation</a:t>
            </a:r>
          </a:p>
          <a:p>
            <a:pPr marL="462280" indent="-462280">
              <a:lnSpc>
                <a:spcPct val="150000"/>
              </a:lnSpc>
              <a:buBlip>
                <a:blip>
                  <a:extLst>
                    <a:ext uri="{96DAC541-7B7A-43D3-8B79-37D633B846F1}">
                      <asvg:svgBlip xmlns:asvg="http://schemas.microsoft.com/office/drawing/2016/SVG/main" r:embed="rId3"/>
                    </a:ext>
                  </a:extLst>
                </a:blip>
              </a:buBlip>
            </a:pPr>
            <a:r>
              <a:rPr lang="en-US" dirty="0"/>
              <a:t>Research Paper</a:t>
            </a:r>
            <a:endParaRPr lang="en-IN" dirty="0"/>
          </a:p>
          <a:p>
            <a:pPr marL="462280" indent="-462280">
              <a:lnSpc>
                <a:spcPct val="150000"/>
              </a:lnSpc>
              <a:buBlip>
                <a:blip>
                  <a:extLst>
                    <a:ext uri="{96DAC541-7B7A-43D3-8B79-37D633B846F1}">
                      <asvg:svgBlip xmlns:asvg="http://schemas.microsoft.com/office/drawing/2016/SVG/main" r:embed="rId3"/>
                    </a:ext>
                  </a:extLst>
                </a:blip>
              </a:buBlip>
            </a:pPr>
            <a:r>
              <a:rPr lang="en-IN" dirty="0"/>
              <a:t>References</a:t>
            </a:r>
          </a:p>
          <a:p>
            <a:pPr marL="462280" indent="-462280">
              <a:lnSpc>
                <a:spcPct val="150000"/>
              </a:lnSpc>
              <a:buBlip>
                <a:blip>
                  <a:extLst>
                    <a:ext uri="{96DAC541-7B7A-43D3-8B79-37D633B846F1}">
                      <asvg:svgBlip xmlns:asvg="http://schemas.microsoft.com/office/drawing/2016/SVG/main" r:embed="rId3"/>
                    </a:ext>
                  </a:extLst>
                </a:blip>
              </a:buBlip>
            </a:pPr>
            <a:r>
              <a:rPr lang="en-IN" dirty="0"/>
              <a:t>GitHub Link</a:t>
            </a:r>
            <a:endParaRPr lang="en-US" dirty="0"/>
          </a:p>
        </p:txBody>
      </p:sp>
      <p:sp>
        <p:nvSpPr>
          <p:cNvPr id="14" name="Rectangle 13">
            <a:extLst>
              <a:ext uri="{FF2B5EF4-FFF2-40B4-BE49-F238E27FC236}">
                <a16:creationId xmlns:a16="http://schemas.microsoft.com/office/drawing/2014/main" id="{8BE28CC1-3175-FE25-3071-3C0E6FD20864}"/>
              </a:ext>
            </a:extLst>
          </p:cNvPr>
          <p:cNvSpPr/>
          <p:nvPr/>
        </p:nvSpPr>
        <p:spPr>
          <a:xfrm>
            <a:off x="0" y="-27003"/>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26936"/>
            <a:ext cx="44196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Intrusion Detection System Using Federated learning </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xfrm>
            <a:off x="149031" y="232920"/>
            <a:ext cx="3353711" cy="689932"/>
          </a:xfrm>
          <a:prstGeom prst="rect">
            <a:avLst/>
          </a:prstGeom>
        </p:spPr>
        <p:txBody>
          <a:bodyPr vert="horz" wrap="square" lIns="0" tIns="12700" rIns="0" bIns="0" rtlCol="0">
            <a:spAutoFit/>
          </a:bodyPr>
          <a:lstStyle/>
          <a:p>
            <a:pPr marL="12700">
              <a:lnSpc>
                <a:spcPct val="100000"/>
              </a:lnSpc>
              <a:spcBef>
                <a:spcPts val="100"/>
              </a:spcBef>
            </a:pPr>
            <a:r>
              <a:rPr lang="en-US" dirty="0">
                <a:sym typeface="+mn-ea"/>
              </a:rPr>
              <a:t>Abstract</a:t>
            </a: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lang="en-IN" spc="-25" smtClean="0"/>
              <a:t>5</a:t>
            </a:fld>
            <a:endParaRPr spc="-25" dirty="0"/>
          </a:p>
        </p:txBody>
      </p:sp>
      <p:sp>
        <p:nvSpPr>
          <p:cNvPr id="16" name="Google Shape;50;p6">
            <a:extLst>
              <a:ext uri="{FF2B5EF4-FFF2-40B4-BE49-F238E27FC236}">
                <a16:creationId xmlns:a16="http://schemas.microsoft.com/office/drawing/2014/main" id="{5BAC52D0-7C27-653E-12FF-488999437FCF}"/>
              </a:ext>
            </a:extLst>
          </p:cNvPr>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fontScale="92500"/>
          </a:bodyPr>
          <a:lstStyle/>
          <a:p>
            <a:pPr marL="457200" lvl="0" indent="-457200" algn="just">
              <a:lnSpc>
                <a:spcPct val="100000"/>
              </a:lnSpc>
              <a:spcBef>
                <a:spcPts val="1000"/>
              </a:spcBef>
              <a:buFont typeface="Arial" panose="020B0604020202020204" pitchFamily="34" charset="0"/>
              <a:buChar char="•"/>
            </a:pPr>
            <a:r>
              <a:rPr lang="en-US" sz="2400" dirty="0"/>
              <a:t>The Intrusion Detection System with Federated Learning (IDS-FL) is a secure and intelligent platform developed to detect cyber threats in a distributed environment while preserving data privacy. The system monitors network and system activities to identify malicious behavior, unauthorized access, and potential security attacks in real </a:t>
            </a:r>
            <a:r>
              <a:rPr lang="en-US" sz="2400" dirty="0" err="1"/>
              <a:t>time.The</a:t>
            </a:r>
            <a:r>
              <a:rPr lang="en-US" sz="2400" dirty="0"/>
              <a:t> system replaces the </a:t>
            </a:r>
            <a:r>
              <a:rPr lang="en-US" sz="2400" b="1" dirty="0"/>
              <a:t>traditional manual scheduling process</a:t>
            </a:r>
            <a:r>
              <a:rPr lang="en-US" sz="2400" dirty="0"/>
              <a:t>, which is time-consuming, stressful, and prone to human errors.</a:t>
            </a:r>
          </a:p>
          <a:p>
            <a:pPr marL="457200" lvl="0" indent="-457200" algn="just">
              <a:lnSpc>
                <a:spcPct val="100000"/>
              </a:lnSpc>
              <a:spcBef>
                <a:spcPts val="1000"/>
              </a:spcBef>
              <a:buFont typeface="Arial" panose="020B0604020202020204" pitchFamily="34" charset="0"/>
              <a:buChar char="•"/>
            </a:pPr>
            <a:r>
              <a:rPr lang="en-US" sz="2400" dirty="0"/>
              <a:t>Traditional intrusion detection systems rely on centralized data collection, which can raise privacy concerns and increase the risk of data breaches. To overcome this limitation, the proposed system integrates Federated Learning, enabling multiple clients or devices to collaboratively train a global threat detection model without sharing their raw data..</a:t>
            </a:r>
          </a:p>
          <a:p>
            <a:pPr marL="457200" indent="-457200" algn="just">
              <a:lnSpc>
                <a:spcPct val="100000"/>
              </a:lnSpc>
              <a:spcBef>
                <a:spcPts val="1000"/>
              </a:spcBef>
              <a:buFont typeface="Arial" panose="020B0604020202020204" pitchFamily="34" charset="0"/>
              <a:buChar char="•"/>
            </a:pPr>
            <a:r>
              <a:rPr lang="en-US" sz="2400" dirty="0"/>
              <a:t>The primary objective of the system is to enhance cybersecurity while ensuring privacy preservation and secure model training. Model updates are aggregated centrally, improving detection accuracy without exposing sensitive information. The system also provides real-time monitoring, alert generation, and performance metrics for better security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CF65-8104-2EC4-946A-ADD934F86C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5A89D4-52AC-1D8D-E2E4-9A84CD4CD896}"/>
              </a:ext>
            </a:extLst>
          </p:cNvPr>
          <p:cNvSpPr txBox="1"/>
          <p:nvPr/>
        </p:nvSpPr>
        <p:spPr>
          <a:xfrm>
            <a:off x="4495800" y="0"/>
            <a:ext cx="4343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Intrusion Detection System Using Federated learning </a:t>
            </a:r>
            <a:endParaRPr sz="1500" dirty="0">
              <a:latin typeface="Times New Roman"/>
              <a:cs typeface="Times New Roman"/>
            </a:endParaRPr>
          </a:p>
        </p:txBody>
      </p:sp>
      <p:grpSp>
        <p:nvGrpSpPr>
          <p:cNvPr id="3" name="object 3">
            <a:extLst>
              <a:ext uri="{FF2B5EF4-FFF2-40B4-BE49-F238E27FC236}">
                <a16:creationId xmlns:a16="http://schemas.microsoft.com/office/drawing/2014/main" id="{7884F3D6-9C18-D97C-621E-0AC6E9C7CCFE}"/>
              </a:ext>
            </a:extLst>
          </p:cNvPr>
          <p:cNvGrpSpPr/>
          <p:nvPr/>
        </p:nvGrpSpPr>
        <p:grpSpPr>
          <a:xfrm>
            <a:off x="0" y="212399"/>
            <a:ext cx="12192000" cy="803275"/>
            <a:chOff x="0" y="212399"/>
            <a:chExt cx="12192000" cy="803275"/>
          </a:xfrm>
        </p:grpSpPr>
        <p:pic>
          <p:nvPicPr>
            <p:cNvPr id="4" name="object 4">
              <a:extLst>
                <a:ext uri="{FF2B5EF4-FFF2-40B4-BE49-F238E27FC236}">
                  <a16:creationId xmlns:a16="http://schemas.microsoft.com/office/drawing/2014/main" id="{BC294CF2-BB5A-8C4B-077C-8C2B04D31618}"/>
                </a:ext>
              </a:extLst>
            </p:cNvPr>
            <p:cNvPicPr/>
            <p:nvPr/>
          </p:nvPicPr>
          <p:blipFill>
            <a:blip r:embed="rId2" cstate="print"/>
            <a:stretch>
              <a:fillRect/>
            </a:stretch>
          </p:blipFill>
          <p:spPr>
            <a:xfrm>
              <a:off x="0" y="212399"/>
              <a:ext cx="12192000" cy="803160"/>
            </a:xfrm>
            <a:prstGeom prst="rect">
              <a:avLst/>
            </a:prstGeom>
          </p:spPr>
        </p:pic>
        <p:sp>
          <p:nvSpPr>
            <p:cNvPr id="5" name="object 5">
              <a:extLst>
                <a:ext uri="{FF2B5EF4-FFF2-40B4-BE49-F238E27FC236}">
                  <a16:creationId xmlns:a16="http://schemas.microsoft.com/office/drawing/2014/main" id="{A8FB50D9-09DF-4A9C-DD93-DEAAC370112A}"/>
                </a:ext>
              </a:extLst>
            </p:cNvPr>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0A72AA6-7D3D-A8DD-3595-6DEAF17E897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dirty="0">
                <a:sym typeface="+mn-ea"/>
              </a:rPr>
              <a:t>Introduction</a:t>
            </a:r>
            <a:endParaRPr spc="-10" dirty="0"/>
          </a:p>
        </p:txBody>
      </p:sp>
      <p:sp>
        <p:nvSpPr>
          <p:cNvPr id="8" name="object 8">
            <a:extLst>
              <a:ext uri="{FF2B5EF4-FFF2-40B4-BE49-F238E27FC236}">
                <a16:creationId xmlns:a16="http://schemas.microsoft.com/office/drawing/2014/main" id="{56137B2E-7C8B-3EB4-8089-ECC7E3119089}"/>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6BA1E2F7-A53E-88DE-1605-D6FF9E9C6857}"/>
              </a:ext>
            </a:extLst>
          </p:cNvPr>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a:extLst>
              <a:ext uri="{FF2B5EF4-FFF2-40B4-BE49-F238E27FC236}">
                <a16:creationId xmlns:a16="http://schemas.microsoft.com/office/drawing/2014/main" id="{799D763F-4E25-4B32-CA49-8BF68AD47EC1}"/>
              </a:ext>
            </a:extLst>
          </p:cNvPr>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B8FD2B94-5F8B-DCE9-780E-CE375CB034A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4" name="Text Placeholder 2">
            <a:extLst>
              <a:ext uri="{FF2B5EF4-FFF2-40B4-BE49-F238E27FC236}">
                <a16:creationId xmlns:a16="http://schemas.microsoft.com/office/drawing/2014/main" id="{78C993BB-E8D1-648A-B35C-F23F6400A15C}"/>
              </a:ext>
            </a:extLst>
          </p:cNvPr>
          <p:cNvSpPr>
            <a:spLocks noGrp="1"/>
          </p:cNvSpPr>
          <p:nvPr>
            <p:ph type="body" idx="1"/>
          </p:nvPr>
        </p:nvSpPr>
        <p:spPr>
          <a:xfrm>
            <a:off x="199505" y="1097279"/>
            <a:ext cx="11779135" cy="5394960"/>
          </a:xfrm>
        </p:spPr>
        <p:txBody>
          <a:bodyPr>
            <a:normAutofit fontScale="92500"/>
          </a:bodyPr>
          <a:lstStyle/>
          <a:p>
            <a:pPr marL="457200" algn="just">
              <a:spcBef>
                <a:spcPts val="1000"/>
              </a:spcBef>
              <a:buFont typeface="Arial" panose="020B0604020202020204" pitchFamily="34" charset="0"/>
              <a:buChar char="•"/>
            </a:pPr>
            <a:r>
              <a:rPr lang="en-US" sz="2400" dirty="0"/>
              <a:t>This project develops a secure and intelligent Intrusion Detection System integrated with Federated Learning to enhance cybersecurity in distributed environments. It eliminates the need for centralized data collection and reduces privacy risks by allowing model training directly on local devices.</a:t>
            </a:r>
          </a:p>
          <a:p>
            <a:pPr marL="457200" algn="just">
              <a:spcBef>
                <a:spcPts val="1000"/>
              </a:spcBef>
              <a:buFont typeface="Arial" panose="020B0604020202020204" pitchFamily="34" charset="0"/>
              <a:buChar char="•"/>
            </a:pPr>
            <a:r>
              <a:rPr lang="en-US" sz="2400" dirty="0"/>
              <a:t>The system supports collaborative model updates from multiple clients without sharing raw data. This helps handle large-scale and real-time cyber threats efficiently while maintaining data confidentiality and compliance.</a:t>
            </a:r>
          </a:p>
          <a:p>
            <a:pPr marL="457200" algn="just">
              <a:spcBef>
                <a:spcPts val="1000"/>
              </a:spcBef>
              <a:buFont typeface="Arial" panose="020B0604020202020204" pitchFamily="34" charset="0"/>
              <a:buChar char="•"/>
            </a:pPr>
            <a:r>
              <a:rPr lang="en-US" sz="2400" dirty="0"/>
              <a:t>The project is unique because it combines advanced machine learning with privacy-preserving techniques to solve real-world cybersecurity challenges in a scalable and transparent manner.</a:t>
            </a:r>
          </a:p>
          <a:p>
            <a:pPr marL="457200" algn="just">
              <a:spcBef>
                <a:spcPts val="1000"/>
              </a:spcBef>
              <a:buFont typeface="Arial" panose="020B0604020202020204" pitchFamily="34" charset="0"/>
              <a:buChar char="•"/>
            </a:pPr>
            <a:r>
              <a:rPr lang="en-US" sz="2400" dirty="0"/>
              <a:t>It provides a centralized platform for monitoring network activities, managing threat alerts, and analyzing security metrics through an interactive dashboard. This improves detection accuracy and simplifies security administration.</a:t>
            </a:r>
          </a:p>
          <a:p>
            <a:pPr marL="457200" algn="just">
              <a:spcBef>
                <a:spcPts val="1000"/>
              </a:spcBef>
              <a:buFont typeface="Arial" panose="020B0604020202020204" pitchFamily="34" charset="0"/>
              <a:buChar char="•"/>
            </a:pPr>
            <a:r>
              <a:rPr lang="en-US" sz="2400" dirty="0"/>
              <a:t>The system ensures secure and unbiased model training by aggregating only encrypted model updates and preventing data leakage. This strengthens overall network resilience and enables fair, distributed threat detection across enterprise environments.</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768045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endParaRPr lang="en-IN" dirty="0"/>
          </a:p>
        </p:txBody>
      </p:sp>
      <p:sp>
        <p:nvSpPr>
          <p:cNvPr id="3" name="Content Placeholder 2"/>
          <p:cNvSpPr>
            <a:spLocks noGrp="1"/>
          </p:cNvSpPr>
          <p:nvPr>
            <p:ph idx="1"/>
          </p:nvPr>
        </p:nvSpPr>
        <p:spPr>
          <a:xfrm>
            <a:off x="236899" y="1447800"/>
            <a:ext cx="11346815" cy="4267200"/>
          </a:xfrm>
        </p:spPr>
        <p:txBody>
          <a:bodyPr>
            <a:normAutofit fontScale="85000" lnSpcReduction="20000"/>
          </a:bodyPr>
          <a:lstStyle/>
          <a:p>
            <a:pPr>
              <a:lnSpc>
                <a:spcPct val="120000"/>
              </a:lnSpc>
            </a:pPr>
            <a:r>
              <a:rPr lang="en-US" sz="2400" b="1" dirty="0"/>
              <a:t>Nguyen et al. (2022)</a:t>
            </a:r>
          </a:p>
          <a:p>
            <a:pPr marL="342900" indent="-342900" algn="just">
              <a:lnSpc>
                <a:spcPct val="120000"/>
              </a:lnSpc>
              <a:buFont typeface="Arial" panose="020B0604020202020204" pitchFamily="34" charset="0"/>
              <a:buChar char="•"/>
            </a:pPr>
            <a:r>
              <a:rPr lang="en-US" sz="2400" dirty="0"/>
              <a:t>Proposed a federated learning–based intrusion detection framework for distributed network environments. The study demonstrated that federated learning allows multiple organizations to collaboratively train intrusion detection models without sharing sensitive network data, thereby improving privacy and detection performance.</a:t>
            </a:r>
          </a:p>
          <a:p>
            <a:pPr algn="just">
              <a:lnSpc>
                <a:spcPct val="120000"/>
              </a:lnSpc>
            </a:pPr>
            <a:r>
              <a:rPr lang="en-US" sz="2400" b="1" dirty="0"/>
              <a:t>Li et al. (2023)</a:t>
            </a:r>
          </a:p>
          <a:p>
            <a:pPr marL="342900" indent="-342900" algn="just">
              <a:lnSpc>
                <a:spcPct val="120000"/>
              </a:lnSpc>
              <a:buFont typeface="Arial" panose="020B0604020202020204" pitchFamily="34" charset="0"/>
              <a:buChar char="•"/>
            </a:pPr>
            <a:r>
              <a:rPr lang="en-US" sz="2400" dirty="0"/>
              <a:t>Developed a privacy-preserving intrusion detection system using federated deep learning techniques. Their approach combines local model training with global aggregation to detect network attacks effectively while maintaining data confidentiality across different network nodes.</a:t>
            </a:r>
          </a:p>
          <a:p>
            <a:pPr algn="just">
              <a:lnSpc>
                <a:spcPct val="120000"/>
              </a:lnSpc>
            </a:pPr>
            <a:r>
              <a:rPr lang="en-US" sz="2400" b="1" dirty="0"/>
              <a:t>Sharma &amp; Chen (2023)</a:t>
            </a:r>
          </a:p>
          <a:p>
            <a:pPr marL="342900" indent="-342900" algn="just">
              <a:lnSpc>
                <a:spcPct val="120000"/>
              </a:lnSpc>
              <a:buFont typeface="Arial" panose="020B0604020202020204" pitchFamily="34" charset="0"/>
              <a:buChar char="•"/>
            </a:pPr>
            <a:r>
              <a:rPr lang="en-US" sz="2400" dirty="0"/>
              <a:t>Introduced a collaborative intrusion detection model using federated learning and deep neural networks. The research showed that decentralized learning can improve detection accuracy and reduce the risk of data leakage compared to traditional centralized IDS models.</a:t>
            </a:r>
          </a:p>
          <a:p>
            <a:endParaRPr lang="en-IN" sz="2400" dirty="0"/>
          </a:p>
        </p:txBody>
      </p:sp>
      <p:sp>
        <p:nvSpPr>
          <p:cNvPr id="4" name="Rectangle 3">
            <a:extLst>
              <a:ext uri="{FF2B5EF4-FFF2-40B4-BE49-F238E27FC236}">
                <a16:creationId xmlns:a16="http://schemas.microsoft.com/office/drawing/2014/main"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3938783849"/>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7</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6" name="Title 1">
            <a:extLst>
              <a:ext uri="{FF2B5EF4-FFF2-40B4-BE49-F238E27FC236}">
                <a16:creationId xmlns:a16="http://schemas.microsoft.com/office/drawing/2014/main" id="{0097AAB6-3907-2FF7-FB7A-F308E47CD468}"/>
              </a:ext>
            </a:extLst>
          </p:cNvPr>
          <p:cNvSpPr>
            <a:spLocks noGrp="1"/>
          </p:cNvSpPr>
          <p:nvPr/>
        </p:nvSpPr>
        <p:spPr>
          <a:xfrm>
            <a:off x="-1" y="294166"/>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Literature Survey</a:t>
            </a:r>
            <a:endParaRPr lang="en-IN" dirty="0"/>
          </a:p>
        </p:txBody>
      </p:sp>
    </p:spTree>
    <p:extLst>
      <p:ext uri="{BB962C8B-B14F-4D97-AF65-F5344CB8AC3E}">
        <p14:creationId xmlns:p14="http://schemas.microsoft.com/office/powerpoint/2010/main" val="3700435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C0325-2586-B896-58FC-C52BD5AD7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2FD15-202A-E4C5-10BA-4CCC37456F84}"/>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4E26BA95-AA47-2DE2-0C1A-AD56C3B17922}"/>
              </a:ext>
            </a:extLst>
          </p:cNvPr>
          <p:cNvSpPr>
            <a:spLocks noGrp="1"/>
          </p:cNvSpPr>
          <p:nvPr>
            <p:ph idx="1"/>
          </p:nvPr>
        </p:nvSpPr>
        <p:spPr>
          <a:xfrm>
            <a:off x="236899" y="1447800"/>
            <a:ext cx="11346815" cy="4038600"/>
          </a:xfrm>
        </p:spPr>
        <p:txBody>
          <a:bodyPr>
            <a:normAutofit lnSpcReduction="10000"/>
          </a:bodyPr>
          <a:lstStyle/>
          <a:p>
            <a:pPr algn="just">
              <a:lnSpc>
                <a:spcPct val="110000"/>
              </a:lnSpc>
            </a:pPr>
            <a:r>
              <a:rPr lang="en-US" sz="2200" b="1" dirty="0"/>
              <a:t>Zhang &amp; Liu (2024)</a:t>
            </a:r>
          </a:p>
          <a:p>
            <a:pPr marL="342900" indent="-342900" algn="just">
              <a:lnSpc>
                <a:spcPct val="110000"/>
              </a:lnSpc>
              <a:buFont typeface="Arial" panose="020B0604020202020204" pitchFamily="34" charset="0"/>
              <a:buChar char="•"/>
            </a:pPr>
            <a:r>
              <a:rPr lang="en-US" sz="2200" dirty="0"/>
              <a:t>Designed a deep learning–based federated IDS for cloud computing environments. The study showed that federated learning enhances collaborative threat detection while ensuring that sensitive cloud traffic data remains locally stored.</a:t>
            </a:r>
          </a:p>
          <a:p>
            <a:pPr algn="just">
              <a:lnSpc>
                <a:spcPct val="110000"/>
              </a:lnSpc>
            </a:pPr>
            <a:r>
              <a:rPr lang="en-US" sz="2200" b="1" dirty="0"/>
              <a:t>Patel et al. (2024)</a:t>
            </a:r>
          </a:p>
          <a:p>
            <a:pPr marL="342900" indent="-342900" algn="just">
              <a:lnSpc>
                <a:spcPct val="110000"/>
              </a:lnSpc>
              <a:buFont typeface="Arial" panose="020B0604020202020204" pitchFamily="34" charset="0"/>
              <a:buChar char="•"/>
            </a:pPr>
            <a:r>
              <a:rPr lang="en-US" sz="2200" dirty="0"/>
              <a:t>Implemented a federated anomaly detection system using neural networks for network security monitoring. The research confirmed that federated training improves model generalization by learning from diverse network datasets distributed across multiple organizations.</a:t>
            </a:r>
          </a:p>
          <a:p>
            <a:pPr algn="just">
              <a:lnSpc>
                <a:spcPct val="110000"/>
              </a:lnSpc>
            </a:pPr>
            <a:r>
              <a:rPr lang="en-US" sz="2200" b="1" dirty="0" err="1"/>
              <a:t>Alazab</a:t>
            </a:r>
            <a:r>
              <a:rPr lang="en-US" sz="2200" b="1" dirty="0"/>
              <a:t> et al. (2025)</a:t>
            </a:r>
          </a:p>
          <a:p>
            <a:pPr marL="342900" indent="-342900" algn="just">
              <a:lnSpc>
                <a:spcPct val="110000"/>
              </a:lnSpc>
              <a:buFont typeface="Arial" panose="020B0604020202020204" pitchFamily="34" charset="0"/>
              <a:buChar char="•"/>
            </a:pPr>
            <a:r>
              <a:rPr lang="en-US" sz="2200" dirty="0"/>
              <a:t>Proposed a hybrid intrusion detection system combining federated learning and deep neural networks for cyber threat detection. The study demonstrated that collaborative model training significantly improves detection accuracy for complex cyber attacks while preserving privacy.</a:t>
            </a:r>
          </a:p>
          <a:p>
            <a:endParaRPr lang="en-IN" sz="2400" dirty="0"/>
          </a:p>
        </p:txBody>
      </p:sp>
      <p:graphicFrame>
        <p:nvGraphicFramePr>
          <p:cNvPr id="5" name="Table 4">
            <a:extLst>
              <a:ext uri="{FF2B5EF4-FFF2-40B4-BE49-F238E27FC236}">
                <a16:creationId xmlns:a16="http://schemas.microsoft.com/office/drawing/2014/main" id="{6B5BF171-DF44-B106-F0C6-6334F59DC7C7}"/>
              </a:ext>
            </a:extLst>
          </p:cNvPr>
          <p:cNvGraphicFramePr>
            <a:graphicFrameLocks noGrp="1"/>
          </p:cNvGraphicFramePr>
          <p:nvPr>
            <p:extLst>
              <p:ext uri="{D42A27DB-BD31-4B8C-83A1-F6EECF244321}">
                <p14:modId xmlns:p14="http://schemas.microsoft.com/office/powerpoint/2010/main" val="3648758220"/>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IN" sz="1600" dirty="0">
                          <a:solidFill>
                            <a:schemeClr val="tx1"/>
                          </a:solidFill>
                          <a:latin typeface="Times New Roman" panose="02020603050405020304" pitchFamily="18" charset="0"/>
                          <a:cs typeface="Times New Roman" panose="02020603050405020304" pitchFamily="18" charset="0"/>
                        </a:rPr>
                        <a:t>8</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6" name="Title 1">
            <a:extLst>
              <a:ext uri="{FF2B5EF4-FFF2-40B4-BE49-F238E27FC236}">
                <a16:creationId xmlns:a16="http://schemas.microsoft.com/office/drawing/2014/main" id="{F1FF93B3-1F5D-2164-4E27-4FD4D114FFC8}"/>
              </a:ext>
            </a:extLst>
          </p:cNvPr>
          <p:cNvSpPr>
            <a:spLocks noGrp="1"/>
          </p:cNvSpPr>
          <p:nvPr/>
        </p:nvSpPr>
        <p:spPr>
          <a:xfrm>
            <a:off x="-1" y="294166"/>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Literature Survey</a:t>
            </a:r>
            <a:endParaRPr lang="en-IN" dirty="0"/>
          </a:p>
        </p:txBody>
      </p:sp>
      <p:sp>
        <p:nvSpPr>
          <p:cNvPr id="7" name="Rectangle 6">
            <a:extLst>
              <a:ext uri="{FF2B5EF4-FFF2-40B4-BE49-F238E27FC236}">
                <a16:creationId xmlns:a16="http://schemas.microsoft.com/office/drawing/2014/main" id="{1810DAC3-C162-1B54-A3FB-7C9D444D1B40}"/>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143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System</a:t>
            </a:r>
            <a:endParaRPr lang="en-IN" dirty="0"/>
          </a:p>
        </p:txBody>
      </p:sp>
      <p:graphicFrame>
        <p:nvGraphicFramePr>
          <p:cNvPr id="5" name="Table 4">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3342912761"/>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9</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6" name="Title 1">
            <a:extLst>
              <a:ext uri="{FF2B5EF4-FFF2-40B4-BE49-F238E27FC236}">
                <a16:creationId xmlns:a16="http://schemas.microsoft.com/office/drawing/2014/main" id="{9ECFFCAD-8F12-6FED-9DB9-BC83ECE22F03}"/>
              </a:ext>
            </a:extLst>
          </p:cNvPr>
          <p:cNvSpPr>
            <a:spLocks noGrp="1"/>
          </p:cNvSpPr>
          <p:nvPr/>
        </p:nvSpPr>
        <p:spPr>
          <a:xfrm>
            <a:off x="0" y="291110"/>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Existing System</a:t>
            </a:r>
            <a:endParaRPr lang="en-IN" dirty="0"/>
          </a:p>
        </p:txBody>
      </p:sp>
      <p:sp>
        <p:nvSpPr>
          <p:cNvPr id="10" name="TextBox 9">
            <a:extLst>
              <a:ext uri="{FF2B5EF4-FFF2-40B4-BE49-F238E27FC236}">
                <a16:creationId xmlns:a16="http://schemas.microsoft.com/office/drawing/2014/main" id="{11E023A0-EA20-32E2-573F-CBBBBFD4C5E2}"/>
              </a:ext>
            </a:extLst>
          </p:cNvPr>
          <p:cNvSpPr txBox="1"/>
          <p:nvPr/>
        </p:nvSpPr>
        <p:spPr>
          <a:xfrm>
            <a:off x="228600" y="1219201"/>
            <a:ext cx="11887200" cy="465364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the existing approach, intrusion detection systems are typically implemented using centralized machine learning or rule-based methods where all network data is collected and analyzed at a single central server.</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Centralized IDS require sharing large amounts of network traffic data from multiple organizations or devices, which may lead to privacy concerns, data leakage, and security risks.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large-scale distributed environments such as cloud computing, IoT networks, and enterprise systems, collecting and transferring data to a central server can cause high communication overhead, delays, and scalability issues.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existing research focuses on improving intrusion detection accuracy using machine learning or deep learning, but they often do not address the data privacy and decentralized learning challenges in modern distributed networks.</a:t>
            </a:r>
          </a:p>
        </p:txBody>
      </p:sp>
      <p:sp>
        <p:nvSpPr>
          <p:cNvPr id="12" name="Rectangle 11">
            <a:extLst>
              <a:ext uri="{FF2B5EF4-FFF2-40B4-BE49-F238E27FC236}">
                <a16:creationId xmlns:a16="http://schemas.microsoft.com/office/drawing/2014/main" id="{FDBC4DA0-3485-77FC-A50F-9616A37F4E78}"/>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5868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System</a:t>
            </a:r>
            <a:endParaRPr lang="en-IN" dirty="0"/>
          </a:p>
        </p:txBody>
      </p:sp>
      <p:sp>
        <p:nvSpPr>
          <p:cNvPr id="3" name="Content Placeholder 2"/>
          <p:cNvSpPr>
            <a:spLocks noGrp="1"/>
          </p:cNvSpPr>
          <p:nvPr>
            <p:ph idx="1"/>
          </p:nvPr>
        </p:nvSpPr>
        <p:spPr>
          <a:xfrm>
            <a:off x="236899" y="1074318"/>
            <a:ext cx="11346815" cy="5495682"/>
          </a:xfrm>
        </p:spPr>
        <p:txBody>
          <a:bodyPr>
            <a:normAutofit fontScale="62500" lnSpcReduction="20000"/>
          </a:bodyPr>
          <a:lstStyle/>
          <a:p>
            <a:endParaRPr lang="en-US" sz="2400" dirty="0"/>
          </a:p>
          <a:p>
            <a:pPr marL="342900" indent="-342900" algn="just">
              <a:lnSpc>
                <a:spcPct val="170000"/>
              </a:lnSpc>
              <a:buFont typeface="Arial" panose="020B0604020202020204" pitchFamily="34" charset="0"/>
              <a:buChar char="•"/>
            </a:pPr>
            <a:r>
              <a:rPr lang="en-US" sz="3200" dirty="0"/>
              <a:t>The proposed system is a Federated Learning-based Intrusion Detection System (IDS-FL) designed to detect network attacks while preserving data privacy. The system analyzes network traffic data to classify activities into normal and malicious categories.</a:t>
            </a:r>
          </a:p>
          <a:p>
            <a:pPr marL="342900" indent="-342900" algn="just">
              <a:lnSpc>
                <a:spcPct val="170000"/>
              </a:lnSpc>
              <a:buFont typeface="Arial" panose="020B0604020202020204" pitchFamily="34" charset="0"/>
              <a:buChar char="•"/>
            </a:pPr>
            <a:r>
              <a:rPr lang="en-US" sz="3200" dirty="0"/>
              <a:t>A large and diverse cybersecurity dataset is collected and organized into a dedicated dataset module to overcome the limitation of limited training data. This dataset contains multiple attack types and normal traffic records from different sources.</a:t>
            </a:r>
          </a:p>
          <a:p>
            <a:pPr marL="342900" indent="-342900" algn="just">
              <a:lnSpc>
                <a:spcPct val="170000"/>
              </a:lnSpc>
              <a:buFont typeface="Arial" panose="020B0604020202020204" pitchFamily="34" charset="0"/>
              <a:buChar char="•"/>
            </a:pPr>
            <a:r>
              <a:rPr lang="en-US" sz="3200" dirty="0"/>
              <a:t>The dataset is preprocessed and cleaned to remove noise and missing values. Feature selection and normalization techniques are applied to improve model performance and training efficiency.</a:t>
            </a:r>
          </a:p>
          <a:p>
            <a:pPr marL="342900" indent="-342900" algn="just">
              <a:lnSpc>
                <a:spcPct val="170000"/>
              </a:lnSpc>
              <a:buFont typeface="Arial" panose="020B0604020202020204" pitchFamily="34" charset="0"/>
              <a:buChar char="•"/>
            </a:pPr>
            <a:r>
              <a:rPr lang="en-US" sz="3200" dirty="0"/>
              <a:t>The system uses Federated Learning, where multiple distributed clients train local intrusion detection models using their own data. Instead of sharing raw data, only model parameters are shared with a central server, ensuring privacy and security.</a:t>
            </a:r>
          </a:p>
        </p:txBody>
      </p:sp>
      <p:graphicFrame>
        <p:nvGraphicFramePr>
          <p:cNvPr id="5" name="Table 4">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3289142071"/>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10</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6" name="Title 1">
            <a:extLst>
              <a:ext uri="{FF2B5EF4-FFF2-40B4-BE49-F238E27FC236}">
                <a16:creationId xmlns:a16="http://schemas.microsoft.com/office/drawing/2014/main" id="{FF7A0014-75BE-E08E-6904-CCC416CBCC03}"/>
              </a:ext>
            </a:extLst>
          </p:cNvPr>
          <p:cNvSpPr>
            <a:spLocks noGrp="1"/>
          </p:cNvSpPr>
          <p:nvPr/>
        </p:nvSpPr>
        <p:spPr>
          <a:xfrm>
            <a:off x="-1" y="288000"/>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Proposed System</a:t>
            </a:r>
            <a:endParaRPr lang="en-IN" dirty="0"/>
          </a:p>
        </p:txBody>
      </p:sp>
      <p:sp>
        <p:nvSpPr>
          <p:cNvPr id="7" name="Rectangle 6">
            <a:extLst>
              <a:ext uri="{FF2B5EF4-FFF2-40B4-BE49-F238E27FC236}">
                <a16:creationId xmlns:a16="http://schemas.microsoft.com/office/drawing/2014/main" id="{3CA54D76-2C5B-3B0A-6AB6-4C241DC7C0CB}"/>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9676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A57A9-864C-94AF-9624-40FF5E6CE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5F869-B4DC-6A92-1E16-DF0D2A14FD78}"/>
              </a:ext>
            </a:extLst>
          </p:cNvPr>
          <p:cNvSpPr>
            <a:spLocks noGrp="1"/>
          </p:cNvSpPr>
          <p:nvPr>
            <p:ph type="title"/>
          </p:nvPr>
        </p:nvSpPr>
        <p:spPr/>
        <p:txBody>
          <a:bodyPr/>
          <a:lstStyle/>
          <a:p>
            <a:r>
              <a:rPr lang="en-US" dirty="0"/>
              <a:t>Proposed System</a:t>
            </a:r>
            <a:endParaRPr lang="en-IN" dirty="0"/>
          </a:p>
        </p:txBody>
      </p:sp>
      <p:sp>
        <p:nvSpPr>
          <p:cNvPr id="3" name="Content Placeholder 2">
            <a:extLst>
              <a:ext uri="{FF2B5EF4-FFF2-40B4-BE49-F238E27FC236}">
                <a16:creationId xmlns:a16="http://schemas.microsoft.com/office/drawing/2014/main" id="{6F4B59A0-4B4B-5521-3833-FB7416F8784B}"/>
              </a:ext>
            </a:extLst>
          </p:cNvPr>
          <p:cNvSpPr>
            <a:spLocks noGrp="1"/>
          </p:cNvSpPr>
          <p:nvPr>
            <p:ph idx="1"/>
          </p:nvPr>
        </p:nvSpPr>
        <p:spPr>
          <a:xfrm>
            <a:off x="236899" y="1074318"/>
            <a:ext cx="11346815" cy="5097882"/>
          </a:xfrm>
        </p:spPr>
        <p:txBody>
          <a:bodyPr>
            <a:normAutofit/>
          </a:bodyPr>
          <a:lstStyle/>
          <a:p>
            <a:pPr marL="342900" indent="-342900">
              <a:lnSpc>
                <a:spcPct val="150000"/>
              </a:lnSpc>
              <a:buFont typeface="Arial" panose="020B0604020202020204" pitchFamily="34" charset="0"/>
              <a:buChar char="•"/>
            </a:pPr>
            <a:r>
              <a:rPr lang="en-US" sz="2000" dirty="0"/>
              <a:t>Deep learning and machine learning models such as </a:t>
            </a:r>
            <a:r>
              <a:rPr lang="en-US" sz="2000" dirty="0" err="1"/>
              <a:t>CNNand</a:t>
            </a:r>
            <a:r>
              <a:rPr lang="en-US" sz="2000" dirty="0"/>
              <a:t> Random Forest can be used for feature extraction and attack classification.</a:t>
            </a:r>
          </a:p>
          <a:p>
            <a:pPr marL="342900" indent="-342900">
              <a:lnSpc>
                <a:spcPct val="150000"/>
              </a:lnSpc>
              <a:buFont typeface="Arial" panose="020B0604020202020204" pitchFamily="34" charset="0"/>
              <a:buChar char="•"/>
            </a:pPr>
            <a:r>
              <a:rPr lang="en-US" sz="2000" dirty="0"/>
              <a:t>The central server aggregates the local models using federated averaging to create a global IDS model. The trained model is evaluated using metrics such as accuracy, precision, recall, and F1-score, and the best performing model is used for final intrusion detection.</a:t>
            </a:r>
          </a:p>
          <a:p>
            <a:pPr marL="342900" indent="-342900">
              <a:lnSpc>
                <a:spcPct val="150000"/>
              </a:lnSpc>
              <a:buFont typeface="Arial" panose="020B0604020202020204" pitchFamily="34" charset="0"/>
              <a:buChar char="•"/>
            </a:pPr>
            <a:r>
              <a:rPr lang="en-US" sz="2000" dirty="0"/>
              <a:t>The final IDS-FL system can detect network intrusions in real time and can be deployed in cloud environments, enterprise networks, and IoT infrastructures to enhance cybersecurity while maintaining data privacy</a:t>
            </a:r>
            <a:r>
              <a:rPr lang="en-US" sz="1800" dirty="0"/>
              <a:t>.</a:t>
            </a:r>
          </a:p>
        </p:txBody>
      </p:sp>
      <p:graphicFrame>
        <p:nvGraphicFramePr>
          <p:cNvPr id="5" name="Table 4">
            <a:extLst>
              <a:ext uri="{FF2B5EF4-FFF2-40B4-BE49-F238E27FC236}">
                <a16:creationId xmlns:a16="http://schemas.microsoft.com/office/drawing/2014/main" id="{1ACFE0DA-BCE7-1FD1-A621-4D3EBA2A9796}"/>
              </a:ext>
            </a:extLst>
          </p:cNvPr>
          <p:cNvGraphicFramePr>
            <a:graphicFrameLocks noGrp="1"/>
          </p:cNvGraphicFramePr>
          <p:nvPr>
            <p:extLst>
              <p:ext uri="{D42A27DB-BD31-4B8C-83A1-F6EECF244321}">
                <p14:modId xmlns:p14="http://schemas.microsoft.com/office/powerpoint/2010/main" val="1373230481"/>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11</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6" name="Title 1">
            <a:extLst>
              <a:ext uri="{FF2B5EF4-FFF2-40B4-BE49-F238E27FC236}">
                <a16:creationId xmlns:a16="http://schemas.microsoft.com/office/drawing/2014/main" id="{58AD05B3-0B23-F01C-5E91-A968EC97C03F}"/>
              </a:ext>
            </a:extLst>
          </p:cNvPr>
          <p:cNvSpPr>
            <a:spLocks noGrp="1"/>
          </p:cNvSpPr>
          <p:nvPr/>
        </p:nvSpPr>
        <p:spPr>
          <a:xfrm>
            <a:off x="-1" y="288000"/>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Proposed System</a:t>
            </a:r>
            <a:endParaRPr lang="en-IN" dirty="0"/>
          </a:p>
        </p:txBody>
      </p:sp>
      <p:sp>
        <p:nvSpPr>
          <p:cNvPr id="7" name="Rectangle 6">
            <a:extLst>
              <a:ext uri="{FF2B5EF4-FFF2-40B4-BE49-F238E27FC236}">
                <a16:creationId xmlns:a16="http://schemas.microsoft.com/office/drawing/2014/main" id="{5F782A64-5024-0D32-D726-4B18742BB096}"/>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i="1" dirty="0">
                <a:solidFill>
                  <a:srgbClr val="FFFFFF"/>
                </a:solidFill>
                <a:latin typeface="Times New Roman"/>
                <a:cs typeface="Times New Roman"/>
              </a:rPr>
              <a:t>I</a:t>
            </a:r>
            <a:r>
              <a:rPr lang="en-IN" sz="1800" b="1" i="1" dirty="0">
                <a:solidFill>
                  <a:srgbClr val="FFFFFF"/>
                </a:solidFill>
                <a:latin typeface="Times New Roman"/>
                <a:cs typeface="Times New Roman"/>
              </a:rPr>
              <a:t>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614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Plannin</a:t>
            </a:r>
            <a:endParaRPr lang="en-IN" dirty="0"/>
          </a:p>
        </p:txBody>
      </p:sp>
      <p:sp>
        <p:nvSpPr>
          <p:cNvPr id="3" name="Content Placeholder 2"/>
          <p:cNvSpPr>
            <a:spLocks noGrp="1"/>
          </p:cNvSpPr>
          <p:nvPr>
            <p:ph idx="1"/>
          </p:nvPr>
        </p:nvSpPr>
        <p:spPr>
          <a:xfrm>
            <a:off x="236899" y="1074318"/>
            <a:ext cx="11346815" cy="4831724"/>
          </a:xfrm>
        </p:spPr>
        <p:txBody>
          <a:bodyPr>
            <a:normAutofit fontScale="92500"/>
          </a:bodyPr>
          <a:lstStyle/>
          <a:p>
            <a:endParaRPr lang="en-US" sz="1800" dirty="0"/>
          </a:p>
          <a:p>
            <a:pPr marL="342900" indent="-342900" algn="just">
              <a:buFont typeface="Arial" panose="020B0604020202020204" pitchFamily="34" charset="0"/>
              <a:buChar char="•"/>
            </a:pPr>
            <a:r>
              <a:rPr lang="en-US" sz="2400" dirty="0"/>
              <a:t>The first step in the project planning was to identify the problem of centralized intrusion detection systems, where sharing raw network data can cause privacy risks and security concerns.</a:t>
            </a:r>
          </a:p>
          <a:p>
            <a:pPr marL="342900" indent="-342900" algn="just">
              <a:buFont typeface="Arial" panose="020B0604020202020204" pitchFamily="34" charset="0"/>
              <a:buChar char="•"/>
            </a:pPr>
            <a:r>
              <a:rPr lang="en-US" sz="2400" dirty="0"/>
              <a:t>The project objective was defined as developing a privacy-preserving intrusion detection system using Federated Learning (IDS-FL) capable of detecting normal and malicious network activities.</a:t>
            </a:r>
          </a:p>
          <a:p>
            <a:pPr marL="342900" indent="-342900" algn="just">
              <a:buFont typeface="Arial" panose="020B0604020202020204" pitchFamily="34" charset="0"/>
              <a:buChar char="•"/>
            </a:pPr>
            <a:r>
              <a:rPr lang="en-US" sz="2400" dirty="0"/>
              <a:t>A plan was made to collect and prepare multiple cybersecurity datasets containing various types of network attacks and normal traffic to train the detection models.</a:t>
            </a:r>
          </a:p>
          <a:p>
            <a:pPr algn="just"/>
            <a:r>
              <a:rPr lang="en-IN" sz="2400" b="1" dirty="0"/>
              <a:t>Dataset preparation and management:</a:t>
            </a:r>
            <a:endParaRPr lang="en-IN" sz="2400" dirty="0"/>
          </a:p>
          <a:p>
            <a:pPr algn="just"/>
            <a:r>
              <a:rPr lang="en-IN" sz="2400" dirty="0"/>
              <a:t>  Dataset Sources: </a:t>
            </a:r>
          </a:p>
          <a:p>
            <a:pPr algn="just"/>
            <a:r>
              <a:rPr lang="en-IN" sz="2400" dirty="0"/>
              <a:t>        Public cybersecurity datasets such as CICIDS, NSL-KDD, and other network traffic datasets</a:t>
            </a:r>
          </a:p>
          <a:p>
            <a:pPr algn="just"/>
            <a:r>
              <a:rPr lang="en-IN" sz="2400" dirty="0"/>
              <a:t>  Preprocessing: Removing missing values, noise filtering, and feature normalization</a:t>
            </a:r>
          </a:p>
          <a:p>
            <a:pPr algn="just"/>
            <a:r>
              <a:rPr lang="en-IN" sz="2400" dirty="0"/>
              <a:t>  Feature Selection: Identifying important network traffic features for intrusion detection</a:t>
            </a:r>
          </a:p>
          <a:p>
            <a:pPr algn="just"/>
            <a:r>
              <a:rPr lang="en-IN" sz="2400" dirty="0"/>
              <a:t>  Data Distribution: Splitting datasets across multiple federated clients for distributed training</a:t>
            </a:r>
          </a:p>
          <a:p>
            <a:pPr algn="just"/>
            <a:r>
              <a:rPr lang="en-IN" sz="2400" dirty="0"/>
              <a:t>  Privacy Preservation: Ensuring only model parameters are shared instead of raw data</a:t>
            </a:r>
          </a:p>
          <a:p>
            <a:pPr marL="342900" indent="-342900">
              <a:buFont typeface="Arial" panose="020B0604020202020204" pitchFamily="34" charset="0"/>
              <a:buChar char="•"/>
            </a:pPr>
            <a:endParaRPr lang="en-US" sz="2400" dirty="0"/>
          </a:p>
          <a:p>
            <a:endParaRPr lang="en-US" sz="2400" dirty="0"/>
          </a:p>
          <a:p>
            <a:pPr marL="0" indent="0">
              <a:buNone/>
            </a:pPr>
            <a:endParaRPr lang="en-IN" sz="2400" dirty="0"/>
          </a:p>
        </p:txBody>
      </p:sp>
      <p:graphicFrame>
        <p:nvGraphicFramePr>
          <p:cNvPr id="5" name="Table 4">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1320273381"/>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12</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6" name="Title 1">
            <a:extLst>
              <a:ext uri="{FF2B5EF4-FFF2-40B4-BE49-F238E27FC236}">
                <a16:creationId xmlns:a16="http://schemas.microsoft.com/office/drawing/2014/main" id="{FF9A61B2-DB8E-0C22-BF9E-5A9658959AC7}"/>
              </a:ext>
            </a:extLst>
          </p:cNvPr>
          <p:cNvSpPr>
            <a:spLocks noGrp="1"/>
          </p:cNvSpPr>
          <p:nvPr/>
        </p:nvSpPr>
        <p:spPr>
          <a:xfrm>
            <a:off x="0" y="309717"/>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Planning</a:t>
            </a:r>
            <a:endParaRPr lang="en-IN" dirty="0"/>
          </a:p>
        </p:txBody>
      </p:sp>
      <p:sp>
        <p:nvSpPr>
          <p:cNvPr id="7" name="Rectangle 6">
            <a:extLst>
              <a:ext uri="{FF2B5EF4-FFF2-40B4-BE49-F238E27FC236}">
                <a16:creationId xmlns:a16="http://schemas.microsoft.com/office/drawing/2014/main" id="{A8108747-1D1C-3EDF-8F68-005E9A83C918}"/>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659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28323"/>
            <a:ext cx="4343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Intrusion Detection System Using Federated learning </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73025" y="182323"/>
            <a:ext cx="7851775" cy="689932"/>
          </a:xfrm>
          <a:prstGeom prst="rect">
            <a:avLst/>
          </a:prstGeom>
        </p:spPr>
        <p:txBody>
          <a:bodyPr vert="horz" wrap="square" lIns="0" tIns="12700" rIns="0" bIns="0" rtlCol="0">
            <a:spAutoFit/>
          </a:bodyPr>
          <a:lstStyle/>
          <a:p>
            <a:pPr marL="12700">
              <a:lnSpc>
                <a:spcPct val="100000"/>
              </a:lnSpc>
              <a:spcBef>
                <a:spcPts val="100"/>
              </a:spcBef>
            </a:pPr>
            <a:r>
              <a:rPr lang="en-US" spc="-10" dirty="0"/>
              <a:t>Software Requirements</a:t>
            </a:r>
            <a:endParaRPr spc="-10"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p:cNvSpPr txBox="1">
            <a:spLocks noGrp="1"/>
          </p:cNvSpPr>
          <p:nvPr>
            <p:ph type="dt" sz="half" idx="6"/>
          </p:nvPr>
        </p:nvSpPr>
        <p:spPr>
          <a:xfrm>
            <a:off x="1262974" y="6629197"/>
            <a:ext cx="4071026" cy="228803"/>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5600" y="6607175"/>
            <a:ext cx="4223426"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13</a:t>
            </a:fld>
            <a:endParaRPr spc="-25" dirty="0"/>
          </a:p>
        </p:txBody>
      </p:sp>
      <p:sp>
        <p:nvSpPr>
          <p:cNvPr id="14" name="Text Box 11">
            <a:extLst>
              <a:ext uri="{FF2B5EF4-FFF2-40B4-BE49-F238E27FC236}">
                <a16:creationId xmlns:a16="http://schemas.microsoft.com/office/drawing/2014/main" id="{C42CB409-20EE-230B-6591-DD32BCB8B977}"/>
              </a:ext>
            </a:extLst>
          </p:cNvPr>
          <p:cNvSpPr txBox="1"/>
          <p:nvPr/>
        </p:nvSpPr>
        <p:spPr>
          <a:xfrm>
            <a:off x="129540" y="1048385"/>
            <a:ext cx="11892280" cy="5480050"/>
          </a:xfrm>
          <a:prstGeom prst="rect">
            <a:avLst/>
          </a:prstGeom>
        </p:spPr>
        <p:txBody>
          <a:bodyPr wrap="square">
            <a:noAutofit/>
          </a:bodyPr>
          <a:lstStyle/>
          <a:p>
            <a:pPr marL="285750" indent="-285750" algn="l">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Programming Languages: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 Python for implementing machine learning and federated learning models.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 JavaScript for building the desktop application interface.</a:t>
            </a:r>
          </a:p>
          <a:p>
            <a:pPr marL="285750" indent="-285750" algn="l">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Development Tools and Frameworks: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 TensorFlow /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for deep learning model development.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 Scikit-learn for machine learning algorithms and data preprocessing.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 Flower (Federated Learning Framework) for implementing federated learning architecture.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 Pandas and NumPy for data processing and analysis.</a:t>
            </a:r>
          </a:p>
          <a:p>
            <a:pPr marL="285750" indent="-285750" algn="l">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Desktop Application Framework:</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 Electron.js for developing a cross-platform desktop application interface to monitor intrusion detection results.</a:t>
            </a:r>
          </a:p>
          <a:p>
            <a:pPr marL="285750" indent="-285750" algn="l">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Data Processing and Visualization: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 Matplotlib / Seaborn for visualization and performance evaluation.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for experimentation and model training.</a:t>
            </a:r>
          </a:p>
          <a:p>
            <a:pPr marL="285750" indent="-285750" algn="l">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Web Technologies: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 HTML for application layout and structure.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 CSS for styling the user interface.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 JavaScript for interactive frontend functionality.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1863-5F7A-CAC5-F956-3D1A29CD8D9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1CE394-0AE2-38F9-D8B2-50A0AC6C9DDD}"/>
              </a:ext>
            </a:extLst>
          </p:cNvPr>
          <p:cNvSpPr txBox="1"/>
          <p:nvPr/>
        </p:nvSpPr>
        <p:spPr>
          <a:xfrm>
            <a:off x="3352800" y="-28323"/>
            <a:ext cx="4343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Intrusion Detection System Using Federated learning </a:t>
            </a:r>
            <a:endParaRPr sz="1500" dirty="0">
              <a:latin typeface="Times New Roman"/>
              <a:cs typeface="Times New Roman"/>
            </a:endParaRPr>
          </a:p>
        </p:txBody>
      </p:sp>
      <p:grpSp>
        <p:nvGrpSpPr>
          <p:cNvPr id="3" name="object 3">
            <a:extLst>
              <a:ext uri="{FF2B5EF4-FFF2-40B4-BE49-F238E27FC236}">
                <a16:creationId xmlns:a16="http://schemas.microsoft.com/office/drawing/2014/main" id="{3DBF506F-A33A-63D8-DE19-F72631608AC8}"/>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8AB0DC96-FE1C-138A-4373-9B115BB64075}"/>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72123A6A-B245-4E6A-F7C3-43574ABBC893}"/>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E8DE5544-D069-7D5A-8B85-0597C1706ACC}"/>
              </a:ext>
            </a:extLst>
          </p:cNvPr>
          <p:cNvSpPr txBox="1">
            <a:spLocks noGrp="1"/>
          </p:cNvSpPr>
          <p:nvPr>
            <p:ph type="title"/>
          </p:nvPr>
        </p:nvSpPr>
        <p:spPr>
          <a:xfrm>
            <a:off x="73025" y="182323"/>
            <a:ext cx="7851775" cy="689932"/>
          </a:xfrm>
          <a:prstGeom prst="rect">
            <a:avLst/>
          </a:prstGeom>
        </p:spPr>
        <p:txBody>
          <a:bodyPr vert="horz" wrap="square" lIns="0" tIns="12700" rIns="0" bIns="0" rtlCol="0">
            <a:spAutoFit/>
          </a:bodyPr>
          <a:lstStyle/>
          <a:p>
            <a:pPr marL="12700">
              <a:lnSpc>
                <a:spcPct val="100000"/>
              </a:lnSpc>
              <a:spcBef>
                <a:spcPts val="100"/>
              </a:spcBef>
            </a:pPr>
            <a:r>
              <a:rPr lang="en-US" spc="-10" dirty="0"/>
              <a:t>Software Requirements</a:t>
            </a:r>
            <a:endParaRPr spc="-10" dirty="0"/>
          </a:p>
        </p:txBody>
      </p:sp>
      <p:sp>
        <p:nvSpPr>
          <p:cNvPr id="8" name="object 8">
            <a:extLst>
              <a:ext uri="{FF2B5EF4-FFF2-40B4-BE49-F238E27FC236}">
                <a16:creationId xmlns:a16="http://schemas.microsoft.com/office/drawing/2014/main" id="{BB8F3F29-4F7C-198C-049D-1ED9B088BCF4}"/>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E5113646-E5F1-1FB1-42B4-0E98BAE40334}"/>
              </a:ext>
            </a:extLst>
          </p:cNvPr>
          <p:cNvSpPr txBox="1">
            <a:spLocks noGrp="1"/>
          </p:cNvSpPr>
          <p:nvPr>
            <p:ph type="dt" sz="half" idx="6"/>
          </p:nvPr>
        </p:nvSpPr>
        <p:spPr>
          <a:xfrm>
            <a:off x="1262974" y="6629197"/>
            <a:ext cx="4071026" cy="228803"/>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a:extLst>
              <a:ext uri="{FF2B5EF4-FFF2-40B4-BE49-F238E27FC236}">
                <a16:creationId xmlns:a16="http://schemas.microsoft.com/office/drawing/2014/main" id="{B9F19420-6F25-4061-CA51-54F9C26AA23E}"/>
              </a:ext>
            </a:extLst>
          </p:cNvPr>
          <p:cNvSpPr txBox="1"/>
          <p:nvPr/>
        </p:nvSpPr>
        <p:spPr>
          <a:xfrm>
            <a:off x="6705600" y="6607175"/>
            <a:ext cx="4223426"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id="{E99A6FAE-6C42-0C41-E38D-5B8C22BFABD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14</a:t>
            </a:fld>
            <a:endParaRPr spc="-25" dirty="0"/>
          </a:p>
        </p:txBody>
      </p:sp>
      <p:sp>
        <p:nvSpPr>
          <p:cNvPr id="14" name="Text Box 11">
            <a:extLst>
              <a:ext uri="{FF2B5EF4-FFF2-40B4-BE49-F238E27FC236}">
                <a16:creationId xmlns:a16="http://schemas.microsoft.com/office/drawing/2014/main" id="{C1D8C6DF-8D9A-F0CB-3E5D-EDE7D411392E}"/>
              </a:ext>
            </a:extLst>
          </p:cNvPr>
          <p:cNvSpPr txBox="1"/>
          <p:nvPr/>
        </p:nvSpPr>
        <p:spPr>
          <a:xfrm>
            <a:off x="129540" y="1048385"/>
            <a:ext cx="11892280" cy="5480050"/>
          </a:xfrm>
          <a:prstGeom prst="rect">
            <a:avLst/>
          </a:prstGeom>
        </p:spPr>
        <p:txBody>
          <a:bodyPr wrap="square">
            <a:noAutofit/>
          </a:bodyPr>
          <a:lstStyle/>
          <a:p>
            <a:pPr algn="just"/>
            <a:r>
              <a:rPr lang="en-IN" b="1" dirty="0"/>
              <a:t>Planning</a:t>
            </a:r>
          </a:p>
          <a:p>
            <a:pPr marL="285750" indent="-285750" algn="just">
              <a:buFont typeface="Arial" panose="020B0604020202020204" pitchFamily="34" charset="0"/>
              <a:buChar char="•"/>
            </a:pPr>
            <a:r>
              <a:rPr lang="en-IN" b="1" dirty="0"/>
              <a:t>Operating System</a:t>
            </a:r>
            <a:r>
              <a:rPr lang="en-IN" dirty="0"/>
              <a:t> : Windows / Linux</a:t>
            </a:r>
          </a:p>
          <a:p>
            <a:pPr marL="285750" indent="-285750" algn="just">
              <a:buFont typeface="Arial" panose="020B0604020202020204" pitchFamily="34" charset="0"/>
              <a:buChar char="•"/>
            </a:pPr>
            <a:r>
              <a:rPr lang="en-IN" b="1" dirty="0"/>
              <a:t>Development Environment</a:t>
            </a:r>
            <a:r>
              <a:rPr lang="en-IN" dirty="0"/>
              <a:t> : VS Code / </a:t>
            </a:r>
            <a:r>
              <a:rPr lang="en-IN" dirty="0" err="1"/>
              <a:t>Jupyter</a:t>
            </a:r>
            <a:r>
              <a:rPr lang="en-IN" dirty="0"/>
              <a:t> Notebook</a:t>
            </a:r>
          </a:p>
          <a:p>
            <a:pPr algn="just"/>
            <a:br>
              <a:rPr lang="en-IN" dirty="0"/>
            </a:br>
            <a:endParaRPr lang="en-IN" dirty="0"/>
          </a:p>
          <a:p>
            <a:pPr algn="just"/>
            <a:r>
              <a:rPr lang="en-IN" b="1" dirty="0"/>
              <a:t>Hardware Requirements:</a:t>
            </a:r>
          </a:p>
          <a:p>
            <a:pPr marL="285750" indent="-285750" algn="just">
              <a:buFont typeface="Arial" panose="020B0604020202020204" pitchFamily="34" charset="0"/>
              <a:buChar char="•"/>
            </a:pPr>
            <a:r>
              <a:rPr lang="en-IN" b="1" dirty="0"/>
              <a:t>Processor</a:t>
            </a:r>
            <a:r>
              <a:rPr lang="en-IN" dirty="0"/>
              <a:t> – Intel i3 / i5 / i7 or equivalent processor</a:t>
            </a:r>
          </a:p>
          <a:p>
            <a:pPr marL="285750" indent="-285750" algn="just">
              <a:buFont typeface="Arial" panose="020B0604020202020204" pitchFamily="34" charset="0"/>
              <a:buChar char="•"/>
            </a:pPr>
            <a:r>
              <a:rPr lang="en-IN" b="1" dirty="0"/>
              <a:t>Hard Disk</a:t>
            </a:r>
            <a:r>
              <a:rPr lang="en-IN" dirty="0"/>
              <a:t> – Minimum 160 GB storage</a:t>
            </a:r>
          </a:p>
          <a:p>
            <a:pPr marL="285750" indent="-285750" algn="just">
              <a:buFont typeface="Arial" panose="020B0604020202020204" pitchFamily="34" charset="0"/>
              <a:buChar char="•"/>
            </a:pPr>
            <a:r>
              <a:rPr lang="en-IN" b="1" dirty="0"/>
              <a:t>Keyboard</a:t>
            </a:r>
            <a:r>
              <a:rPr lang="en-IN" dirty="0"/>
              <a:t> – Standard keyboard</a:t>
            </a:r>
          </a:p>
          <a:p>
            <a:pPr marL="285750" indent="-285750" algn="just">
              <a:buFont typeface="Arial" panose="020B0604020202020204" pitchFamily="34" charset="0"/>
              <a:buChar char="•"/>
            </a:pPr>
            <a:r>
              <a:rPr lang="en-IN" b="1" dirty="0"/>
              <a:t>RAM</a:t>
            </a:r>
            <a:r>
              <a:rPr lang="en-IN" dirty="0"/>
              <a:t> – Minimum 8 GB</a:t>
            </a:r>
          </a:p>
          <a:p>
            <a:pPr marL="285750" indent="-285750" algn="just">
              <a:buFont typeface="Arial" panose="020B0604020202020204" pitchFamily="34" charset="0"/>
              <a:buChar char="•"/>
            </a:pPr>
            <a:r>
              <a:rPr lang="en-IN" b="1" dirty="0"/>
              <a:t>Network</a:t>
            </a:r>
            <a:r>
              <a:rPr lang="en-IN" dirty="0"/>
              <a:t> – Internet connection required for federated learning communication between clients and server</a:t>
            </a:r>
          </a:p>
        </p:txBody>
      </p:sp>
    </p:spTree>
    <p:extLst>
      <p:ext uri="{BB962C8B-B14F-4D97-AF65-F5344CB8AC3E}">
        <p14:creationId xmlns:p14="http://schemas.microsoft.com/office/powerpoint/2010/main" val="3024609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36265" y="-18415"/>
            <a:ext cx="6292215" cy="243656"/>
          </a:xfrm>
          <a:prstGeom prst="rect">
            <a:avLst/>
          </a:prstGeom>
        </p:spPr>
        <p:txBody>
          <a:bodyPr vert="horz" wrap="square" lIns="0" tIns="12700" rIns="0" bIns="0" rtlCol="0">
            <a:spAutoFit/>
          </a:bodyPr>
          <a:lstStyle/>
          <a:p>
            <a:pPr marL="12700">
              <a:lnSpc>
                <a:spcPct val="100000"/>
              </a:lnSpc>
              <a:spcBef>
                <a:spcPts val="100"/>
              </a:spcBef>
            </a:pPr>
            <a:r>
              <a:rPr lang="en-IN" altLang="en-US" sz="1500" b="1" i="1" dirty="0">
                <a:solidFill>
                  <a:srgbClr val="FFFFFF"/>
                </a:solidFill>
                <a:latin typeface="Times New Roman" panose="02020603050405020304"/>
                <a:cs typeface="Times New Roman" panose="02020603050405020304"/>
                <a:sym typeface="+mn-ea"/>
              </a:rPr>
              <a:t>    </a:t>
            </a:r>
            <a:endParaRPr sz="1500" dirty="0">
              <a:latin typeface="Times New Roman" panose="02020603050405020304"/>
              <a:cs typeface="Times New Roman" panose="02020603050405020304"/>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73025" y="182323"/>
            <a:ext cx="4739005" cy="689610"/>
          </a:xfrm>
          <a:prstGeom prst="rect">
            <a:avLst/>
          </a:prstGeom>
        </p:spPr>
        <p:txBody>
          <a:bodyPr vert="horz" wrap="square" lIns="0" tIns="12700" rIns="0" bIns="0" rtlCol="0">
            <a:spAutoFit/>
          </a:bodyPr>
          <a:lstStyle/>
          <a:p>
            <a:pPr marL="12700">
              <a:lnSpc>
                <a:spcPct val="100000"/>
              </a:lnSpc>
              <a:spcBef>
                <a:spcPts val="100"/>
              </a:spcBef>
              <a:tabLst>
                <a:tab pos="3145790" algn="l"/>
              </a:tabLst>
            </a:pPr>
            <a:r>
              <a:rPr lang="en-IN" spc="-10" dirty="0"/>
              <a:t>Datasets/Modules</a:t>
            </a:r>
          </a:p>
        </p:txBody>
      </p:sp>
      <p:sp>
        <p:nvSpPr>
          <p:cNvPr id="8" name="object 8"/>
          <p:cNvSpPr txBox="1">
            <a:spLocks noGrp="1"/>
          </p:cNvSpPr>
          <p:nvPr>
            <p:ph type="ftr" sz="quarter" idx="5"/>
          </p:nvPr>
        </p:nvSpPr>
        <p:spPr>
          <a:xfrm>
            <a:off x="149031" y="6629427"/>
            <a:ext cx="635000" cy="236220"/>
          </a:xfrm>
          <a:prstGeom prst="rect">
            <a:avLst/>
          </a:prstGeom>
        </p:spPr>
        <p:txBody>
          <a:bodyPr vert="horz" wrap="square" lIns="0" tIns="0" rIns="0" bIns="0" rtlCol="0">
            <a:spAutoFit/>
          </a:bodyPr>
          <a:lstStyle/>
          <a:p>
            <a:pPr marL="12700">
              <a:lnSpc>
                <a:spcPts val="1845"/>
              </a:lnSpc>
            </a:pPr>
            <a:r>
              <a:rPr lang="en-IN" spc="-10" dirty="0"/>
              <a:t>B</a:t>
            </a:r>
            <a:r>
              <a:rPr spc="-10" dirty="0"/>
              <a:t> </a:t>
            </a:r>
            <a:r>
              <a:rPr dirty="0"/>
              <a:t>-</a:t>
            </a:r>
            <a:r>
              <a:rPr spc="-5" dirty="0"/>
              <a:t> </a:t>
            </a:r>
            <a:r>
              <a:rPr lang="en-IN" spc="-5" dirty="0"/>
              <a:t>15</a:t>
            </a:r>
          </a:p>
        </p:txBody>
      </p:sp>
      <p:sp>
        <p:nvSpPr>
          <p:cNvPr id="9" name="object 9"/>
          <p:cNvSpPr txBox="1">
            <a:spLocks noGrp="1"/>
          </p:cNvSpPr>
          <p:nvPr>
            <p:ph type="dt" sz="half" idx="6"/>
          </p:nvPr>
        </p:nvSpPr>
        <p:spPr>
          <a:xfrm>
            <a:off x="1447800" y="6629558"/>
            <a:ext cx="3987559" cy="236089"/>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944380" y="6629197"/>
            <a:ext cx="41046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15</a:t>
            </a:fld>
            <a:endParaRPr spc="-25" dirty="0"/>
          </a:p>
        </p:txBody>
      </p:sp>
      <p:sp>
        <p:nvSpPr>
          <p:cNvPr id="12" name="Text Box 11"/>
          <p:cNvSpPr txBox="1"/>
          <p:nvPr/>
        </p:nvSpPr>
        <p:spPr>
          <a:xfrm>
            <a:off x="73025" y="916305"/>
            <a:ext cx="11127740" cy="5727700"/>
          </a:xfrm>
          <a:prstGeom prst="rect">
            <a:avLst/>
          </a:prstGeom>
        </p:spPr>
        <p:txBody>
          <a:bodyPr wrap="square">
            <a:noAutofit/>
          </a:bodyPr>
          <a:lstStyle/>
          <a:p>
            <a:pPr algn="just">
              <a:spcAft>
                <a:spcPts val="500"/>
              </a:spcAft>
            </a:pPr>
            <a:r>
              <a:rPr lang="en-IN" sz="2200" b="1" dirty="0">
                <a:latin typeface="Times New Roman" panose="02020603050405020304" pitchFamily="18" charset="0"/>
                <a:cs typeface="Times New Roman" panose="02020603050405020304" pitchFamily="18" charset="0"/>
              </a:rPr>
              <a:t>Authentication &amp; Role Management Module</a:t>
            </a:r>
            <a:r>
              <a:rPr lang="en-US" altLang="en-US" sz="2200" b="1" dirty="0">
                <a:latin typeface="Times New Roman" panose="02020603050405020304" charset="0"/>
                <a:cs typeface="Times New Roman" panose="02020603050405020304" charset="0"/>
              </a:rPr>
              <a:t>:</a:t>
            </a:r>
            <a:r>
              <a:rPr lang="en-US" altLang="en-US" sz="2200" dirty="0">
                <a:latin typeface="Times New Roman" panose="02020603050405020304" charset="0"/>
                <a:cs typeface="Times New Roman" panose="02020603050405020304" charset="0"/>
              </a:rPr>
              <a:t> </a:t>
            </a:r>
            <a:r>
              <a:rPr lang="en-US" sz="2200" dirty="0">
                <a:latin typeface="Times New Roman" panose="02020603050405020304" pitchFamily="18" charset="0"/>
                <a:cs typeface="Times New Roman" panose="02020603050405020304" pitchFamily="18" charset="0"/>
              </a:rPr>
              <a:t>Handles user registration, secure login, JWT-based session management, and role-based dashboard access (Admin, Security Analyst, Client Node). Ensures secure API access and controlled system operations.</a:t>
            </a:r>
          </a:p>
          <a:p>
            <a:pPr algn="just">
              <a:spcAft>
                <a:spcPts val="500"/>
              </a:spcAft>
            </a:pPr>
            <a:r>
              <a:rPr lang="en-IN" sz="2200" b="1" dirty="0">
                <a:latin typeface="Times New Roman" panose="02020603050405020304" pitchFamily="18" charset="0"/>
                <a:cs typeface="Times New Roman" panose="02020603050405020304" pitchFamily="18" charset="0"/>
              </a:rPr>
              <a:t>Federated Learning Module: </a:t>
            </a:r>
            <a:r>
              <a:rPr lang="en-IN" sz="2200" dirty="0">
                <a:latin typeface="Times New Roman" panose="02020603050405020304" pitchFamily="18" charset="0"/>
                <a:cs typeface="Times New Roman" panose="02020603050405020304" pitchFamily="18" charset="0"/>
              </a:rPr>
              <a:t>Manages distributed model training across multiple client nodes. Supports local training, secure model update sharing, global model aggregation (e.g., </a:t>
            </a:r>
            <a:r>
              <a:rPr lang="en-IN" sz="2200" dirty="0" err="1">
                <a:latin typeface="Times New Roman" panose="02020603050405020304" pitchFamily="18" charset="0"/>
                <a:cs typeface="Times New Roman" panose="02020603050405020304" pitchFamily="18" charset="0"/>
              </a:rPr>
              <a:t>FedAvg</a:t>
            </a:r>
            <a:r>
              <a:rPr lang="en-IN" sz="2200" dirty="0">
                <a:latin typeface="Times New Roman" panose="02020603050405020304" pitchFamily="18" charset="0"/>
                <a:cs typeface="Times New Roman" panose="02020603050405020304" pitchFamily="18" charset="0"/>
              </a:rPr>
              <a:t>), and client participation management.</a:t>
            </a:r>
          </a:p>
          <a:p>
            <a:pPr algn="just">
              <a:spcAft>
                <a:spcPts val="500"/>
              </a:spcAft>
            </a:pPr>
            <a:r>
              <a:rPr lang="en-US" sz="2200" b="1" dirty="0">
                <a:latin typeface="Times New Roman" panose="02020603050405020304" pitchFamily="18" charset="0"/>
                <a:cs typeface="Times New Roman" panose="02020603050405020304" pitchFamily="18" charset="0"/>
              </a:rPr>
              <a:t>Intrusion Detection Module: </a:t>
            </a:r>
            <a:r>
              <a:rPr lang="en-US" sz="2200" dirty="0">
                <a:latin typeface="Times New Roman" panose="02020603050405020304" pitchFamily="18" charset="0"/>
                <a:cs typeface="Times New Roman" panose="02020603050405020304" pitchFamily="18" charset="0"/>
              </a:rPr>
              <a:t>Performs data preprocessing, feature extraction, attack classification, and anomaly detection. Identifies malicious activities such as DoS, Brute Force, Port Scanning, and other cyber threats.</a:t>
            </a:r>
            <a:endParaRPr lang="en-US" sz="2200" dirty="0">
              <a:latin typeface="Times New Roman" panose="02020603050405020304" charset="0"/>
              <a:cs typeface="Times New Roman" panose="02020603050405020304" charset="0"/>
            </a:endParaRPr>
          </a:p>
          <a:p>
            <a:pPr algn="just">
              <a:spcAft>
                <a:spcPts val="500"/>
              </a:spcAft>
            </a:pPr>
            <a:r>
              <a:rPr lang="en-US" sz="2200" b="1" dirty="0">
                <a:latin typeface="Times New Roman" panose="02020603050405020304" pitchFamily="18" charset="0"/>
                <a:cs typeface="Times New Roman" panose="02020603050405020304" pitchFamily="18" charset="0"/>
              </a:rPr>
              <a:t>Dashboard &amp; Analytics Module: </a:t>
            </a:r>
            <a:r>
              <a:rPr lang="en-US" sz="2200" dirty="0">
                <a:latin typeface="Times New Roman" panose="02020603050405020304" pitchFamily="18" charset="0"/>
                <a:cs typeface="Times New Roman" panose="02020603050405020304" pitchFamily="18" charset="0"/>
              </a:rPr>
              <a:t>Displays system health, training progress, detection accuracy, attack statistics, and performance metrics through interactive charts and reports.</a:t>
            </a:r>
          </a:p>
          <a:p>
            <a:pPr algn="just"/>
            <a:r>
              <a:rPr lang="en-US" sz="2200" b="1" dirty="0">
                <a:latin typeface="Times New Roman" panose="02020603050405020304" pitchFamily="18" charset="0"/>
                <a:cs typeface="Times New Roman" panose="02020603050405020304" pitchFamily="18" charset="0"/>
              </a:rPr>
              <a:t>Datasets Used:</a:t>
            </a: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CIC-IDS2017 Dataset</a:t>
            </a:r>
            <a:r>
              <a:rPr lang="en-US" sz="2200" dirty="0">
                <a:latin typeface="Times New Roman" panose="02020603050405020304" pitchFamily="18" charset="0"/>
                <a:cs typeface="Times New Roman" panose="02020603050405020304" pitchFamily="18" charset="0"/>
              </a:rPr>
              <a:t> – For modern real-world attack simulation and classification</a:t>
            </a:r>
            <a:r>
              <a:rPr lang="en-US" sz="2200" dirty="0"/>
              <a:t>.</a:t>
            </a:r>
          </a:p>
          <a:p>
            <a:endParaRPr lang="en-US" sz="2200" dirty="0">
              <a:latin typeface="Times New Roman" panose="02020603050405020304" pitchFamily="18" charset="0"/>
              <a:cs typeface="Times New Roman" panose="02020603050405020304" pitchFamily="18" charset="0"/>
            </a:endParaRPr>
          </a:p>
        </p:txBody>
      </p:sp>
      <p:sp>
        <p:nvSpPr>
          <p:cNvPr id="13" name="object 2">
            <a:extLst>
              <a:ext uri="{FF2B5EF4-FFF2-40B4-BE49-F238E27FC236}">
                <a16:creationId xmlns:a16="http://schemas.microsoft.com/office/drawing/2014/main" id="{5F67BBB7-854C-C2BF-D0C0-35C42EFB4936}"/>
              </a:ext>
            </a:extLst>
          </p:cNvPr>
          <p:cNvSpPr txBox="1"/>
          <p:nvPr/>
        </p:nvSpPr>
        <p:spPr>
          <a:xfrm>
            <a:off x="3352800" y="-28323"/>
            <a:ext cx="452247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Intrusion Detection System Using Federated learning </a:t>
            </a:r>
            <a:endParaRPr sz="1500" dirty="0">
              <a:latin typeface="Times New Roman"/>
              <a:cs typeface="Times New Roman"/>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Design-Sequence Diagram </a:t>
            </a:r>
            <a:endParaRPr lang="en-IN" dirty="0"/>
          </a:p>
        </p:txBody>
      </p:sp>
      <p:sp>
        <p:nvSpPr>
          <p:cNvPr id="3" name="Text Placeholder 2"/>
          <p:cNvSpPr>
            <a:spLocks noGrp="1"/>
          </p:cNvSpPr>
          <p:nvPr>
            <p:ph type="body" idx="1"/>
          </p:nvPr>
        </p:nvSpPr>
        <p:spPr>
          <a:xfrm>
            <a:off x="199505" y="1109002"/>
            <a:ext cx="4067695" cy="5394960"/>
          </a:xfrm>
        </p:spPr>
        <p:txBody>
          <a:bodyPr>
            <a:normAutofit/>
          </a:bodyPr>
          <a:lstStyle/>
          <a:p>
            <a:endParaRPr lang="en-US" sz="2400" dirty="0"/>
          </a:p>
          <a:p>
            <a:r>
              <a:rPr lang="en-US" sz="2400" dirty="0"/>
              <a:t>A UML sequence diagram defines the dynamic behavior of IDS‑FL by showing how system components interact over time through ordered messages. It illustrates the end‑to‑end flow of intrusion detection, beginning with data collection from distributed nodes and progressing through preprocessing, feature extraction, and federated model training.</a:t>
            </a:r>
          </a:p>
          <a:p>
            <a:endParaRPr lang="en-US" sz="2400" dirty="0"/>
          </a:p>
        </p:txBody>
      </p:sp>
      <p:graphicFrame>
        <p:nvGraphicFramePr>
          <p:cNvPr id="8" name="Table 7">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2581773295"/>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16</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4" name="Title 1">
            <a:extLst>
              <a:ext uri="{FF2B5EF4-FFF2-40B4-BE49-F238E27FC236}">
                <a16:creationId xmlns:a16="http://schemas.microsoft.com/office/drawing/2014/main" id="{7D8964A3-4FC1-99DA-C43C-BFF32DCC4F22}"/>
              </a:ext>
            </a:extLst>
          </p:cNvPr>
          <p:cNvSpPr>
            <a:spLocks noGrp="1"/>
          </p:cNvSpPr>
          <p:nvPr/>
        </p:nvSpPr>
        <p:spPr>
          <a:xfrm>
            <a:off x="0" y="288000"/>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Design-Sequence Diagram </a:t>
            </a:r>
            <a:endParaRPr lang="en-IN" dirty="0"/>
          </a:p>
        </p:txBody>
      </p:sp>
      <p:pic>
        <p:nvPicPr>
          <p:cNvPr id="9" name="Picture 8">
            <a:extLst>
              <a:ext uri="{FF2B5EF4-FFF2-40B4-BE49-F238E27FC236}">
                <a16:creationId xmlns:a16="http://schemas.microsoft.com/office/drawing/2014/main" id="{B20AA9C8-D15E-5456-128C-CC7C6DBE6ABB}"/>
              </a:ext>
            </a:extLst>
          </p:cNvPr>
          <p:cNvPicPr>
            <a:picLocks noChangeAspect="1"/>
          </p:cNvPicPr>
          <p:nvPr/>
        </p:nvPicPr>
        <p:blipFill>
          <a:blip r:embed="rId2"/>
          <a:stretch>
            <a:fillRect/>
          </a:stretch>
        </p:blipFill>
        <p:spPr>
          <a:xfrm>
            <a:off x="4343400" y="1093263"/>
            <a:ext cx="7105650" cy="5343525"/>
          </a:xfrm>
          <a:prstGeom prst="rect">
            <a:avLst/>
          </a:prstGeom>
        </p:spPr>
      </p:pic>
      <p:sp>
        <p:nvSpPr>
          <p:cNvPr id="14" name="Rectangle 13">
            <a:extLst>
              <a:ext uri="{FF2B5EF4-FFF2-40B4-BE49-F238E27FC236}">
                <a16:creationId xmlns:a16="http://schemas.microsoft.com/office/drawing/2014/main" id="{D6B1D9D8-581A-50EB-BD05-1CCEE66756B5}"/>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49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Design-Class Diagram </a:t>
            </a:r>
            <a:endParaRPr lang="en-IN" dirty="0"/>
          </a:p>
        </p:txBody>
      </p:sp>
      <p:sp>
        <p:nvSpPr>
          <p:cNvPr id="3" name="Text Placeholder 2"/>
          <p:cNvSpPr>
            <a:spLocks noGrp="1"/>
          </p:cNvSpPr>
          <p:nvPr>
            <p:ph type="body" idx="1"/>
          </p:nvPr>
        </p:nvSpPr>
        <p:spPr>
          <a:xfrm>
            <a:off x="199505" y="1109002"/>
            <a:ext cx="11779135" cy="5394960"/>
          </a:xfrm>
        </p:spPr>
        <p:txBody>
          <a:bodyPr>
            <a:normAutofit/>
          </a:bodyPr>
          <a:lstStyle/>
          <a:p>
            <a:endParaRPr lang="en-US" sz="2400" dirty="0"/>
          </a:p>
          <a:p>
            <a:pPr algn="l"/>
            <a:r>
              <a:rPr lang="en-US" sz="2400" dirty="0"/>
              <a:t>A UML class diagram represents the</a:t>
            </a:r>
            <a:br>
              <a:rPr lang="en-US" sz="2400" dirty="0"/>
            </a:br>
            <a:r>
              <a:rPr lang="en-US" sz="2400" dirty="0"/>
              <a:t>static structure of a system, showing</a:t>
            </a:r>
            <a:br>
              <a:rPr lang="en-US" sz="2400" dirty="0"/>
            </a:br>
            <a:r>
              <a:rPr lang="en-US" sz="2400" dirty="0"/>
              <a:t>classes, their attributes, methods, and</a:t>
            </a:r>
            <a:br>
              <a:rPr lang="en-US" sz="2400" dirty="0"/>
            </a:br>
            <a:r>
              <a:rPr lang="en-US" sz="2400" dirty="0"/>
              <a:t>relationships.</a:t>
            </a:r>
          </a:p>
          <a:p>
            <a:pPr algn="l"/>
            <a:r>
              <a:rPr lang="en-US" sz="2400" dirty="0"/>
              <a:t>In this project, the class diagram</a:t>
            </a:r>
            <a:br>
              <a:rPr lang="en-US" sz="2400" dirty="0"/>
            </a:br>
            <a:r>
              <a:rPr lang="en-US" sz="2400" dirty="0"/>
              <a:t>models key components such as dataset</a:t>
            </a:r>
            <a:br>
              <a:rPr lang="en-US" sz="2400" dirty="0"/>
            </a:br>
            <a:r>
              <a:rPr lang="en-US" sz="2400" dirty="0"/>
              <a:t>management, federated learning engine,</a:t>
            </a:r>
            <a:br>
              <a:rPr lang="en-US" sz="2400" dirty="0"/>
            </a:br>
            <a:r>
              <a:rPr lang="en-US" sz="2400" dirty="0"/>
              <a:t>FL clients, intrusion detection engine,</a:t>
            </a:r>
            <a:br>
              <a:rPr lang="en-US" sz="2400" dirty="0"/>
            </a:br>
            <a:r>
              <a:rPr lang="en-US" sz="2400" dirty="0"/>
              <a:t>API services, and dashboard interface</a:t>
            </a:r>
            <a:br>
              <a:rPr lang="en-US" sz="2400" dirty="0"/>
            </a:br>
            <a:r>
              <a:rPr lang="en-US" sz="2400" dirty="0"/>
              <a:t>that work together to perform privacy-</a:t>
            </a:r>
            <a:br>
              <a:rPr lang="en-US" sz="2400" dirty="0"/>
            </a:br>
            <a:r>
              <a:rPr lang="en-US" sz="2400" dirty="0"/>
              <a:t>preserving intrusion detection and</a:t>
            </a:r>
            <a:br>
              <a:rPr lang="en-US" sz="2400" dirty="0"/>
            </a:br>
            <a:r>
              <a:rPr lang="en-US" sz="2400" dirty="0"/>
              <a:t>real-time threat monitoring.</a:t>
            </a:r>
          </a:p>
          <a:p>
            <a:pPr marL="50800" indent="0">
              <a:buNone/>
            </a:pPr>
            <a:endParaRPr lang="en-IN" sz="2400" dirty="0"/>
          </a:p>
          <a:p>
            <a:pPr marL="50800" indent="0">
              <a:buNone/>
            </a:pPr>
            <a:endParaRPr lang="en-US" sz="2400" dirty="0"/>
          </a:p>
          <a:p>
            <a:endParaRPr lang="en-US" sz="2400" dirty="0"/>
          </a:p>
        </p:txBody>
      </p:sp>
      <p:graphicFrame>
        <p:nvGraphicFramePr>
          <p:cNvPr id="9" name="Table 8">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1101147422"/>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17</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4" name="Title 1">
            <a:extLst>
              <a:ext uri="{FF2B5EF4-FFF2-40B4-BE49-F238E27FC236}">
                <a16:creationId xmlns:a16="http://schemas.microsoft.com/office/drawing/2014/main" id="{0B30E4D4-1A1E-1404-3C7C-7E6D78832B5F}"/>
              </a:ext>
            </a:extLst>
          </p:cNvPr>
          <p:cNvSpPr>
            <a:spLocks noGrp="1"/>
          </p:cNvSpPr>
          <p:nvPr/>
        </p:nvSpPr>
        <p:spPr>
          <a:xfrm>
            <a:off x="0" y="301996"/>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Design-Class Diagram </a:t>
            </a:r>
            <a:endParaRPr lang="en-IN" dirty="0"/>
          </a:p>
        </p:txBody>
      </p:sp>
      <p:pic>
        <p:nvPicPr>
          <p:cNvPr id="7" name="Picture 6">
            <a:extLst>
              <a:ext uri="{FF2B5EF4-FFF2-40B4-BE49-F238E27FC236}">
                <a16:creationId xmlns:a16="http://schemas.microsoft.com/office/drawing/2014/main" id="{24D0C63C-D89B-FFA8-08CB-5F83E7AFF0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09404" y="1030884"/>
            <a:ext cx="6069236" cy="5513916"/>
          </a:xfrm>
          <a:prstGeom prst="rect">
            <a:avLst/>
          </a:prstGeom>
        </p:spPr>
      </p:pic>
      <p:sp>
        <p:nvSpPr>
          <p:cNvPr id="10" name="Rectangle 9">
            <a:extLst>
              <a:ext uri="{FF2B5EF4-FFF2-40B4-BE49-F238E27FC236}">
                <a16:creationId xmlns:a16="http://schemas.microsoft.com/office/drawing/2014/main" id="{689766AB-3A85-36B0-95C2-DF3E1143F688}"/>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6279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73025" y="210185"/>
            <a:ext cx="11798935" cy="1395730"/>
          </a:xfrm>
          <a:prstGeom prst="rect">
            <a:avLst/>
          </a:prstGeom>
        </p:spPr>
        <p:txBody>
          <a:bodyPr vert="horz" wrap="square" lIns="0" tIns="12700" rIns="0" bIns="0" rtlCol="0">
            <a:spAutoFit/>
          </a:bodyPr>
          <a:lstStyle/>
          <a:p>
            <a:pPr marL="12700">
              <a:lnSpc>
                <a:spcPct val="100000"/>
              </a:lnSpc>
              <a:spcBef>
                <a:spcPts val="100"/>
              </a:spcBef>
            </a:pPr>
            <a:r>
              <a:rPr lang="en-IN" altLang="en-US" sz="4400">
                <a:solidFill>
                  <a:schemeClr val="bg1"/>
                </a:solidFill>
                <a:latin typeface="Times New Roman" panose="02020603050405020304"/>
                <a:cs typeface="Times New Roman" panose="02020603050405020304"/>
              </a:rPr>
              <a:t>Implementation-System  Architecture</a:t>
            </a:r>
            <a:endParaRPr sz="4400">
              <a:solidFill>
                <a:schemeClr val="bg1"/>
              </a:solidFill>
              <a:latin typeface="Times New Roman" panose="02020603050405020304"/>
              <a:cs typeface="Times New Roman" panose="02020603050405020304"/>
            </a:endParaRPr>
          </a:p>
          <a:p>
            <a:pPr>
              <a:lnSpc>
                <a:spcPct val="100000"/>
              </a:lnSpc>
              <a:spcBef>
                <a:spcPts val="225"/>
              </a:spcBef>
            </a:pPr>
            <a:endParaRPr sz="4400">
              <a:solidFill>
                <a:schemeClr val="bg1"/>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IN" spc="-10" dirty="0"/>
              <a:t>B</a:t>
            </a:r>
            <a:r>
              <a:rPr spc="-10" dirty="0"/>
              <a:t> </a:t>
            </a:r>
            <a:r>
              <a:rPr lang="en-IN" dirty="0"/>
              <a:t>–</a:t>
            </a:r>
            <a:r>
              <a:rPr spc="-5" dirty="0"/>
              <a:t> </a:t>
            </a:r>
            <a:r>
              <a:rPr lang="en-IN" spc="-5" dirty="0"/>
              <a:t>15</a:t>
            </a:r>
          </a:p>
        </p:txBody>
      </p:sp>
      <p:sp>
        <p:nvSpPr>
          <p:cNvPr id="8" name="object 8"/>
          <p:cNvSpPr txBox="1">
            <a:spLocks noGrp="1"/>
          </p:cNvSpPr>
          <p:nvPr>
            <p:ph type="dt" sz="half" idx="6"/>
          </p:nvPr>
        </p:nvSpPr>
        <p:spPr>
          <a:xfrm>
            <a:off x="1538456" y="6629559"/>
            <a:ext cx="3896903"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6934201" y="6629197"/>
            <a:ext cx="41046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a:latin typeface="Times New Roman" panose="02020603050405020304"/>
              <a:cs typeface="Times New Roman" panose="02020603050405020304"/>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18</a:t>
            </a:fld>
            <a:endParaRPr spc="-25" dirty="0"/>
          </a:p>
        </p:txBody>
      </p:sp>
      <p:sp>
        <p:nvSpPr>
          <p:cNvPr id="11" name="Text Box 10"/>
          <p:cNvSpPr txBox="1"/>
          <p:nvPr/>
        </p:nvSpPr>
        <p:spPr>
          <a:xfrm>
            <a:off x="228600" y="1113155"/>
            <a:ext cx="5721350" cy="5153025"/>
          </a:xfrm>
          <a:prstGeom prst="rect">
            <a:avLst/>
          </a:prstGeom>
        </p:spPr>
        <p:txBody>
          <a:bodyPr wrap="square">
            <a:noAutofit/>
          </a:bodyPr>
          <a:lstStyle/>
          <a:p>
            <a:pPr marL="0" indent="0">
              <a:buFont typeface="+mj-lt"/>
              <a:buNone/>
            </a:pPr>
            <a:endParaRPr lang="en-IN" altLang="en-US" sz="2200" b="1" u="none">
              <a:solidFill>
                <a:schemeClr val="tx1"/>
              </a:solidFill>
              <a:latin typeface="Times New Roman" panose="02020603050405020304" charset="0"/>
              <a:cs typeface="Times New Roman" panose="02020603050405020304" charset="0"/>
            </a:endParaRPr>
          </a:p>
          <a:p>
            <a:pPr marL="0" indent="0">
              <a:buFont typeface="+mj-lt"/>
              <a:buNone/>
            </a:pPr>
            <a:endParaRPr lang="en-US" altLang="en-US" sz="2200" u="none">
              <a:solidFill>
                <a:schemeClr val="tx1"/>
              </a:solidFill>
              <a:latin typeface="Times New Roman" panose="02020603050405020304" charset="0"/>
              <a:cs typeface="Times New Roman" panose="02020603050405020304" charset="0"/>
            </a:endParaRPr>
          </a:p>
        </p:txBody>
      </p:sp>
      <p:sp>
        <p:nvSpPr>
          <p:cNvPr id="12" name="object 2">
            <a:extLst>
              <a:ext uri="{FF2B5EF4-FFF2-40B4-BE49-F238E27FC236}">
                <a16:creationId xmlns:a16="http://schemas.microsoft.com/office/drawing/2014/main" id="{556D862C-BC1D-7C2E-717B-ADEFD6BB9069}"/>
              </a:ext>
            </a:extLst>
          </p:cNvPr>
          <p:cNvSpPr txBox="1"/>
          <p:nvPr/>
        </p:nvSpPr>
        <p:spPr>
          <a:xfrm>
            <a:off x="3352800" y="-28323"/>
            <a:ext cx="42672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Intrusion Detection System Using Federated learning </a:t>
            </a:r>
            <a:endParaRPr sz="1500" dirty="0">
              <a:latin typeface="Times New Roman"/>
              <a:cs typeface="Times New Roman"/>
            </a:endParaRPr>
          </a:p>
        </p:txBody>
      </p:sp>
      <p:pic>
        <p:nvPicPr>
          <p:cNvPr id="18" name="Picture 17">
            <a:extLst>
              <a:ext uri="{FF2B5EF4-FFF2-40B4-BE49-F238E27FC236}">
                <a16:creationId xmlns:a16="http://schemas.microsoft.com/office/drawing/2014/main" id="{0F0A0D3F-8E30-2172-8E06-FAB82D5CD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1" y="915424"/>
            <a:ext cx="12192000" cy="2571001"/>
          </a:xfrm>
          <a:prstGeom prst="rect">
            <a:avLst/>
          </a:prstGeom>
        </p:spPr>
      </p:pic>
      <p:sp>
        <p:nvSpPr>
          <p:cNvPr id="21" name="Text Box 12">
            <a:extLst>
              <a:ext uri="{FF2B5EF4-FFF2-40B4-BE49-F238E27FC236}">
                <a16:creationId xmlns:a16="http://schemas.microsoft.com/office/drawing/2014/main" id="{0AB57488-A028-6848-3528-E6FA04350E62}"/>
              </a:ext>
            </a:extLst>
          </p:cNvPr>
          <p:cNvSpPr txBox="1"/>
          <p:nvPr/>
        </p:nvSpPr>
        <p:spPr>
          <a:xfrm>
            <a:off x="0" y="3486425"/>
            <a:ext cx="12206031" cy="3138655"/>
          </a:xfrm>
          <a:prstGeom prst="rect">
            <a:avLst/>
          </a:prstGeom>
          <a:noFill/>
        </p:spPr>
        <p:txBody>
          <a:bodyPr wrap="square" rtlCol="0">
            <a:noAutofit/>
          </a:bodyPr>
          <a:lstStyle/>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follows a </a:t>
            </a:r>
            <a:r>
              <a:rPr lang="en-US" sz="2200" b="1" dirty="0">
                <a:latin typeface="Times New Roman" panose="02020603050405020304" pitchFamily="18" charset="0"/>
                <a:cs typeface="Times New Roman" panose="02020603050405020304" pitchFamily="18" charset="0"/>
              </a:rPr>
              <a:t>modular, API-driven architecture </a:t>
            </a:r>
            <a:r>
              <a:rPr lang="en-US" sz="2200" dirty="0">
                <a:latin typeface="Times New Roman" panose="02020603050405020304" pitchFamily="18" charset="0"/>
                <a:cs typeface="Times New Roman" panose="02020603050405020304" pitchFamily="18" charset="0"/>
              </a:rPr>
              <a:t>centered around a </a:t>
            </a:r>
            <a:r>
              <a:rPr lang="en-US" sz="2200" dirty="0" err="1">
                <a:latin typeface="Times New Roman" panose="02020603050405020304" pitchFamily="18" charset="0"/>
                <a:cs typeface="Times New Roman" panose="02020603050405020304" pitchFamily="18" charset="0"/>
              </a:rPr>
              <a:t>FastAPI</a:t>
            </a:r>
            <a:r>
              <a:rPr lang="en-US" sz="2200" dirty="0">
                <a:latin typeface="Times New Roman" panose="02020603050405020304" pitchFamily="18" charset="0"/>
                <a:cs typeface="Times New Roman" panose="02020603050405020304" pitchFamily="18" charset="0"/>
              </a:rPr>
              <a:t> backend coordinating all components.</a:t>
            </a:r>
            <a:endParaRPr lang="en-US" alt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Frontend (React/Electron)</a:t>
            </a:r>
            <a:r>
              <a:rPr lang="en-US" sz="2200" dirty="0">
                <a:latin typeface="Times New Roman" panose="02020603050405020304" pitchFamily="18" charset="0"/>
                <a:cs typeface="Times New Roman" panose="02020603050405020304" pitchFamily="18" charset="0"/>
              </a:rPr>
              <a:t> handles user interaction and communicates with the backend via REST APIs and </a:t>
            </a:r>
            <a:r>
              <a:rPr lang="en-US" sz="2200" dirty="0" err="1">
                <a:latin typeface="Times New Roman" panose="02020603050405020304" pitchFamily="18" charset="0"/>
                <a:cs typeface="Times New Roman" panose="02020603050405020304" pitchFamily="18" charset="0"/>
              </a:rPr>
              <a:t>WebSockets</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Backend API</a:t>
            </a:r>
            <a:r>
              <a:rPr lang="en-US" sz="2200" dirty="0">
                <a:latin typeface="Times New Roman" panose="02020603050405020304" pitchFamily="18" charset="0"/>
                <a:cs typeface="Times New Roman" panose="02020603050405020304" pitchFamily="18" charset="0"/>
              </a:rPr>
              <a:t> acts as the central controller, managing FL training, IDS operations, authentication, metrics, and database interactions</a:t>
            </a:r>
            <a:endParaRPr lang="en-US" alt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Federated Learning Engine</a:t>
            </a:r>
            <a:r>
              <a:rPr lang="en-US" sz="2200" dirty="0">
                <a:latin typeface="Times New Roman" panose="02020603050405020304" pitchFamily="18" charset="0"/>
                <a:cs typeface="Times New Roman" panose="02020603050405020304" pitchFamily="18" charset="0"/>
              </a:rPr>
              <a:t> performs distributed model training and sends real-time updates without sharing raw data.</a:t>
            </a:r>
          </a:p>
          <a:p>
            <a:pPr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Database, Monitoring, and Authentication modules</a:t>
            </a:r>
            <a:r>
              <a:rPr lang="en-US" sz="2200" dirty="0">
                <a:latin typeface="Times New Roman" panose="02020603050405020304" pitchFamily="18" charset="0"/>
                <a:cs typeface="Times New Roman" panose="02020603050405020304" pitchFamily="18" charset="0"/>
              </a:rPr>
              <a:t> ensure secure data storage, system observability, and role-based access control.</a:t>
            </a:r>
          </a:p>
          <a:p>
            <a:r>
              <a:rPr lang="en-US" altLang="en-US" dirty="0"/>
              <a:t>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38170" y="-18415"/>
            <a:ext cx="6247765" cy="487045"/>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Intrusion Detection System </a:t>
            </a:r>
            <a:r>
              <a:rPr lang="en-IN" sz="1500" b="1" i="1" dirty="0">
                <a:solidFill>
                  <a:srgbClr val="FFFFFF"/>
                </a:solidFill>
                <a:latin typeface="Times New Roman"/>
                <a:cs typeface="Times New Roman"/>
              </a:rPr>
              <a:t>Using Federated learning </a:t>
            </a:r>
            <a:endParaRPr lang="en-US" sz="1500" dirty="0">
              <a:latin typeface="Times New Roman" panose="02020603050405020304"/>
              <a:cs typeface="Times New Roman" panose="02020603050405020304"/>
            </a:endParaRPr>
          </a:p>
          <a:p>
            <a:pPr marL="12700">
              <a:lnSpc>
                <a:spcPct val="100000"/>
              </a:lnSpc>
              <a:spcBef>
                <a:spcPts val="100"/>
              </a:spcBef>
            </a:pPr>
            <a:endParaRPr sz="1500" dirty="0">
              <a:latin typeface="Times New Roman" panose="02020603050405020304"/>
              <a:cs typeface="Times New Roman" panose="02020603050405020304"/>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p:cNvSpPr txBox="1"/>
          <p:nvPr/>
        </p:nvSpPr>
        <p:spPr>
          <a:xfrm>
            <a:off x="73025" y="210185"/>
            <a:ext cx="11798935" cy="1395730"/>
          </a:xfrm>
          <a:prstGeom prst="rect">
            <a:avLst/>
          </a:prstGeom>
        </p:spPr>
        <p:txBody>
          <a:bodyPr vert="horz" wrap="square" lIns="0" tIns="12700" rIns="0" bIns="0" rtlCol="0">
            <a:spAutoFit/>
          </a:bodyPr>
          <a:lstStyle/>
          <a:p>
            <a:pPr marL="12700">
              <a:lnSpc>
                <a:spcPct val="100000"/>
              </a:lnSpc>
              <a:spcBef>
                <a:spcPts val="100"/>
              </a:spcBef>
            </a:pPr>
            <a:r>
              <a:rPr lang="en-IN" altLang="en-US" sz="4400" dirty="0">
                <a:solidFill>
                  <a:schemeClr val="bg1"/>
                </a:solidFill>
                <a:latin typeface="Times New Roman" panose="02020603050405020304"/>
                <a:cs typeface="Times New Roman" panose="02020603050405020304"/>
              </a:rPr>
              <a:t>Implementation</a:t>
            </a:r>
            <a:endParaRPr sz="4400" dirty="0">
              <a:solidFill>
                <a:schemeClr val="bg1"/>
              </a:solidFill>
              <a:latin typeface="Times New Roman" panose="02020603050405020304"/>
              <a:cs typeface="Times New Roman" panose="02020603050405020304"/>
            </a:endParaRPr>
          </a:p>
          <a:p>
            <a:pPr>
              <a:lnSpc>
                <a:spcPct val="100000"/>
              </a:lnSpc>
              <a:spcBef>
                <a:spcPts val="225"/>
              </a:spcBef>
            </a:pPr>
            <a:endParaRPr sz="4400" dirty="0">
              <a:solidFill>
                <a:schemeClr val="bg1"/>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149031" y="6629427"/>
            <a:ext cx="635000" cy="461665"/>
          </a:xfrm>
          <a:prstGeom prst="rect">
            <a:avLst/>
          </a:prstGeom>
        </p:spPr>
        <p:txBody>
          <a:bodyPr vert="horz" wrap="square" lIns="0" tIns="0" rIns="0" bIns="0" rtlCol="0">
            <a:spAutoFit/>
          </a:bodyPr>
          <a:lstStyle/>
          <a:p>
            <a:pPr marL="12700">
              <a:lnSpc>
                <a:spcPts val="1845"/>
              </a:lnSpc>
            </a:pPr>
            <a:r>
              <a:rPr lang="en-IN" spc="-10" dirty="0"/>
              <a:t>B</a:t>
            </a:r>
            <a:r>
              <a:rPr spc="-10" dirty="0"/>
              <a:t> </a:t>
            </a:r>
            <a:r>
              <a:rPr lang="en-IN" dirty="0"/>
              <a:t>-</a:t>
            </a:r>
            <a:r>
              <a:rPr spc="-5" dirty="0"/>
              <a:t> </a:t>
            </a:r>
            <a:r>
              <a:rPr lang="en-IN" spc="-5" dirty="0"/>
              <a:t>15</a:t>
            </a:r>
          </a:p>
          <a:p>
            <a:pPr marL="12700">
              <a:lnSpc>
                <a:spcPts val="1845"/>
              </a:lnSpc>
            </a:pPr>
            <a:endParaRPr lang="en-IN" spc="-5" dirty="0"/>
          </a:p>
        </p:txBody>
      </p:sp>
      <p:sp>
        <p:nvSpPr>
          <p:cNvPr id="8" name="object 8"/>
          <p:cNvSpPr txBox="1">
            <a:spLocks noGrp="1"/>
          </p:cNvSpPr>
          <p:nvPr>
            <p:ph type="dt" sz="half" idx="6"/>
          </p:nvPr>
        </p:nvSpPr>
        <p:spPr>
          <a:xfrm>
            <a:off x="1600200" y="6629559"/>
            <a:ext cx="38351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7010401" y="6629197"/>
            <a:ext cx="40284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19</a:t>
            </a:fld>
            <a:endParaRPr spc="-25" dirty="0"/>
          </a:p>
        </p:txBody>
      </p:sp>
      <p:sp>
        <p:nvSpPr>
          <p:cNvPr id="11" name="Text Box 10"/>
          <p:cNvSpPr txBox="1"/>
          <p:nvPr/>
        </p:nvSpPr>
        <p:spPr>
          <a:xfrm>
            <a:off x="228600" y="1113155"/>
            <a:ext cx="5721350" cy="5153025"/>
          </a:xfrm>
          <a:prstGeom prst="rect">
            <a:avLst/>
          </a:prstGeom>
        </p:spPr>
        <p:txBody>
          <a:bodyPr wrap="square">
            <a:noAutofit/>
          </a:bodyPr>
          <a:lstStyle/>
          <a:p>
            <a:pPr marL="0" indent="0">
              <a:buFont typeface="+mj-lt"/>
              <a:buNone/>
            </a:pPr>
            <a:endParaRPr lang="en-IN" altLang="en-US" sz="2200" b="1" u="none">
              <a:solidFill>
                <a:schemeClr val="tx1"/>
              </a:solidFill>
              <a:latin typeface="Times New Roman" panose="02020603050405020304" charset="0"/>
              <a:cs typeface="Times New Roman" panose="02020603050405020304" charset="0"/>
            </a:endParaRPr>
          </a:p>
          <a:p>
            <a:pPr marL="0" indent="0">
              <a:buFont typeface="+mj-lt"/>
              <a:buNone/>
            </a:pPr>
            <a:endParaRPr lang="en-US" altLang="en-US" sz="2200" u="none">
              <a:solidFill>
                <a:schemeClr val="tx1"/>
              </a:solidFill>
              <a:latin typeface="Times New Roman" panose="02020603050405020304" charset="0"/>
              <a:cs typeface="Times New Roman" panose="02020603050405020304" charset="0"/>
            </a:endParaRPr>
          </a:p>
        </p:txBody>
      </p:sp>
      <p:sp>
        <p:nvSpPr>
          <p:cNvPr id="13" name="Text Box 12"/>
          <p:cNvSpPr txBox="1"/>
          <p:nvPr/>
        </p:nvSpPr>
        <p:spPr>
          <a:xfrm>
            <a:off x="5442733" y="964130"/>
            <a:ext cx="6756641" cy="5703182"/>
          </a:xfrm>
          <a:prstGeom prst="rect">
            <a:avLst/>
          </a:prstGeom>
          <a:noFill/>
        </p:spPr>
        <p:txBody>
          <a:bodyPr wrap="square" rtlCol="0">
            <a:noAutofit/>
          </a:bodyPr>
          <a:lstStyle/>
          <a:p>
            <a:pPr marL="285750" indent="-285750" algn="l" rtl="0">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Federated Learning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Intrusion Detection System (IDS)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and privacy-preserving training.</a:t>
            </a:r>
          </a:p>
          <a:p>
            <a:pPr marL="285750" indent="-285750" algn="l" rtl="0">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start training, monitor progress, and view real-time metrics through the system.</a:t>
            </a:r>
          </a:p>
          <a:p>
            <a:pPr marL="285750" indent="-285750" algn="l" rtl="0">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Federated Learning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Engine performs distributed model training without sharing raw data.</a:t>
            </a:r>
          </a:p>
          <a:p>
            <a:pPr marL="285750" indent="-285750" algn="l" rtl="0">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continuously monitors system activities and generates security alerts on anomalies.</a:t>
            </a:r>
          </a:p>
          <a:p>
            <a:pPr marL="285750" indent="-285750" algn="l" rtl="0">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manages users, configures system parameters, and monitors logs and alerts.</a:t>
            </a:r>
          </a:p>
          <a:p>
            <a:pPr marL="285750" indent="-285750" algn="l" rtl="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Real-time alerts, logs, and reports help ensure continuous system monitoring and rapid security response.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dirty="0"/>
          </a:p>
        </p:txBody>
      </p:sp>
      <p:pic>
        <p:nvPicPr>
          <p:cNvPr id="15" name="Picture 14">
            <a:extLst>
              <a:ext uri="{FF2B5EF4-FFF2-40B4-BE49-F238E27FC236}">
                <a16:creationId xmlns:a16="http://schemas.microsoft.com/office/drawing/2014/main" id="{BF394985-864F-DD5A-A4BD-0E0C1976BE67}"/>
              </a:ext>
            </a:extLst>
          </p:cNvPr>
          <p:cNvPicPr>
            <a:picLocks noChangeAspect="1"/>
          </p:cNvPicPr>
          <p:nvPr/>
        </p:nvPicPr>
        <p:blipFill>
          <a:blip r:embed="rId3"/>
          <a:stretch>
            <a:fillRect/>
          </a:stretch>
        </p:blipFill>
        <p:spPr>
          <a:xfrm>
            <a:off x="-2458" y="964130"/>
            <a:ext cx="5437817" cy="2769670"/>
          </a:xfrm>
          <a:prstGeom prst="rect">
            <a:avLst/>
          </a:prstGeom>
        </p:spPr>
      </p:pic>
      <p:pic>
        <p:nvPicPr>
          <p:cNvPr id="17" name="Picture 16">
            <a:extLst>
              <a:ext uri="{FF2B5EF4-FFF2-40B4-BE49-F238E27FC236}">
                <a16:creationId xmlns:a16="http://schemas.microsoft.com/office/drawing/2014/main" id="{6ECCF59F-C98B-CDC7-1A64-A4E2E7FC5267}"/>
              </a:ext>
            </a:extLst>
          </p:cNvPr>
          <p:cNvPicPr>
            <a:picLocks noChangeAspect="1"/>
          </p:cNvPicPr>
          <p:nvPr/>
        </p:nvPicPr>
        <p:blipFill>
          <a:blip r:embed="rId4"/>
          <a:stretch>
            <a:fillRect/>
          </a:stretch>
        </p:blipFill>
        <p:spPr>
          <a:xfrm>
            <a:off x="-2458" y="3729878"/>
            <a:ext cx="5437817" cy="2903471"/>
          </a:xfrm>
          <a:prstGeom prst="rect">
            <a:avLst/>
          </a:prstGeom>
        </p:spPr>
      </p:pic>
      <p:sp>
        <p:nvSpPr>
          <p:cNvPr id="41" name="Rectangle 24">
            <a:extLst>
              <a:ext uri="{FF2B5EF4-FFF2-40B4-BE49-F238E27FC236}">
                <a16:creationId xmlns:a16="http://schemas.microsoft.com/office/drawing/2014/main" id="{1E259D5E-46C9-573A-FFAC-6DA3C66E97F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Rectangle 25">
            <a:extLst>
              <a:ext uri="{FF2B5EF4-FFF2-40B4-BE49-F238E27FC236}">
                <a16:creationId xmlns:a16="http://schemas.microsoft.com/office/drawing/2014/main" id="{C8B3B109-9FCA-5FDF-E59F-AA9E3B0FFCE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38170" y="-18415"/>
            <a:ext cx="6247765" cy="487045"/>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Intrusion Detection System </a:t>
            </a:r>
            <a:r>
              <a:rPr lang="en-US" sz="1500" b="1" i="1" dirty="0" err="1">
                <a:solidFill>
                  <a:srgbClr val="FFFFFF"/>
                </a:solidFill>
                <a:latin typeface="Times New Roman"/>
                <a:cs typeface="Times New Roman"/>
              </a:rPr>
              <a:t>UsingFederated</a:t>
            </a:r>
            <a:r>
              <a:rPr lang="en-US" sz="1500" b="1" i="1" dirty="0">
                <a:solidFill>
                  <a:srgbClr val="FFFFFF"/>
                </a:solidFill>
                <a:latin typeface="Times New Roman"/>
                <a:cs typeface="Times New Roman"/>
              </a:rPr>
              <a:t> Learning </a:t>
            </a:r>
            <a:endParaRPr lang="en-US" sz="1500" dirty="0">
              <a:latin typeface="Times New Roman" panose="02020603050405020304"/>
              <a:cs typeface="Times New Roman" panose="02020603050405020304"/>
            </a:endParaRPr>
          </a:p>
          <a:p>
            <a:pPr marL="12700">
              <a:lnSpc>
                <a:spcPct val="100000"/>
              </a:lnSpc>
              <a:spcBef>
                <a:spcPts val="100"/>
              </a:spcBef>
            </a:pPr>
            <a:endParaRPr sz="1500" dirty="0">
              <a:latin typeface="Times New Roman" panose="02020603050405020304"/>
              <a:cs typeface="Times New Roman" panose="02020603050405020304"/>
            </a:endParaRPr>
          </a:p>
        </p:txBody>
      </p:sp>
      <p:grpSp>
        <p:nvGrpSpPr>
          <p:cNvPr id="3" name="object 3"/>
          <p:cNvGrpSpPr/>
          <p:nvPr/>
        </p:nvGrpSpPr>
        <p:grpSpPr>
          <a:xfrm>
            <a:off x="0" y="216720"/>
            <a:ext cx="12192000" cy="803160"/>
            <a:chOff x="0" y="216720"/>
            <a:chExt cx="12192000" cy="803160"/>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p:cNvSpPr txBox="1"/>
          <p:nvPr/>
        </p:nvSpPr>
        <p:spPr>
          <a:xfrm>
            <a:off x="73025" y="210185"/>
            <a:ext cx="11798935" cy="2082621"/>
          </a:xfrm>
          <a:prstGeom prst="rect">
            <a:avLst/>
          </a:prstGeom>
        </p:spPr>
        <p:txBody>
          <a:bodyPr vert="horz" wrap="square" lIns="0" tIns="12700" rIns="0" bIns="0" rtlCol="0">
            <a:spAutoFit/>
          </a:bodyPr>
          <a:lstStyle/>
          <a:p>
            <a:pPr marL="12700">
              <a:spcBef>
                <a:spcPts val="100"/>
              </a:spcBef>
            </a:pPr>
            <a:r>
              <a:rPr lang="en-IN" altLang="en-US" sz="4400" dirty="0">
                <a:solidFill>
                  <a:schemeClr val="bg1"/>
                </a:solidFill>
                <a:latin typeface="Times New Roman" panose="02020603050405020304"/>
                <a:cs typeface="Times New Roman" panose="02020603050405020304"/>
              </a:rPr>
              <a:t>Implementation - Use Case Diagram</a:t>
            </a:r>
            <a:endParaRPr lang="en-IN" sz="4400" dirty="0">
              <a:solidFill>
                <a:schemeClr val="bg1"/>
              </a:solidFill>
              <a:latin typeface="Times New Roman" panose="02020603050405020304"/>
              <a:cs typeface="Times New Roman" panose="02020603050405020304"/>
            </a:endParaRPr>
          </a:p>
          <a:p>
            <a:pPr marL="12700">
              <a:lnSpc>
                <a:spcPct val="100000"/>
              </a:lnSpc>
              <a:spcBef>
                <a:spcPts val="100"/>
              </a:spcBef>
            </a:pPr>
            <a:r>
              <a:rPr lang="en-IN" altLang="en-US" sz="4400" dirty="0">
                <a:solidFill>
                  <a:schemeClr val="bg1"/>
                </a:solidFill>
                <a:latin typeface="Times New Roman" panose="02020603050405020304"/>
                <a:cs typeface="Times New Roman" panose="02020603050405020304"/>
              </a:rPr>
              <a:t> </a:t>
            </a:r>
            <a:endParaRPr sz="4400" dirty="0">
              <a:solidFill>
                <a:schemeClr val="bg1"/>
              </a:solidFill>
              <a:latin typeface="Times New Roman" panose="02020603050405020304"/>
              <a:cs typeface="Times New Roman" panose="02020603050405020304"/>
            </a:endParaRPr>
          </a:p>
          <a:p>
            <a:pPr>
              <a:lnSpc>
                <a:spcPct val="100000"/>
              </a:lnSpc>
              <a:spcBef>
                <a:spcPts val="225"/>
              </a:spcBef>
            </a:pPr>
            <a:endParaRPr sz="4400" dirty="0">
              <a:solidFill>
                <a:schemeClr val="bg1"/>
              </a:solidFill>
              <a:latin typeface="Times New Roman" panose="02020603050405020304"/>
              <a:cs typeface="Times New Roman" panose="02020603050405020304"/>
            </a:endParaRPr>
          </a:p>
        </p:txBody>
      </p:sp>
      <p:sp>
        <p:nvSpPr>
          <p:cNvPr id="7" name="object 7"/>
          <p:cNvSpPr txBox="1">
            <a:spLocks noGrp="1"/>
          </p:cNvSpPr>
          <p:nvPr>
            <p:ph type="ftr" sz="quarter" idx="5"/>
          </p:nvPr>
        </p:nvSpPr>
        <p:spPr>
          <a:xfrm>
            <a:off x="149031" y="6629427"/>
            <a:ext cx="635000" cy="236220"/>
          </a:xfrm>
          <a:prstGeom prst="rect">
            <a:avLst/>
          </a:prstGeom>
        </p:spPr>
        <p:txBody>
          <a:bodyPr vert="horz" wrap="square" lIns="0" tIns="0" rIns="0" bIns="0" rtlCol="0">
            <a:spAutoFit/>
          </a:bodyPr>
          <a:lstStyle/>
          <a:p>
            <a:pPr marL="12700">
              <a:lnSpc>
                <a:spcPts val="1845"/>
              </a:lnSpc>
            </a:pPr>
            <a:r>
              <a:rPr lang="en-IN" spc="-10" dirty="0"/>
              <a:t>B</a:t>
            </a:r>
            <a:r>
              <a:rPr spc="-10" dirty="0"/>
              <a:t> </a:t>
            </a:r>
            <a:r>
              <a:rPr dirty="0"/>
              <a:t>-</a:t>
            </a:r>
            <a:r>
              <a:rPr spc="-5" dirty="0"/>
              <a:t> </a:t>
            </a:r>
            <a:r>
              <a:rPr lang="en-IN" spc="-5" dirty="0"/>
              <a:t>15</a:t>
            </a:r>
          </a:p>
        </p:txBody>
      </p:sp>
      <p:sp>
        <p:nvSpPr>
          <p:cNvPr id="8" name="object 8"/>
          <p:cNvSpPr txBox="1">
            <a:spLocks noGrp="1"/>
          </p:cNvSpPr>
          <p:nvPr>
            <p:ph type="dt" sz="half" idx="6"/>
          </p:nvPr>
        </p:nvSpPr>
        <p:spPr>
          <a:xfrm>
            <a:off x="1538456" y="6629559"/>
            <a:ext cx="3896903"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6934201" y="6629197"/>
            <a:ext cx="41046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20</a:t>
            </a:fld>
            <a:endParaRPr spc="-25" dirty="0"/>
          </a:p>
        </p:txBody>
      </p:sp>
      <p:sp>
        <p:nvSpPr>
          <p:cNvPr id="11" name="Text Box 10"/>
          <p:cNvSpPr txBox="1"/>
          <p:nvPr/>
        </p:nvSpPr>
        <p:spPr>
          <a:xfrm>
            <a:off x="228600" y="1113155"/>
            <a:ext cx="5721350" cy="5153025"/>
          </a:xfrm>
          <a:prstGeom prst="rect">
            <a:avLst/>
          </a:prstGeom>
        </p:spPr>
        <p:txBody>
          <a:bodyPr wrap="square">
            <a:noAutofit/>
          </a:bodyPr>
          <a:lstStyle/>
          <a:p>
            <a:pPr marL="0" indent="0">
              <a:buFont typeface="+mj-lt"/>
              <a:buNone/>
            </a:pPr>
            <a:endParaRPr lang="en-IN" altLang="en-US" sz="2200" b="1" u="none">
              <a:solidFill>
                <a:schemeClr val="tx1"/>
              </a:solidFill>
              <a:latin typeface="Times New Roman" panose="02020603050405020304" charset="0"/>
              <a:cs typeface="Times New Roman" panose="02020603050405020304" charset="0"/>
            </a:endParaRPr>
          </a:p>
          <a:p>
            <a:pPr marL="0" indent="0">
              <a:buFont typeface="+mj-lt"/>
              <a:buNone/>
            </a:pPr>
            <a:endParaRPr lang="en-US" altLang="en-US" sz="2200" u="none">
              <a:solidFill>
                <a:schemeClr val="tx1"/>
              </a:solidFill>
              <a:latin typeface="Times New Roman" panose="02020603050405020304" charset="0"/>
              <a:cs typeface="Times New Roman" panose="02020603050405020304" charset="0"/>
            </a:endParaRPr>
          </a:p>
        </p:txBody>
      </p:sp>
      <p:sp>
        <p:nvSpPr>
          <p:cNvPr id="13" name="Text Box 12"/>
          <p:cNvSpPr txBox="1"/>
          <p:nvPr/>
        </p:nvSpPr>
        <p:spPr>
          <a:xfrm>
            <a:off x="5300345" y="947931"/>
            <a:ext cx="6856730" cy="5743700"/>
          </a:xfrm>
          <a:prstGeom prst="rect">
            <a:avLst/>
          </a:prstGeom>
          <a:noFill/>
        </p:spPr>
        <p:txBody>
          <a:bodyPr wrap="square" rtlCol="0">
            <a:no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logs into the system, and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&amp; Authorization Service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validates access permissions.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initiates federated learning training through the system interface.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Federated Learning Engine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initializes and performs distributed model training across multiple nodes.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Monitoring Service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tracks system performance and training metrics in real time.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Intrusion Detection System (IDS)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continuously monitors system activities to detect anomalies or attacks.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a threat is detected,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generates security alerts and logs events in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monitors system health, reviews IDS alerts, and accesses logs and reports for security analysis.</a:t>
            </a:r>
          </a:p>
          <a:p>
            <a:pPr marL="285750" indent="-285750">
              <a:buFont typeface="Arial" panose="020B0604020202020204" pitchFamily="34" charset="0"/>
              <a:buChar char="•"/>
            </a:pPr>
            <a:endParaRPr lang="en-US" altLang="en-US" dirty="0"/>
          </a:p>
        </p:txBody>
      </p:sp>
      <p:pic>
        <p:nvPicPr>
          <p:cNvPr id="12" name="Picture 11">
            <a:extLst>
              <a:ext uri="{FF2B5EF4-FFF2-40B4-BE49-F238E27FC236}">
                <a16:creationId xmlns:a16="http://schemas.microsoft.com/office/drawing/2014/main" id="{EFC813E9-1D95-0BB8-F2B4-10D6722C3FF6}"/>
              </a:ext>
            </a:extLst>
          </p:cNvPr>
          <p:cNvPicPr>
            <a:picLocks noChangeAspect="1"/>
          </p:cNvPicPr>
          <p:nvPr/>
        </p:nvPicPr>
        <p:blipFill>
          <a:blip r:embed="rId3"/>
          <a:stretch>
            <a:fillRect/>
          </a:stretch>
        </p:blipFill>
        <p:spPr>
          <a:xfrm>
            <a:off x="-1" y="964129"/>
            <a:ext cx="5300345" cy="5683685"/>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15565" y="-18415"/>
            <a:ext cx="6831330" cy="487045"/>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Intrusion Detection System </a:t>
            </a:r>
            <a:r>
              <a:rPr lang="en-US" sz="1500" b="1" i="1" dirty="0" err="1">
                <a:solidFill>
                  <a:srgbClr val="FFFFFF"/>
                </a:solidFill>
                <a:latin typeface="Times New Roman"/>
                <a:cs typeface="Times New Roman"/>
              </a:rPr>
              <a:t>UsingFederated</a:t>
            </a:r>
            <a:r>
              <a:rPr lang="en-US" sz="1500" b="1" i="1" dirty="0">
                <a:solidFill>
                  <a:srgbClr val="FFFFFF"/>
                </a:solidFill>
                <a:latin typeface="Times New Roman"/>
                <a:cs typeface="Times New Roman"/>
              </a:rPr>
              <a:t> Learning </a:t>
            </a:r>
            <a:endParaRPr lang="en-US" sz="1500" dirty="0">
              <a:latin typeface="Times New Roman" panose="02020603050405020304"/>
              <a:cs typeface="Times New Roman" panose="02020603050405020304"/>
            </a:endParaRPr>
          </a:p>
          <a:p>
            <a:pPr marL="12700">
              <a:lnSpc>
                <a:spcPct val="100000"/>
              </a:lnSpc>
              <a:spcBef>
                <a:spcPts val="100"/>
              </a:spcBef>
            </a:pPr>
            <a:endParaRPr sz="1500" dirty="0">
              <a:latin typeface="Times New Roman" panose="02020603050405020304"/>
              <a:cs typeface="Times New Roman" panose="02020603050405020304"/>
            </a:endParaRPr>
          </a:p>
        </p:txBody>
      </p:sp>
      <p:sp>
        <p:nvSpPr>
          <p:cNvPr id="3" name="object 3"/>
          <p:cNvSpPr txBox="1"/>
          <p:nvPr/>
        </p:nvSpPr>
        <p:spPr>
          <a:xfrm>
            <a:off x="152400" y="948055"/>
            <a:ext cx="11164570" cy="5079365"/>
          </a:xfrm>
          <a:prstGeom prst="rect">
            <a:avLst/>
          </a:prstGeom>
        </p:spPr>
        <p:txBody>
          <a:bodyPr vert="horz" wrap="square" lIns="0" tIns="60960" rIns="0" bIns="0" rtlCol="0">
            <a:noAutofit/>
          </a:bodyPr>
          <a:lstStyle/>
          <a:p>
            <a:pPr marL="12700" marR="5080" indent="0" algn="just">
              <a:lnSpc>
                <a:spcPts val="3020"/>
              </a:lnSpc>
              <a:spcBef>
                <a:spcPts val="480"/>
              </a:spcBef>
              <a:buFont typeface="Lucida Sans Unicode" panose="020B0602030504020204"/>
              <a:buNone/>
              <a:tabLst>
                <a:tab pos="504825" algn="l"/>
              </a:tabLst>
            </a:pPr>
            <a:endParaRPr lang="en-US" altLang="en-US" sz="2200">
              <a:latin typeface="Times New Roman" panose="02020603050405020304" charset="0"/>
              <a:cs typeface="Times New Roman" panose="02020603050405020304" charset="0"/>
            </a:endParaRPr>
          </a:p>
        </p:txBody>
      </p:sp>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8961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Implementation</a:t>
            </a:r>
          </a:p>
        </p:txBody>
      </p:sp>
      <p:sp>
        <p:nvSpPr>
          <p:cNvPr id="8" name="object 8"/>
          <p:cNvSpPr txBox="1">
            <a:spLocks noGrp="1"/>
          </p:cNvSpPr>
          <p:nvPr>
            <p:ph type="ftr" sz="quarter" idx="5"/>
          </p:nvPr>
        </p:nvSpPr>
        <p:spPr>
          <a:xfrm>
            <a:off x="127000" y="6629427"/>
            <a:ext cx="635000" cy="236220"/>
          </a:xfrm>
          <a:prstGeom prst="rect">
            <a:avLst/>
          </a:prstGeom>
        </p:spPr>
        <p:txBody>
          <a:bodyPr vert="horz" wrap="square" lIns="0" tIns="0" rIns="0" bIns="0" rtlCol="0">
            <a:spAutoFit/>
          </a:bodyPr>
          <a:lstStyle/>
          <a:p>
            <a:pPr marL="12700">
              <a:lnSpc>
                <a:spcPts val="1845"/>
              </a:lnSpc>
            </a:pPr>
            <a:r>
              <a:rPr lang="en-IN" spc="-10" dirty="0"/>
              <a:t>B</a:t>
            </a:r>
            <a:r>
              <a:rPr spc="-10" dirty="0"/>
              <a:t> </a:t>
            </a:r>
            <a:r>
              <a:rPr dirty="0"/>
              <a:t>-</a:t>
            </a:r>
            <a:r>
              <a:rPr spc="-5" dirty="0"/>
              <a:t> </a:t>
            </a:r>
            <a:r>
              <a:rPr lang="en-IN" spc="-5" dirty="0"/>
              <a:t>15</a:t>
            </a:r>
          </a:p>
        </p:txBody>
      </p:sp>
      <p:sp>
        <p:nvSpPr>
          <p:cNvPr id="9" name="object 9"/>
          <p:cNvSpPr txBox="1">
            <a:spLocks noGrp="1"/>
          </p:cNvSpPr>
          <p:nvPr>
            <p:ph type="dt" sz="half" idx="6"/>
          </p:nvPr>
        </p:nvSpPr>
        <p:spPr>
          <a:xfrm>
            <a:off x="1676400" y="6629559"/>
            <a:ext cx="375895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19887" y="6629197"/>
            <a:ext cx="3918934"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21</a:t>
            </a:fld>
            <a:endParaRPr spc="-25" dirty="0"/>
          </a:p>
        </p:txBody>
      </p:sp>
      <p:pic>
        <p:nvPicPr>
          <p:cNvPr id="17" name="Picture 16">
            <a:extLst>
              <a:ext uri="{FF2B5EF4-FFF2-40B4-BE49-F238E27FC236}">
                <a16:creationId xmlns:a16="http://schemas.microsoft.com/office/drawing/2014/main" id="{3FD0CB04-6704-DE45-B0A3-63D7D49BCBC3}"/>
              </a:ext>
            </a:extLst>
          </p:cNvPr>
          <p:cNvPicPr>
            <a:picLocks noChangeAspect="1"/>
          </p:cNvPicPr>
          <p:nvPr/>
        </p:nvPicPr>
        <p:blipFill>
          <a:blip r:embed="rId3"/>
          <a:stretch>
            <a:fillRect/>
          </a:stretch>
        </p:blipFill>
        <p:spPr>
          <a:xfrm>
            <a:off x="0" y="947930"/>
            <a:ext cx="2676833" cy="5704836"/>
          </a:xfrm>
          <a:prstGeom prst="rect">
            <a:avLst/>
          </a:prstGeom>
        </p:spPr>
      </p:pic>
      <p:pic>
        <p:nvPicPr>
          <p:cNvPr id="21" name="Picture 20">
            <a:extLst>
              <a:ext uri="{FF2B5EF4-FFF2-40B4-BE49-F238E27FC236}">
                <a16:creationId xmlns:a16="http://schemas.microsoft.com/office/drawing/2014/main" id="{6A507058-CF83-4115-078F-7F0C7C7EF310}"/>
              </a:ext>
            </a:extLst>
          </p:cNvPr>
          <p:cNvPicPr>
            <a:picLocks noChangeAspect="1"/>
          </p:cNvPicPr>
          <p:nvPr/>
        </p:nvPicPr>
        <p:blipFill>
          <a:blip r:embed="rId4"/>
          <a:stretch>
            <a:fillRect/>
          </a:stretch>
        </p:blipFill>
        <p:spPr>
          <a:xfrm>
            <a:off x="2662085" y="947930"/>
            <a:ext cx="5567515" cy="5693350"/>
          </a:xfrm>
          <a:prstGeom prst="rect">
            <a:avLst/>
          </a:prstGeom>
        </p:spPr>
      </p:pic>
      <p:pic>
        <p:nvPicPr>
          <p:cNvPr id="25" name="Picture 24">
            <a:extLst>
              <a:ext uri="{FF2B5EF4-FFF2-40B4-BE49-F238E27FC236}">
                <a16:creationId xmlns:a16="http://schemas.microsoft.com/office/drawing/2014/main" id="{F5541A5A-24E6-5575-FD18-31A0890C3363}"/>
              </a:ext>
            </a:extLst>
          </p:cNvPr>
          <p:cNvPicPr>
            <a:picLocks noChangeAspect="1"/>
          </p:cNvPicPr>
          <p:nvPr/>
        </p:nvPicPr>
        <p:blipFill>
          <a:blip r:embed="rId5"/>
          <a:stretch>
            <a:fillRect/>
          </a:stretch>
        </p:blipFill>
        <p:spPr>
          <a:xfrm>
            <a:off x="8215632" y="964130"/>
            <a:ext cx="3976367" cy="567715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a:t>
            </a:r>
            <a:endParaRPr lang="en-IN" dirty="0"/>
          </a:p>
        </p:txBody>
      </p:sp>
      <p:graphicFrame>
        <p:nvGraphicFramePr>
          <p:cNvPr id="8" name="Table 7">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1370312689"/>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22</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9" name="Title 1">
            <a:extLst>
              <a:ext uri="{FF2B5EF4-FFF2-40B4-BE49-F238E27FC236}">
                <a16:creationId xmlns:a16="http://schemas.microsoft.com/office/drawing/2014/main" id="{4CBCAB0C-FEE3-7F83-1249-2418E25CB01C}"/>
              </a:ext>
            </a:extLst>
          </p:cNvPr>
          <p:cNvSpPr>
            <a:spLocks noGrp="1"/>
          </p:cNvSpPr>
          <p:nvPr/>
        </p:nvSpPr>
        <p:spPr>
          <a:xfrm>
            <a:off x="0" y="243952"/>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Outputs</a:t>
            </a:r>
            <a:endParaRPr lang="en-IN" dirty="0"/>
          </a:p>
        </p:txBody>
      </p:sp>
      <p:sp>
        <p:nvSpPr>
          <p:cNvPr id="13" name="Text Placeholder 12">
            <a:extLst>
              <a:ext uri="{FF2B5EF4-FFF2-40B4-BE49-F238E27FC236}">
                <a16:creationId xmlns:a16="http://schemas.microsoft.com/office/drawing/2014/main" id="{37B5B063-1028-DC46-6134-86876BA1C9EC}"/>
              </a:ext>
            </a:extLst>
          </p:cNvPr>
          <p:cNvSpPr>
            <a:spLocks noGrp="1"/>
          </p:cNvSpPr>
          <p:nvPr>
            <p:ph type="body" idx="1"/>
          </p:nvPr>
        </p:nvSpPr>
        <p:spPr/>
        <p:txBody>
          <a:bodyPr/>
          <a:lstStyle/>
          <a:p>
            <a:endParaRPr lang="en-IN" dirty="0"/>
          </a:p>
        </p:txBody>
      </p:sp>
      <p:pic>
        <p:nvPicPr>
          <p:cNvPr id="15" name="Picture 14">
            <a:extLst>
              <a:ext uri="{FF2B5EF4-FFF2-40B4-BE49-F238E27FC236}">
                <a16:creationId xmlns:a16="http://schemas.microsoft.com/office/drawing/2014/main" id="{DBAEFA93-6620-4359-85A4-90BD0CB2868E}"/>
              </a:ext>
            </a:extLst>
          </p:cNvPr>
          <p:cNvPicPr>
            <a:picLocks noChangeAspect="1"/>
          </p:cNvPicPr>
          <p:nvPr/>
        </p:nvPicPr>
        <p:blipFill>
          <a:blip r:embed="rId2"/>
          <a:stretch>
            <a:fillRect/>
          </a:stretch>
        </p:blipFill>
        <p:spPr>
          <a:xfrm>
            <a:off x="236898" y="1074318"/>
            <a:ext cx="11269301" cy="5414231"/>
          </a:xfrm>
          <a:prstGeom prst="rect">
            <a:avLst/>
          </a:prstGeom>
        </p:spPr>
      </p:pic>
      <p:sp>
        <p:nvSpPr>
          <p:cNvPr id="16" name="Rectangle 15">
            <a:extLst>
              <a:ext uri="{FF2B5EF4-FFF2-40B4-BE49-F238E27FC236}">
                <a16:creationId xmlns:a16="http://schemas.microsoft.com/office/drawing/2014/main" id="{D25883C3-2367-4F2B-A9EA-2FDB81160075}"/>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a:t>
            </a:r>
            <a:r>
              <a:rPr lang="en-US" sz="1800" b="1" i="1" dirty="0">
                <a:solidFill>
                  <a:srgbClr val="FFFFFF"/>
                </a:solidFill>
                <a:latin typeface="Times New Roman"/>
                <a:cs typeface="Times New Roman"/>
              </a:rPr>
              <a:t>Using Federated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587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a:t>
            </a:r>
            <a:endParaRPr lang="en-IN" dirty="0"/>
          </a:p>
        </p:txBody>
      </p:sp>
      <p:graphicFrame>
        <p:nvGraphicFramePr>
          <p:cNvPr id="7" name="Table 6">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3119354505"/>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23</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3" name="Text Placeholder 2">
            <a:extLst>
              <a:ext uri="{FF2B5EF4-FFF2-40B4-BE49-F238E27FC236}">
                <a16:creationId xmlns:a16="http://schemas.microsoft.com/office/drawing/2014/main" id="{BE433E85-7121-3C52-FA03-E73FC40F4644}"/>
              </a:ext>
            </a:extLst>
          </p:cNvPr>
          <p:cNvSpPr>
            <a:spLocks noGrp="1"/>
          </p:cNvSpPr>
          <p:nvPr>
            <p:ph type="body" idx="1"/>
          </p:nvPr>
        </p:nvSpPr>
        <p:spPr/>
        <p:txBody>
          <a:bodyPr/>
          <a:lstStyle/>
          <a:p>
            <a:endParaRPr lang="en-IN" dirty="0"/>
          </a:p>
        </p:txBody>
      </p:sp>
      <p:sp>
        <p:nvSpPr>
          <p:cNvPr id="5" name="Title 1">
            <a:extLst>
              <a:ext uri="{FF2B5EF4-FFF2-40B4-BE49-F238E27FC236}">
                <a16:creationId xmlns:a16="http://schemas.microsoft.com/office/drawing/2014/main" id="{B9F37BC4-A82A-8D40-BE36-4D06891AA601}"/>
              </a:ext>
            </a:extLst>
          </p:cNvPr>
          <p:cNvSpPr>
            <a:spLocks noGrp="1"/>
          </p:cNvSpPr>
          <p:nvPr/>
        </p:nvSpPr>
        <p:spPr>
          <a:xfrm>
            <a:off x="-1" y="288000"/>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Outputs</a:t>
            </a:r>
            <a:endParaRPr lang="en-IN" dirty="0"/>
          </a:p>
        </p:txBody>
      </p:sp>
      <p:pic>
        <p:nvPicPr>
          <p:cNvPr id="8" name="Picture 7">
            <a:extLst>
              <a:ext uri="{FF2B5EF4-FFF2-40B4-BE49-F238E27FC236}">
                <a16:creationId xmlns:a16="http://schemas.microsoft.com/office/drawing/2014/main" id="{DD9E3B3B-3428-C00F-2477-34C6AF309998}"/>
              </a:ext>
            </a:extLst>
          </p:cNvPr>
          <p:cNvPicPr>
            <a:picLocks noChangeAspect="1"/>
          </p:cNvPicPr>
          <p:nvPr/>
        </p:nvPicPr>
        <p:blipFill>
          <a:blip r:embed="rId2"/>
          <a:stretch>
            <a:fillRect/>
          </a:stretch>
        </p:blipFill>
        <p:spPr>
          <a:xfrm>
            <a:off x="268000" y="1055941"/>
            <a:ext cx="11085800" cy="5514059"/>
          </a:xfrm>
          <a:prstGeom prst="rect">
            <a:avLst/>
          </a:prstGeom>
        </p:spPr>
      </p:pic>
      <p:sp>
        <p:nvSpPr>
          <p:cNvPr id="9" name="Rectangle 8">
            <a:extLst>
              <a:ext uri="{FF2B5EF4-FFF2-40B4-BE49-F238E27FC236}">
                <a16:creationId xmlns:a16="http://schemas.microsoft.com/office/drawing/2014/main" id="{F500F010-2807-9061-5E53-2B67D1B1F754}"/>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a:t>
            </a:r>
            <a:r>
              <a:rPr lang="en-US" sz="1800" b="1" i="1" dirty="0" err="1">
                <a:solidFill>
                  <a:srgbClr val="FFFFFF"/>
                </a:solidFill>
                <a:latin typeface="Times New Roman"/>
                <a:cs typeface="Times New Roman"/>
              </a:rPr>
              <a:t>UsingFederated</a:t>
            </a:r>
            <a:r>
              <a:rPr lang="en-US" sz="1800" b="1" i="1" dirty="0">
                <a:solidFill>
                  <a:srgbClr val="FFFFFF"/>
                </a:solidFill>
                <a:latin typeface="Times New Roman"/>
                <a:cs typeface="Times New Roman"/>
              </a:rPr>
              <a:t>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8240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CFD70-5850-4A41-3CC5-777D32EDD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034B4-15AB-4FC3-EF8F-3E89508DA817}"/>
              </a:ext>
            </a:extLst>
          </p:cNvPr>
          <p:cNvSpPr>
            <a:spLocks noGrp="1"/>
          </p:cNvSpPr>
          <p:nvPr>
            <p:ph type="title"/>
          </p:nvPr>
        </p:nvSpPr>
        <p:spPr/>
        <p:txBody>
          <a:bodyPr/>
          <a:lstStyle/>
          <a:p>
            <a:r>
              <a:rPr lang="en-US" dirty="0"/>
              <a:t>Research paper</a:t>
            </a:r>
            <a:endParaRPr lang="en-IN" dirty="0"/>
          </a:p>
        </p:txBody>
      </p:sp>
      <p:graphicFrame>
        <p:nvGraphicFramePr>
          <p:cNvPr id="6" name="Table 5">
            <a:extLst>
              <a:ext uri="{FF2B5EF4-FFF2-40B4-BE49-F238E27FC236}">
                <a16:creationId xmlns:a16="http://schemas.microsoft.com/office/drawing/2014/main" id="{0076FDEA-FD64-4CCD-4CE5-7860396DB4DF}"/>
              </a:ext>
            </a:extLst>
          </p:cNvPr>
          <p:cNvGraphicFramePr>
            <a:graphicFrameLocks noGrp="1"/>
          </p:cNvGraphicFramePr>
          <p:nvPr>
            <p:extLst>
              <p:ext uri="{D42A27DB-BD31-4B8C-83A1-F6EECF244321}">
                <p14:modId xmlns:p14="http://schemas.microsoft.com/office/powerpoint/2010/main" val="1559980418"/>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24</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3" name="Title 1">
            <a:extLst>
              <a:ext uri="{FF2B5EF4-FFF2-40B4-BE49-F238E27FC236}">
                <a16:creationId xmlns:a16="http://schemas.microsoft.com/office/drawing/2014/main" id="{8372B0F8-F656-A757-E627-41427D2C35F3}"/>
              </a:ext>
            </a:extLst>
          </p:cNvPr>
          <p:cNvSpPr>
            <a:spLocks noGrp="1"/>
          </p:cNvSpPr>
          <p:nvPr/>
        </p:nvSpPr>
        <p:spPr>
          <a:xfrm>
            <a:off x="0" y="239047"/>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Research paper</a:t>
            </a:r>
            <a:endParaRPr lang="en-IN" dirty="0"/>
          </a:p>
        </p:txBody>
      </p:sp>
      <p:sp>
        <p:nvSpPr>
          <p:cNvPr id="4" name="Rectangle 3">
            <a:extLst>
              <a:ext uri="{FF2B5EF4-FFF2-40B4-BE49-F238E27FC236}">
                <a16:creationId xmlns:a16="http://schemas.microsoft.com/office/drawing/2014/main" id="{11D41424-61C8-29F8-44B9-27D98E2B2A2C}"/>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a:t>
            </a:r>
            <a:r>
              <a:rPr lang="en-US" sz="1800" b="1" i="1" dirty="0" err="1">
                <a:solidFill>
                  <a:srgbClr val="FFFFFF"/>
                </a:solidFill>
                <a:latin typeface="Times New Roman"/>
                <a:cs typeface="Times New Roman"/>
              </a:rPr>
              <a:t>UsingFederated</a:t>
            </a:r>
            <a:r>
              <a:rPr lang="en-US" sz="1800" b="1" i="1" dirty="0">
                <a:solidFill>
                  <a:srgbClr val="FFFFFF"/>
                </a:solidFill>
                <a:latin typeface="Times New Roman"/>
                <a:cs typeface="Times New Roman"/>
              </a:rPr>
              <a:t>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29D7A07-505F-9C3D-5FE2-4C58D6187097}"/>
              </a:ext>
            </a:extLst>
          </p:cNvPr>
          <p:cNvSpPr txBox="1"/>
          <p:nvPr/>
        </p:nvSpPr>
        <p:spPr>
          <a:xfrm>
            <a:off x="457200" y="1206237"/>
            <a:ext cx="11049000" cy="5078313"/>
          </a:xfrm>
          <a:prstGeom prst="rect">
            <a:avLst/>
          </a:prstGeom>
          <a:noFill/>
        </p:spPr>
        <p:txBody>
          <a:bodyPr wrap="square">
            <a:spAutoFit/>
          </a:bodyPr>
          <a:lstStyle/>
          <a:p>
            <a:pPr algn="just">
              <a:buNone/>
            </a:pPr>
            <a:r>
              <a:rPr lang="en-US" b="1" dirty="0">
                <a:latin typeface="Times New Roman" panose="02020603050405020304" pitchFamily="18" charset="0"/>
                <a:cs typeface="Times New Roman" panose="02020603050405020304" pitchFamily="18" charset="0"/>
              </a:rPr>
              <a:t>Cloud Security: Intrusion Detection System using Federated Learning</a:t>
            </a: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Intrusion Detection Systems (IDS) are essential cybersecurity tools used to monitor network traffic and identify malicious activities such as unauthorized access, malware attacks, and data breaches.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organizations such as enterprises, government agencies, and academic institutions depend on IDS to protect sensitive information and maintain digital security.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IDS systems mainly rely on </a:t>
            </a:r>
            <a:r>
              <a:rPr lang="en-US" b="1" dirty="0">
                <a:latin typeface="Times New Roman" panose="02020603050405020304" pitchFamily="18" charset="0"/>
                <a:cs typeface="Times New Roman" panose="02020603050405020304" pitchFamily="18" charset="0"/>
              </a:rPr>
              <a:t>centralized data collection and analysis</a:t>
            </a:r>
            <a:r>
              <a:rPr lang="en-US" dirty="0">
                <a:latin typeface="Times New Roman" panose="02020603050405020304" pitchFamily="18" charset="0"/>
                <a:cs typeface="Times New Roman" panose="02020603050405020304" pitchFamily="18" charset="0"/>
              </a:rPr>
              <a:t>, where network logs from multiple sources are stored in a central server.</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centralized approach creates several issues including:</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Privacy and confidentiality risks</a:t>
            </a:r>
          </a:p>
          <a:p>
            <a:pPr marL="742950" lvl="1"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scalability in large distributed networks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Vulnerability to single points of failure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Sharing raw security logs between organizations is often restricted because the data may contain </a:t>
            </a:r>
            <a:r>
              <a:rPr lang="en-US" b="1" dirty="0">
                <a:latin typeface="Times New Roman" panose="02020603050405020304" pitchFamily="18" charset="0"/>
                <a:cs typeface="Times New Roman" panose="02020603050405020304" pitchFamily="18" charset="0"/>
              </a:rPr>
              <a:t>sensitive operational or personal information</a:t>
            </a:r>
            <a:r>
              <a:rPr lang="en-US"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Although Artificial Intelligence and Machine Learning have improved intrusion detection accuracy, most solutions still require centralized datasets.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Federated Learning (FL)</a:t>
            </a:r>
            <a:r>
              <a:rPr lang="en-US" dirty="0">
                <a:latin typeface="Times New Roman" panose="02020603050405020304" pitchFamily="18" charset="0"/>
                <a:cs typeface="Times New Roman" panose="02020603050405020304" pitchFamily="18" charset="0"/>
              </a:rPr>
              <a:t> is a distributed machine learning technique that allows multiple organizations to collaboratively train a global model </a:t>
            </a:r>
            <a:r>
              <a:rPr lang="en-US" b="1" dirty="0">
                <a:latin typeface="Times New Roman" panose="02020603050405020304" pitchFamily="18" charset="0"/>
                <a:cs typeface="Times New Roman" panose="02020603050405020304" pitchFamily="18" charset="0"/>
              </a:rPr>
              <a:t>without sharing their raw data</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3255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C7F8-E429-2841-CEF0-F0B58B8F6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8B387-F8E6-453F-ACA5-469D981BF105}"/>
              </a:ext>
            </a:extLst>
          </p:cNvPr>
          <p:cNvSpPr>
            <a:spLocks noGrp="1"/>
          </p:cNvSpPr>
          <p:nvPr>
            <p:ph type="title"/>
          </p:nvPr>
        </p:nvSpPr>
        <p:spPr/>
        <p:txBody>
          <a:bodyPr/>
          <a:lstStyle/>
          <a:p>
            <a:r>
              <a:rPr lang="en-US" dirty="0"/>
              <a:t>Research paper</a:t>
            </a:r>
            <a:endParaRPr lang="en-IN" dirty="0"/>
          </a:p>
        </p:txBody>
      </p:sp>
      <p:graphicFrame>
        <p:nvGraphicFramePr>
          <p:cNvPr id="6" name="Table 5">
            <a:extLst>
              <a:ext uri="{FF2B5EF4-FFF2-40B4-BE49-F238E27FC236}">
                <a16:creationId xmlns:a16="http://schemas.microsoft.com/office/drawing/2014/main" id="{C93D9721-47B2-17AE-D73C-0A6B52315A01}"/>
              </a:ext>
            </a:extLst>
          </p:cNvPr>
          <p:cNvGraphicFramePr>
            <a:graphicFrameLocks noGrp="1"/>
          </p:cNvGraphicFramePr>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25</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3" name="Title 1">
            <a:extLst>
              <a:ext uri="{FF2B5EF4-FFF2-40B4-BE49-F238E27FC236}">
                <a16:creationId xmlns:a16="http://schemas.microsoft.com/office/drawing/2014/main" id="{E40941B7-3089-0086-B2A2-D3B2ED145B40}"/>
              </a:ext>
            </a:extLst>
          </p:cNvPr>
          <p:cNvSpPr>
            <a:spLocks noGrp="1"/>
          </p:cNvSpPr>
          <p:nvPr/>
        </p:nvSpPr>
        <p:spPr>
          <a:xfrm>
            <a:off x="0" y="239047"/>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Research paper</a:t>
            </a:r>
            <a:endParaRPr lang="en-IN" dirty="0"/>
          </a:p>
        </p:txBody>
      </p:sp>
      <p:sp>
        <p:nvSpPr>
          <p:cNvPr id="4" name="Rectangle 3">
            <a:extLst>
              <a:ext uri="{FF2B5EF4-FFF2-40B4-BE49-F238E27FC236}">
                <a16:creationId xmlns:a16="http://schemas.microsoft.com/office/drawing/2014/main" id="{F75E50FA-73E0-5A72-72E5-CD810EC183C0}"/>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a:t>
            </a:r>
            <a:r>
              <a:rPr lang="en-US" sz="1800" b="1" i="1" dirty="0" err="1">
                <a:solidFill>
                  <a:srgbClr val="FFFFFF"/>
                </a:solidFill>
                <a:latin typeface="Times New Roman"/>
                <a:cs typeface="Times New Roman"/>
              </a:rPr>
              <a:t>UsingFederated</a:t>
            </a:r>
            <a:r>
              <a:rPr lang="en-US" sz="1800" b="1" i="1" dirty="0">
                <a:solidFill>
                  <a:srgbClr val="FFFFFF"/>
                </a:solidFill>
                <a:latin typeface="Times New Roman"/>
                <a:cs typeface="Times New Roman"/>
              </a:rPr>
              <a:t>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DCDAE0A-1D1F-AAB3-4F97-414C1C071FC8}"/>
              </a:ext>
            </a:extLst>
          </p:cNvPr>
          <p:cNvSpPr txBox="1"/>
          <p:nvPr/>
        </p:nvSpPr>
        <p:spPr>
          <a:xfrm>
            <a:off x="762000" y="1371600"/>
            <a:ext cx="10591800" cy="4801314"/>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Problem Statement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centralized intrusion detection systems provide </a:t>
            </a:r>
            <a:r>
              <a:rPr lang="en-US" b="1" dirty="0">
                <a:latin typeface="Times New Roman" panose="02020603050405020304" pitchFamily="18" charset="0"/>
                <a:cs typeface="Times New Roman" panose="02020603050405020304" pitchFamily="18" charset="0"/>
              </a:rPr>
              <a:t>limited visibility across distributed environments</a:t>
            </a:r>
            <a:r>
              <a:rPr lang="en-US" dirty="0">
                <a:latin typeface="Times New Roman" panose="02020603050405020304" pitchFamily="18" charset="0"/>
                <a:cs typeface="Times New Roman" panose="02020603050405020304" pitchFamily="18" charset="0"/>
              </a:rPr>
              <a:t> and may become ineffective as network size increases.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data-sharing approaches expose sensitive logs, leading to </a:t>
            </a:r>
            <a:r>
              <a:rPr lang="en-US" b="1" dirty="0">
                <a:latin typeface="Times New Roman" panose="02020603050405020304" pitchFamily="18" charset="0"/>
                <a:cs typeface="Times New Roman" panose="02020603050405020304" pitchFamily="18" charset="0"/>
              </a:rPr>
              <a:t>privacy risks and potential misuse of information</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Manual recording and monitoring of intrusion events is </a:t>
            </a:r>
            <a:r>
              <a:rPr lang="en-US" b="1" dirty="0">
                <a:latin typeface="Times New Roman" panose="02020603050405020304" pitchFamily="18" charset="0"/>
                <a:cs typeface="Times New Roman" panose="02020603050405020304" pitchFamily="18" charset="0"/>
              </a:rPr>
              <a:t>time-consuming, error-prone, and difficult to maintain</a:t>
            </a:r>
            <a:r>
              <a:rPr lang="en-US" dirty="0">
                <a:latin typeface="Times New Roman" panose="02020603050405020304" pitchFamily="18" charset="0"/>
                <a:cs typeface="Times New Roman" panose="02020603050405020304" pitchFamily="18" charset="0"/>
              </a:rPr>
              <a:t> in large organizations.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Security data is often </a:t>
            </a:r>
            <a:r>
              <a:rPr lang="en-US" b="1" dirty="0">
                <a:latin typeface="Times New Roman" panose="02020603050405020304" pitchFamily="18" charset="0"/>
                <a:cs typeface="Times New Roman" panose="02020603050405020304" pitchFamily="18" charset="0"/>
              </a:rPr>
              <a:t>fragmented across multiple departments or organizations</a:t>
            </a:r>
            <a:r>
              <a:rPr lang="en-US" dirty="0">
                <a:latin typeface="Times New Roman" panose="02020603050405020304" pitchFamily="18" charset="0"/>
                <a:cs typeface="Times New Roman" panose="02020603050405020304" pitchFamily="18" charset="0"/>
              </a:rPr>
              <a:t>, making it difficult to detect global attack patterns and emerging threats.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secure collaboration between organizations reduces the ability to develop </a:t>
            </a:r>
            <a:r>
              <a:rPr lang="en-US" b="1" dirty="0">
                <a:latin typeface="Times New Roman" panose="02020603050405020304" pitchFamily="18" charset="0"/>
                <a:cs typeface="Times New Roman" panose="02020603050405020304" pitchFamily="18" charset="0"/>
              </a:rPr>
              <a:t>accurate and robust intrusion detection models</a:t>
            </a:r>
            <a:r>
              <a:rPr lang="en-US" dirty="0">
                <a:latin typeface="Times New Roman" panose="02020603050405020304" pitchFamily="18" charset="0"/>
                <a:cs typeface="Times New Roman" panose="02020603050405020304" pitchFamily="18" charset="0"/>
              </a:rPr>
              <a:t>.</a:t>
            </a:r>
          </a:p>
          <a:p>
            <a:pPr>
              <a:buNone/>
            </a:pPr>
            <a:r>
              <a:rPr lang="en-US" b="1" dirty="0">
                <a:latin typeface="Times New Roman" panose="02020603050405020304" pitchFamily="18" charset="0"/>
                <a:cs typeface="Times New Roman" panose="02020603050405020304" pitchFamily="18" charset="0"/>
              </a:rPr>
              <a:t>Objectives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design a </a:t>
            </a:r>
            <a:r>
              <a:rPr lang="en-US" b="1" dirty="0">
                <a:latin typeface="Times New Roman" panose="02020603050405020304" pitchFamily="18" charset="0"/>
                <a:cs typeface="Times New Roman" panose="02020603050405020304" pitchFamily="18" charset="0"/>
              </a:rPr>
              <a:t>secure Federated Learning-based Intrusion Detection System (</a:t>
            </a:r>
            <a:r>
              <a:rPr lang="en-US" b="1" dirty="0" err="1">
                <a:latin typeface="Times New Roman" panose="02020603050405020304" pitchFamily="18" charset="0"/>
                <a:cs typeface="Times New Roman" panose="02020603050405020304" pitchFamily="18" charset="0"/>
              </a:rPr>
              <a:t>FedIDS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that enables collaborative training of machine learning models.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ensure </a:t>
            </a:r>
            <a:r>
              <a:rPr lang="en-US" b="1" dirty="0">
                <a:latin typeface="Times New Roman" panose="02020603050405020304" pitchFamily="18" charset="0"/>
                <a:cs typeface="Times New Roman" panose="02020603050405020304" pitchFamily="18" charset="0"/>
              </a:rPr>
              <a:t>privacy-preserving intrusion detection</a:t>
            </a:r>
            <a:r>
              <a:rPr lang="en-US" dirty="0">
                <a:latin typeface="Times New Roman" panose="02020603050405020304" pitchFamily="18" charset="0"/>
                <a:cs typeface="Times New Roman" panose="02020603050405020304" pitchFamily="18" charset="0"/>
              </a:rPr>
              <a:t> by restricting the sharing of raw network 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provide </a:t>
            </a:r>
            <a:r>
              <a:rPr lang="en-US" b="1" dirty="0">
                <a:latin typeface="Times New Roman" panose="02020603050405020304" pitchFamily="18" charset="0"/>
                <a:cs typeface="Times New Roman" panose="02020603050405020304" pitchFamily="18" charset="0"/>
              </a:rPr>
              <a:t>structured intrusion detection information</a:t>
            </a:r>
            <a:r>
              <a:rPr lang="en-US" dirty="0">
                <a:latin typeface="Times New Roman" panose="02020603050405020304" pitchFamily="18" charset="0"/>
                <a:cs typeface="Times New Roman" panose="02020603050405020304" pitchFamily="18" charset="0"/>
              </a:rPr>
              <a:t>, including attack types, anomaly patterns, and response actions.</a:t>
            </a:r>
          </a:p>
        </p:txBody>
      </p:sp>
    </p:spTree>
    <p:extLst>
      <p:ext uri="{BB962C8B-B14F-4D97-AF65-F5344CB8AC3E}">
        <p14:creationId xmlns:p14="http://schemas.microsoft.com/office/powerpoint/2010/main" val="4241965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AEC0A-42DC-DD8F-57DA-6364BD87D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785D7-F43A-7328-3A4C-2963D3055972}"/>
              </a:ext>
            </a:extLst>
          </p:cNvPr>
          <p:cNvSpPr>
            <a:spLocks noGrp="1"/>
          </p:cNvSpPr>
          <p:nvPr>
            <p:ph type="title"/>
          </p:nvPr>
        </p:nvSpPr>
        <p:spPr/>
        <p:txBody>
          <a:bodyPr/>
          <a:lstStyle/>
          <a:p>
            <a:r>
              <a:rPr lang="en-US" dirty="0"/>
              <a:t>Research paper</a:t>
            </a:r>
            <a:endParaRPr lang="en-IN" dirty="0"/>
          </a:p>
        </p:txBody>
      </p:sp>
      <p:graphicFrame>
        <p:nvGraphicFramePr>
          <p:cNvPr id="6" name="Table 5">
            <a:extLst>
              <a:ext uri="{FF2B5EF4-FFF2-40B4-BE49-F238E27FC236}">
                <a16:creationId xmlns:a16="http://schemas.microsoft.com/office/drawing/2014/main" id="{493DE5E4-B11D-A1CF-5961-DD5E925270A1}"/>
              </a:ext>
            </a:extLst>
          </p:cNvPr>
          <p:cNvGraphicFramePr>
            <a:graphicFrameLocks noGrp="1"/>
          </p:cNvGraphicFramePr>
          <p:nvPr>
            <p:extLst>
              <p:ext uri="{D42A27DB-BD31-4B8C-83A1-F6EECF244321}">
                <p14:modId xmlns:p14="http://schemas.microsoft.com/office/powerpoint/2010/main" val="3138880510"/>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26</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3" name="Title 1">
            <a:extLst>
              <a:ext uri="{FF2B5EF4-FFF2-40B4-BE49-F238E27FC236}">
                <a16:creationId xmlns:a16="http://schemas.microsoft.com/office/drawing/2014/main" id="{2BCDC743-5EB5-C5FE-EC5F-BF02C1431B9F}"/>
              </a:ext>
            </a:extLst>
          </p:cNvPr>
          <p:cNvSpPr>
            <a:spLocks noGrp="1"/>
          </p:cNvSpPr>
          <p:nvPr/>
        </p:nvSpPr>
        <p:spPr>
          <a:xfrm>
            <a:off x="0" y="239047"/>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Research paper</a:t>
            </a:r>
            <a:endParaRPr lang="en-IN" dirty="0"/>
          </a:p>
        </p:txBody>
      </p:sp>
      <p:sp>
        <p:nvSpPr>
          <p:cNvPr id="4" name="Rectangle 3">
            <a:extLst>
              <a:ext uri="{FF2B5EF4-FFF2-40B4-BE49-F238E27FC236}">
                <a16:creationId xmlns:a16="http://schemas.microsoft.com/office/drawing/2014/main" id="{932E8297-58E7-5BBE-5954-0EA2DA5F3D8B}"/>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Intrusion Detection System </a:t>
            </a:r>
            <a:r>
              <a:rPr lang="en-US" sz="1800" b="1" i="1" dirty="0" err="1">
                <a:solidFill>
                  <a:srgbClr val="FFFFFF"/>
                </a:solidFill>
                <a:latin typeface="Times New Roman"/>
                <a:cs typeface="Times New Roman"/>
              </a:rPr>
              <a:t>UsingFederated</a:t>
            </a:r>
            <a:r>
              <a:rPr lang="en-US" sz="1800" b="1" i="1" dirty="0">
                <a:solidFill>
                  <a:srgbClr val="FFFFFF"/>
                </a:solidFill>
                <a:latin typeface="Times New Roman"/>
                <a:cs typeface="Times New Roman"/>
              </a:rPr>
              <a:t>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17A9BB7B-25C0-81F6-64D4-AF5418771D36}"/>
              </a:ext>
            </a:extLst>
          </p:cNvPr>
          <p:cNvPicPr>
            <a:picLocks noChangeAspect="1"/>
          </p:cNvPicPr>
          <p:nvPr/>
        </p:nvPicPr>
        <p:blipFill>
          <a:blip r:embed="rId2"/>
          <a:stretch>
            <a:fillRect/>
          </a:stretch>
        </p:blipFill>
        <p:spPr>
          <a:xfrm>
            <a:off x="5638800" y="1012218"/>
            <a:ext cx="4149524" cy="5380532"/>
          </a:xfrm>
          <a:prstGeom prst="rect">
            <a:avLst/>
          </a:prstGeom>
        </p:spPr>
      </p:pic>
      <p:pic>
        <p:nvPicPr>
          <p:cNvPr id="17" name="Picture 16">
            <a:extLst>
              <a:ext uri="{FF2B5EF4-FFF2-40B4-BE49-F238E27FC236}">
                <a16:creationId xmlns:a16="http://schemas.microsoft.com/office/drawing/2014/main" id="{4C000397-E1C9-D85A-0930-9E4A35AA1117}"/>
              </a:ext>
            </a:extLst>
          </p:cNvPr>
          <p:cNvPicPr>
            <a:picLocks noChangeAspect="1"/>
          </p:cNvPicPr>
          <p:nvPr/>
        </p:nvPicPr>
        <p:blipFill>
          <a:blip r:embed="rId3"/>
          <a:stretch>
            <a:fillRect/>
          </a:stretch>
        </p:blipFill>
        <p:spPr>
          <a:xfrm>
            <a:off x="1143000" y="1060365"/>
            <a:ext cx="4107552" cy="5380532"/>
          </a:xfrm>
          <a:prstGeom prst="rect">
            <a:avLst/>
          </a:prstGeom>
        </p:spPr>
      </p:pic>
    </p:spTree>
    <p:extLst>
      <p:ext uri="{BB962C8B-B14F-4D97-AF65-F5344CB8AC3E}">
        <p14:creationId xmlns:p14="http://schemas.microsoft.com/office/powerpoint/2010/main" val="910288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paper</a:t>
            </a:r>
            <a:endParaRPr lang="en-IN" dirty="0"/>
          </a:p>
        </p:txBody>
      </p:sp>
      <p:sp>
        <p:nvSpPr>
          <p:cNvPr id="5" name="TextBox 20">
            <a:hlinkClick r:id="rId2"/>
            <a:extLst>
              <a:ext uri="{FF2B5EF4-FFF2-40B4-BE49-F238E27FC236}">
                <a16:creationId xmlns:a16="http://schemas.microsoft.com/office/drawing/2014/main" id="{48AAED5D-A45B-DD79-8185-FE25CE5E77E7}"/>
              </a:ext>
            </a:extLst>
          </p:cNvPr>
          <p:cNvSpPr txBox="1"/>
          <p:nvPr/>
        </p:nvSpPr>
        <p:spPr>
          <a:xfrm>
            <a:off x="457200" y="1010663"/>
            <a:ext cx="6697667" cy="253916"/>
          </a:xfrm>
          <a:prstGeom prst="rect">
            <a:avLst/>
          </a:prstGeom>
          <a:noFill/>
        </p:spPr>
        <p:txBody>
          <a:bodyPr wrap="none" rtlCol="0">
            <a:spAutoFit/>
          </a:bodyPr>
          <a:lstStyle>
            <a:defPPr>
              <a:defRPr kern="0"/>
            </a:defPPr>
          </a:lstStyle>
          <a:p>
            <a:r>
              <a:rPr lang="en-GB" sz="1050" dirty="0"/>
              <a:t>Research Paper: </a:t>
            </a:r>
            <a:r>
              <a:rPr lang="en-GB" sz="1050" dirty="0">
                <a:hlinkClick r:id="rId2"/>
              </a:rPr>
              <a:t>https://drive.google.com/file/d/1bWr0vDKFJ5xhUB8YsBZtsShwOikuuqzn/view?usp=sharing</a:t>
            </a:r>
            <a:endParaRPr lang="en-IN" sz="1050" dirty="0"/>
          </a:p>
        </p:txBody>
      </p:sp>
      <p:graphicFrame>
        <p:nvGraphicFramePr>
          <p:cNvPr id="6" name="Table 5">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1930008561"/>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B-15</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27</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3" name="Title 1">
            <a:extLst>
              <a:ext uri="{FF2B5EF4-FFF2-40B4-BE49-F238E27FC236}">
                <a16:creationId xmlns:a16="http://schemas.microsoft.com/office/drawing/2014/main" id="{4035A86A-8215-B5B8-840C-087C89568F81}"/>
              </a:ext>
            </a:extLst>
          </p:cNvPr>
          <p:cNvSpPr>
            <a:spLocks noGrp="1"/>
          </p:cNvSpPr>
          <p:nvPr/>
        </p:nvSpPr>
        <p:spPr>
          <a:xfrm>
            <a:off x="0" y="239047"/>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Research paper</a:t>
            </a:r>
            <a:endParaRPr lang="en-IN" dirty="0"/>
          </a:p>
        </p:txBody>
      </p:sp>
      <p:sp>
        <p:nvSpPr>
          <p:cNvPr id="4" name="Rectangle 3">
            <a:extLst>
              <a:ext uri="{FF2B5EF4-FFF2-40B4-BE49-F238E27FC236}">
                <a16:creationId xmlns:a16="http://schemas.microsoft.com/office/drawing/2014/main" id="{1593648D-5B93-C008-2CB7-6D89762C0910}"/>
              </a:ext>
            </a:extLst>
          </p:cNvPr>
          <p:cNvSpPr/>
          <p:nvPr/>
        </p:nvSpPr>
        <p:spPr>
          <a:xfrm>
            <a:off x="-1" y="-13251"/>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800" b="1" i="1" dirty="0">
                <a:solidFill>
                  <a:srgbClr val="FFFFFF"/>
                </a:solidFill>
                <a:latin typeface="Times New Roman"/>
                <a:cs typeface="Times New Roman"/>
              </a:rPr>
              <a:t> Intrusion Detection System </a:t>
            </a:r>
            <a:r>
              <a:rPr lang="en-US" sz="1800" b="1" i="1" dirty="0" err="1">
                <a:solidFill>
                  <a:srgbClr val="FFFFFF"/>
                </a:solidFill>
                <a:latin typeface="Times New Roman"/>
                <a:cs typeface="Times New Roman"/>
              </a:rPr>
              <a:t>UsingFederated</a:t>
            </a:r>
            <a:r>
              <a:rPr lang="en-US" sz="1800" b="1" i="1" dirty="0">
                <a:solidFill>
                  <a:srgbClr val="FFFFFF"/>
                </a:solidFill>
                <a:latin typeface="Times New Roman"/>
                <a:cs typeface="Times New Roman"/>
              </a:rPr>
              <a:t> Learning </a:t>
            </a: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A6AFA454-AA08-84CF-6278-0C69EF72CCC8}"/>
              </a:ext>
            </a:extLst>
          </p:cNvPr>
          <p:cNvPicPr>
            <a:picLocks noChangeAspect="1"/>
          </p:cNvPicPr>
          <p:nvPr/>
        </p:nvPicPr>
        <p:blipFill>
          <a:blip r:embed="rId3"/>
          <a:stretch>
            <a:fillRect/>
          </a:stretch>
        </p:blipFill>
        <p:spPr>
          <a:xfrm>
            <a:off x="990600" y="1198360"/>
            <a:ext cx="4052814" cy="5336120"/>
          </a:xfrm>
          <a:prstGeom prst="rect">
            <a:avLst/>
          </a:prstGeom>
        </p:spPr>
      </p:pic>
      <p:pic>
        <p:nvPicPr>
          <p:cNvPr id="19" name="Picture 18">
            <a:extLst>
              <a:ext uri="{FF2B5EF4-FFF2-40B4-BE49-F238E27FC236}">
                <a16:creationId xmlns:a16="http://schemas.microsoft.com/office/drawing/2014/main" id="{84A922BC-4DF0-0724-5797-35A274D0EF52}"/>
              </a:ext>
            </a:extLst>
          </p:cNvPr>
          <p:cNvPicPr>
            <a:picLocks noChangeAspect="1"/>
          </p:cNvPicPr>
          <p:nvPr/>
        </p:nvPicPr>
        <p:blipFill>
          <a:blip r:embed="rId4"/>
          <a:stretch>
            <a:fillRect/>
          </a:stretch>
        </p:blipFill>
        <p:spPr>
          <a:xfrm>
            <a:off x="5943599" y="1264579"/>
            <a:ext cx="4084531" cy="5264397"/>
          </a:xfrm>
          <a:prstGeom prst="rect">
            <a:avLst/>
          </a:prstGeom>
        </p:spPr>
      </p:pic>
    </p:spTree>
    <p:extLst>
      <p:ext uri="{BB962C8B-B14F-4D97-AF65-F5344CB8AC3E}">
        <p14:creationId xmlns:p14="http://schemas.microsoft.com/office/powerpoint/2010/main" val="3963302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2909570" y="-18415"/>
            <a:ext cx="6177280" cy="487045"/>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Intrusion Detection System Using Federated Learning </a:t>
            </a:r>
            <a:endParaRPr lang="en-US" sz="1500" dirty="0">
              <a:latin typeface="Times New Roman" panose="02020603050405020304"/>
              <a:cs typeface="Times New Roman" panose="02020603050405020304"/>
            </a:endParaRPr>
          </a:p>
          <a:p>
            <a:pPr marL="12700">
              <a:lnSpc>
                <a:spcPct val="100000"/>
              </a:lnSpc>
              <a:spcBef>
                <a:spcPts val="100"/>
              </a:spcBef>
            </a:pPr>
            <a:endParaRPr sz="1500" dirty="0">
              <a:latin typeface="Times New Roman" panose="02020603050405020304"/>
              <a:cs typeface="Times New Roman" panose="02020603050405020304"/>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8961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lang="en-IN" spc="-10" dirty="0"/>
              <a:t>Conclusion</a:t>
            </a:r>
          </a:p>
        </p:txBody>
      </p:sp>
      <p:sp>
        <p:nvSpPr>
          <p:cNvPr id="10" name="object 10"/>
          <p:cNvSpPr txBox="1">
            <a:spLocks noGrp="1"/>
          </p:cNvSpPr>
          <p:nvPr>
            <p:ph type="ftr" sz="quarter" idx="5"/>
          </p:nvPr>
        </p:nvSpPr>
        <p:spPr>
          <a:xfrm>
            <a:off x="149031" y="6629427"/>
            <a:ext cx="635000" cy="236220"/>
          </a:xfrm>
          <a:prstGeom prst="rect">
            <a:avLst/>
          </a:prstGeom>
        </p:spPr>
        <p:txBody>
          <a:bodyPr vert="horz" wrap="square" lIns="0" tIns="0" rIns="0" bIns="0" rtlCol="0">
            <a:spAutoFit/>
          </a:bodyPr>
          <a:lstStyle/>
          <a:p>
            <a:pPr marL="12700">
              <a:lnSpc>
                <a:spcPts val="1845"/>
              </a:lnSpc>
            </a:pPr>
            <a:r>
              <a:rPr lang="en-IN" spc="-10" dirty="0"/>
              <a:t>B</a:t>
            </a:r>
            <a:r>
              <a:rPr spc="-10" dirty="0"/>
              <a:t> </a:t>
            </a:r>
            <a:r>
              <a:rPr dirty="0"/>
              <a:t>-</a:t>
            </a:r>
            <a:r>
              <a:rPr spc="-5" dirty="0"/>
              <a:t> </a:t>
            </a:r>
            <a:r>
              <a:rPr lang="en-IN" spc="-5" dirty="0"/>
              <a:t>15</a:t>
            </a:r>
          </a:p>
        </p:txBody>
      </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3891279" cy="250825"/>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a:latin typeface="Times New Roman" panose="02020603050405020304"/>
              <a:cs typeface="Times New Roman" panose="02020603050405020304"/>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28</a:t>
            </a:fld>
            <a:endParaRPr spc="-25" dirty="0"/>
          </a:p>
        </p:txBody>
      </p:sp>
      <p:sp>
        <p:nvSpPr>
          <p:cNvPr id="9" name="object 9"/>
          <p:cNvSpPr txBox="1"/>
          <p:nvPr/>
        </p:nvSpPr>
        <p:spPr>
          <a:xfrm>
            <a:off x="323215" y="6008370"/>
            <a:ext cx="10979785" cy="822960"/>
          </a:xfrm>
          <a:prstGeom prst="rect">
            <a:avLst/>
          </a:prstGeom>
        </p:spPr>
        <p:txBody>
          <a:bodyPr vert="horz" wrap="square" lIns="0" tIns="12700" rIns="0" bIns="0" rtlCol="0">
            <a:noAutofit/>
          </a:bodyPr>
          <a:lstStyle/>
          <a:p>
            <a:pPr marL="12700">
              <a:lnSpc>
                <a:spcPct val="100000"/>
              </a:lnSpc>
              <a:spcBef>
                <a:spcPts val="100"/>
              </a:spcBef>
            </a:pPr>
            <a:endParaRPr lang="en-US" altLang="en-US" sz="1800" spc="-10" dirty="0">
              <a:latin typeface="Times New Roman" panose="02020603050405020304" charset="0"/>
              <a:cs typeface="Times New Roman" panose="02020603050405020304" charset="0"/>
            </a:endParaRPr>
          </a:p>
        </p:txBody>
      </p:sp>
      <p:sp>
        <p:nvSpPr>
          <p:cNvPr id="14" name="Text Box 13"/>
          <p:cNvSpPr txBox="1"/>
          <p:nvPr/>
        </p:nvSpPr>
        <p:spPr>
          <a:xfrm>
            <a:off x="307340" y="1165860"/>
            <a:ext cx="11045190" cy="5315620"/>
          </a:xfrm>
          <a:prstGeom prst="rect">
            <a:avLst/>
          </a:prstGeom>
        </p:spPr>
        <p:txBody>
          <a:bodyPr wrap="square">
            <a:noAutofit/>
          </a:bodyPr>
          <a:lstStyle/>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successfully integrates federated learning with intrusion detection to enhance security while preserving data privacy.</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Distributed model training ensures that sensitive data is not shared across participating nodes.</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Real-time monitoring and alert generation improve the system’s ability to detect and respond to security threats.</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Role-based access control enables secure and efficient system management by users and administrators.</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modular architecture improves scalability, maintainability, and future system expansion.</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proposed FLIDS solution is suitable for secure, large-scale, and distributed computing environments.</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improves threat detection accuracy by continuously updating models through federated learning.</a:t>
            </a:r>
          </a:p>
          <a:p>
            <a:pPr marL="285750" indent="-28575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Automated logging and reporting support effective security analysis and audit compliance.</a:t>
            </a:r>
          </a:p>
          <a:p>
            <a:pPr marL="285750" indent="-285750" algn="just">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1400" y="-18836"/>
            <a:ext cx="45720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Intrusion Detection System </a:t>
            </a:r>
            <a:r>
              <a:rPr lang="en-US" sz="1500" b="1" i="1" dirty="0">
                <a:solidFill>
                  <a:srgbClr val="FFFFFF"/>
                </a:solidFill>
                <a:latin typeface="Times New Roman"/>
                <a:cs typeface="Times New Roman"/>
              </a:rPr>
              <a:t>Using Federated Learning </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29</a:t>
            </a:fld>
            <a:endParaRPr spc="-25" dirty="0"/>
          </a:p>
        </p:txBody>
      </p:sp>
      <p:sp>
        <p:nvSpPr>
          <p:cNvPr id="8" name="TextBox 7">
            <a:extLst>
              <a:ext uri="{FF2B5EF4-FFF2-40B4-BE49-F238E27FC236}">
                <a16:creationId xmlns:a16="http://schemas.microsoft.com/office/drawing/2014/main" id="{C70606AF-E600-D310-A8FD-909A5DB03CC8}"/>
              </a:ext>
            </a:extLst>
          </p:cNvPr>
          <p:cNvSpPr txBox="1"/>
          <p:nvPr/>
        </p:nvSpPr>
        <p:spPr>
          <a:xfrm>
            <a:off x="289372" y="1057851"/>
            <a:ext cx="9045315" cy="4708981"/>
          </a:xfrm>
          <a:prstGeom prst="rect">
            <a:avLst/>
          </a:prstGeom>
          <a:noFill/>
        </p:spPr>
        <p:txBody>
          <a:bodyPr wrap="square">
            <a:spAutoFit/>
          </a:bodyPr>
          <a:lstStyle/>
          <a:p>
            <a:pPr marL="285750" indent="-285750" algn="just">
              <a:buFont typeface="Arial" panose="020B0604020202020204" pitchFamily="34" charset="0"/>
              <a:buChar char="•"/>
            </a:pPr>
            <a:r>
              <a:rPr lang="en-IN" sz="2000" dirty="0"/>
              <a:t>H. B. McMahan, E. Moore, D. Ramage, S. Hampson, and B. A. y </a:t>
            </a:r>
            <a:r>
              <a:rPr lang="en-IN" sz="2000" dirty="0" err="1"/>
              <a:t>Arcas</a:t>
            </a:r>
            <a:r>
              <a:rPr lang="en-IN" sz="2000" dirty="0"/>
              <a:t>, “Communication-efficient learning of deep networks from decentralized data,” in </a:t>
            </a:r>
            <a:r>
              <a:rPr lang="en-IN" sz="2000" i="1" dirty="0"/>
              <a:t>Proceedings of the International Conference on Artificial Intelligence and Statistics (AISTATS)</a:t>
            </a:r>
            <a:r>
              <a:rPr lang="en-IN" sz="2000" dirty="0"/>
              <a:t>, 2017.</a:t>
            </a:r>
          </a:p>
          <a:p>
            <a:pPr marL="285750" indent="-285750" algn="just">
              <a:buFont typeface="Arial" panose="020B0604020202020204" pitchFamily="34" charset="0"/>
              <a:buChar char="•"/>
            </a:pPr>
            <a:r>
              <a:rPr lang="en-IN" sz="2000" dirty="0"/>
              <a:t>N. Moustafa and J. Slay, “UNSW-NB15: A comprehensive data set for network intrusion detection systems,” in </a:t>
            </a:r>
            <a:r>
              <a:rPr lang="en-IN" sz="2000" i="1" dirty="0"/>
              <a:t>Military Communications and Information Systems Conference (MilCIS)</a:t>
            </a:r>
            <a:r>
              <a:rPr lang="en-IN" sz="2000" dirty="0"/>
              <a:t>, IEEE, 2015.</a:t>
            </a:r>
          </a:p>
          <a:p>
            <a:pPr marL="285750" indent="-285750" algn="just">
              <a:buFont typeface="Arial" panose="020B0604020202020204" pitchFamily="34" charset="0"/>
              <a:buChar char="•"/>
            </a:pPr>
            <a:r>
              <a:rPr lang="en-IN" sz="2000" dirty="0"/>
              <a:t>I. Goodfellow, Y. Bengio, and A. Courville, </a:t>
            </a:r>
            <a:r>
              <a:rPr lang="en-IN" sz="2000" i="1" dirty="0"/>
              <a:t>Deep Learning</a:t>
            </a:r>
            <a:r>
              <a:rPr lang="en-IN" sz="2000" dirty="0"/>
              <a:t>, MIT Press, Cambridge, MA, USA, 2016.</a:t>
            </a:r>
          </a:p>
          <a:p>
            <a:pPr marL="285750" indent="-285750" algn="just">
              <a:buFont typeface="Arial" panose="020B0604020202020204" pitchFamily="34" charset="0"/>
              <a:buChar char="•"/>
            </a:pPr>
            <a:r>
              <a:rPr lang="en-IN" sz="2000" dirty="0"/>
              <a:t>Y. Liu, T. Chen, and Q. Yang, “Secure federated learning for privacy-preserving artificial intelligence,” </a:t>
            </a:r>
            <a:r>
              <a:rPr lang="en-IN" sz="2000" i="1" dirty="0"/>
              <a:t>ACM Computing Surveys</a:t>
            </a:r>
            <a:r>
              <a:rPr lang="en-IN" sz="2000" dirty="0"/>
              <a:t>, vol. 54, no. 5, pp. 1–36, 2021.</a:t>
            </a:r>
          </a:p>
          <a:p>
            <a:pPr marL="285750" indent="-285750" algn="just">
              <a:buFont typeface="Arial" panose="020B0604020202020204" pitchFamily="34" charset="0"/>
              <a:buChar char="•"/>
            </a:pPr>
            <a:r>
              <a:rPr lang="en-IN" sz="2000" dirty="0"/>
              <a:t>S. R. Agrawal and J. Agrawal, “Survey on anomaly detection using data mining techniques,” </a:t>
            </a:r>
            <a:r>
              <a:rPr lang="en-IN" sz="2000" i="1" dirty="0"/>
              <a:t>Procedia Computer Science</a:t>
            </a:r>
            <a:r>
              <a:rPr lang="en-IN" sz="2000" dirty="0"/>
              <a:t>, vol. 60, pp. 708–713, 2015.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3352800" y="-39165"/>
            <a:ext cx="56388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Intrusion Detection System </a:t>
            </a:r>
            <a:r>
              <a:rPr lang="en-US" sz="1500" b="1" i="1" dirty="0">
                <a:solidFill>
                  <a:srgbClr val="FFFFFF"/>
                </a:solidFill>
                <a:latin typeface="Times New Roman"/>
                <a:cs typeface="Times New Roman"/>
              </a:rPr>
              <a:t>Using Federated Learning </a:t>
            </a:r>
            <a:endParaRPr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2"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11" name="object 11"/>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30</a:t>
            </a:fld>
            <a:endParaRPr spc="-25" dirty="0"/>
          </a:p>
        </p:txBody>
      </p:sp>
      <p:sp>
        <p:nvSpPr>
          <p:cNvPr id="9" name="object 9"/>
          <p:cNvSpPr txBox="1"/>
          <p:nvPr/>
        </p:nvSpPr>
        <p:spPr>
          <a:xfrm>
            <a:off x="596402" y="5987760"/>
            <a:ext cx="10147798" cy="289823"/>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panose="02020603050405020304" pitchFamily="18" charset="0"/>
                <a:cs typeface="Times New Roman" panose="02020603050405020304" pitchFamily="18" charset="0"/>
              </a:rPr>
              <a:t>link</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10" dirty="0">
                <a:latin typeface="Times New Roman" panose="02020603050405020304" pitchFamily="18" charset="0"/>
                <a:cs typeface="Times New Roman" panose="02020603050405020304" pitchFamily="18" charset="0"/>
              </a:rPr>
              <a:t> </a:t>
            </a:r>
            <a:r>
              <a:rPr sz="1800" spc="-10" dirty="0" err="1">
                <a:latin typeface="Times New Roman" panose="02020603050405020304" pitchFamily="18" charset="0"/>
                <a:cs typeface="Times New Roman" panose="02020603050405020304" pitchFamily="18" charset="0"/>
              </a:rPr>
              <a:t>Github</a:t>
            </a:r>
            <a:r>
              <a:rPr lang="en-IN" sz="1800" spc="-10" dirty="0">
                <a:latin typeface="Times New Roman" panose="02020603050405020304" pitchFamily="18" charset="0"/>
                <a:cs typeface="Times New Roman" panose="02020603050405020304" pitchFamily="18" charset="0"/>
              </a:rPr>
              <a:t> : </a:t>
            </a:r>
            <a:r>
              <a:rPr lang="en-IN" sz="1800" spc="-10" dirty="0">
                <a:latin typeface="Times New Roman" panose="02020603050405020304" pitchFamily="18" charset="0"/>
                <a:cs typeface="Times New Roman" panose="02020603050405020304" pitchFamily="18" charset="0"/>
                <a:hlinkClick r:id="rId3"/>
              </a:rPr>
              <a:t>https://github.com/pranathibestha/CSE-2022-26-Batch-B15</a:t>
            </a:r>
            <a:endParaRPr sz="1800" dirty="0">
              <a:latin typeface="Times New Roman" panose="02020603050405020304" pitchFamily="18" charset="0"/>
              <a:cs typeface="Times New Roman" panose="02020603050405020304" pitchFamily="18" charset="0"/>
            </a:endParaRPr>
          </a:p>
        </p:txBody>
      </p:sp>
      <p:pic>
        <p:nvPicPr>
          <p:cNvPr id="15" name="Picture 14" descr="A screenshot of a computer&#10;&#10;AI-generated content may be incorrect.">
            <a:extLst>
              <a:ext uri="{FF2B5EF4-FFF2-40B4-BE49-F238E27FC236}">
                <a16:creationId xmlns:a16="http://schemas.microsoft.com/office/drawing/2014/main" id="{4F35CF86-11B8-CD8A-077C-285A392850EE}"/>
              </a:ext>
            </a:extLst>
          </p:cNvPr>
          <p:cNvPicPr>
            <a:picLocks noChangeAspect="1"/>
          </p:cNvPicPr>
          <p:nvPr/>
        </p:nvPicPr>
        <p:blipFill>
          <a:blip r:embed="rId4"/>
          <a:stretch>
            <a:fillRect/>
          </a:stretch>
        </p:blipFill>
        <p:spPr>
          <a:xfrm>
            <a:off x="460898" y="1059193"/>
            <a:ext cx="10147798" cy="48032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7980CE8-0DF4-ADFB-351E-3165106C569D}"/>
              </a:ext>
            </a:extLst>
          </p:cNvPr>
          <p:cNvSpPr/>
          <p:nvPr/>
        </p:nvSpPr>
        <p:spPr>
          <a:xfrm>
            <a:off x="0" y="0"/>
            <a:ext cx="12192000" cy="288000"/>
          </a:xfrm>
          <a:prstGeom prst="rect">
            <a:avLst/>
          </a:prstGeom>
          <a:solidFill>
            <a:srgbClr val="0080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i="1" dirty="0">
              <a:solidFill>
                <a:srgbClr val="FFFFFF"/>
              </a:solidFill>
              <a:latin typeface="Times New Roman"/>
              <a:cs typeface="Times New Roman"/>
            </a:endParaRPr>
          </a:p>
          <a:p>
            <a:pPr algn="ct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0F8C159-E10E-1263-C3EF-28CF1B6055A5}"/>
              </a:ext>
            </a:extLst>
          </p:cNvPr>
          <p:cNvGraphicFramePr>
            <a:graphicFrameLocks noGrp="1"/>
          </p:cNvGraphicFramePr>
          <p:nvPr>
            <p:extLst>
              <p:ext uri="{D42A27DB-BD31-4B8C-83A1-F6EECF244321}">
                <p14:modId xmlns:p14="http://schemas.microsoft.com/office/powerpoint/2010/main" val="1303275936"/>
              </p:ext>
            </p:extLst>
          </p:nvPr>
        </p:nvGraphicFramePr>
        <p:xfrm>
          <a:off x="-1" y="6642651"/>
          <a:ext cx="12192001" cy="314926"/>
        </p:xfrm>
        <a:graphic>
          <a:graphicData uri="http://schemas.openxmlformats.org/drawingml/2006/table">
            <a:tbl>
              <a:tblPr firstRow="1" bandRow="1">
                <a:tableStyleId>{5C22544A-7EE6-4342-B048-85BDC9FD1C3A}</a:tableStyleId>
              </a:tblPr>
              <a:tblGrid>
                <a:gridCol w="689634">
                  <a:extLst>
                    <a:ext uri="{9D8B030D-6E8A-4147-A177-3AD203B41FA5}">
                      <a16:colId xmlns:a16="http://schemas.microsoft.com/office/drawing/2014/main" val="2456744558"/>
                    </a:ext>
                  </a:extLst>
                </a:gridCol>
                <a:gridCol w="5406367">
                  <a:extLst>
                    <a:ext uri="{9D8B030D-6E8A-4147-A177-3AD203B41FA5}">
                      <a16:colId xmlns:a16="http://schemas.microsoft.com/office/drawing/2014/main" val="1228853089"/>
                    </a:ext>
                  </a:extLst>
                </a:gridCol>
                <a:gridCol w="5515889">
                  <a:extLst>
                    <a:ext uri="{9D8B030D-6E8A-4147-A177-3AD203B41FA5}">
                      <a16:colId xmlns:a16="http://schemas.microsoft.com/office/drawing/2014/main" val="2344483369"/>
                    </a:ext>
                  </a:extLst>
                </a:gridCol>
                <a:gridCol w="580111">
                  <a:extLst>
                    <a:ext uri="{9D8B030D-6E8A-4147-A177-3AD203B41FA5}">
                      <a16:colId xmlns:a16="http://schemas.microsoft.com/office/drawing/2014/main" val="402432539"/>
                    </a:ext>
                  </a:extLst>
                </a:gridCol>
              </a:tblGrid>
              <a:tr h="228600">
                <a:tc>
                  <a:txBody>
                    <a:bodyPr/>
                    <a:lstStyle/>
                    <a:p>
                      <a:r>
                        <a:rPr lang="en-US" sz="1600" dirty="0">
                          <a:latin typeface="Times New Roman" panose="02020603050405020304" pitchFamily="18" charset="0"/>
                          <a:cs typeface="Times New Roman" panose="02020603050405020304" pitchFamily="18" charset="0"/>
                        </a:rPr>
                        <a:t>B-03</a:t>
                      </a:r>
                      <a:endParaRPr lang="en-IN" sz="1600" dirty="0">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solidFill>
                  </a:tcPr>
                </a:tc>
                <a:tc>
                  <a:txBody>
                    <a:bodyPr/>
                    <a:lstStyle/>
                    <a:p>
                      <a:pPr algn="ctr"/>
                      <a:r>
                        <a:rPr lang="en-IN" sz="1600" dirty="0">
                          <a:latin typeface="Times New Roman" panose="02020603050405020304" pitchFamily="18" charset="0"/>
                          <a:cs typeface="Times New Roman" panose="02020603050405020304" pitchFamily="18" charset="0"/>
                        </a:rPr>
                        <a:t>Department of Computer Science and Engineering</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50000"/>
                      </a:schemeClr>
                    </a:solidFill>
                  </a:tcPr>
                </a:tc>
                <a:tc>
                  <a:txBody>
                    <a:bodyPr/>
                    <a:lstStyle/>
                    <a:p>
                      <a:pPr algn="ctr"/>
                      <a:r>
                        <a:rPr lang="en-IN" sz="1600" dirty="0">
                          <a:latin typeface="Times New Roman" panose="02020603050405020304" pitchFamily="18" charset="0"/>
                          <a:cs typeface="Times New Roman" panose="02020603050405020304" pitchFamily="18" charset="0"/>
                        </a:rPr>
                        <a:t>Srinivasa Ramanujan Institute of Technology</a:t>
                      </a: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8080"/>
                    </a:solidFill>
                  </a:tcPr>
                </a:tc>
                <a:tc>
                  <a:txBody>
                    <a:bodyPr/>
                    <a:lstStyle/>
                    <a:p>
                      <a:r>
                        <a:rPr lang="en-US" sz="1600" dirty="0">
                          <a:solidFill>
                            <a:schemeClr val="tx1"/>
                          </a:solidFill>
                          <a:latin typeface="Times New Roman" panose="02020603050405020304" pitchFamily="18" charset="0"/>
                          <a:cs typeface="Times New Roman" panose="02020603050405020304" pitchFamily="18" charset="0"/>
                        </a:rPr>
                        <a:t>31</a:t>
                      </a:r>
                      <a:endParaRPr lang="en-IN" sz="1600" dirty="0">
                        <a:solidFill>
                          <a:schemeClr val="tx1"/>
                        </a:solidFill>
                        <a:latin typeface="Times New Roman" panose="02020603050405020304" pitchFamily="18" charset="0"/>
                        <a:cs typeface="Times New Roman" panose="02020603050405020304" pitchFamily="18" charset="0"/>
                      </a:endParaRPr>
                    </a:p>
                  </a:txBody>
                  <a:tcPr marL="71145" marR="71145" marT="35543" marB="35543">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455470646"/>
                  </a:ext>
                </a:extLst>
              </a:tr>
            </a:tbl>
          </a:graphicData>
        </a:graphic>
      </p:graphicFrame>
      <p:sp>
        <p:nvSpPr>
          <p:cNvPr id="7" name="TextBox 6">
            <a:extLst>
              <a:ext uri="{FF2B5EF4-FFF2-40B4-BE49-F238E27FC236}">
                <a16:creationId xmlns:a16="http://schemas.microsoft.com/office/drawing/2014/main" id="{7DB598F6-BACA-8C04-F648-6C282B028181}"/>
              </a:ext>
            </a:extLst>
          </p:cNvPr>
          <p:cNvSpPr txBox="1"/>
          <p:nvPr/>
        </p:nvSpPr>
        <p:spPr>
          <a:xfrm>
            <a:off x="2895600" y="-40666"/>
            <a:ext cx="6111550" cy="369332"/>
          </a:xfrm>
          <a:prstGeom prst="rect">
            <a:avLst/>
          </a:prstGeom>
          <a:noFill/>
        </p:spPr>
        <p:txBody>
          <a:bodyPr wrap="square">
            <a:spAutoFit/>
          </a:bodyPr>
          <a:lstStyle/>
          <a:p>
            <a:r>
              <a:rPr lang="en-US" b="1" i="1" dirty="0">
                <a:solidFill>
                  <a:srgbClr val="FFFFFF"/>
                </a:solidFill>
                <a:latin typeface="Times New Roman"/>
                <a:cs typeface="Times New Roman"/>
              </a:rPr>
              <a:t>Intrusion Detection System U</a:t>
            </a:r>
            <a:r>
              <a:rPr lang="en-US" sz="1800" b="1" i="1" dirty="0">
                <a:solidFill>
                  <a:srgbClr val="FFFFFF"/>
                </a:solidFill>
                <a:latin typeface="Times New Roman"/>
                <a:cs typeface="Times New Roman"/>
              </a:rPr>
              <a:t>sing Federated Learning </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200400" y="-10611"/>
            <a:ext cx="4724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Intrusion Detection System Using </a:t>
            </a:r>
            <a:r>
              <a:rPr lang="en-US" sz="1500" b="1" i="1" dirty="0">
                <a:solidFill>
                  <a:srgbClr val="FFFFFF"/>
                </a:solidFill>
                <a:latin typeface="Times New Roman"/>
                <a:cs typeface="Times New Roman"/>
              </a:rPr>
              <a:t>Federated Learning </a:t>
            </a:r>
            <a:endParaRPr sz="1500" dirty="0">
              <a:latin typeface="Times New Roman"/>
              <a:cs typeface="Times New Roman"/>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15</a:t>
            </a:r>
            <a:endParaRPr spc="-25" dirty="0"/>
          </a:p>
        </p:txBody>
      </p:sp>
      <p:sp>
        <p:nvSpPr>
          <p:cNvPr id="6" name="object 6"/>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32</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701</TotalTime>
  <Words>3661</Words>
  <Application>Microsoft Office PowerPoint</Application>
  <PresentationFormat>Widescreen</PresentationFormat>
  <Paragraphs>367</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Lucida Sans Unicode</vt:lpstr>
      <vt:lpstr>Times New Roman</vt:lpstr>
      <vt:lpstr>Office Theme</vt:lpstr>
      <vt:lpstr>                               Intrusion Detection System Using Federated Learning</vt:lpstr>
      <vt:lpstr>Queries From Review 0</vt:lpstr>
      <vt:lpstr>Title Explaination</vt:lpstr>
      <vt:lpstr>Contents</vt:lpstr>
      <vt:lpstr>Abstract</vt:lpstr>
      <vt:lpstr>Introduction</vt:lpstr>
      <vt:lpstr>Literature Survey</vt:lpstr>
      <vt:lpstr>Literature Survey</vt:lpstr>
      <vt:lpstr>Existing System</vt:lpstr>
      <vt:lpstr>Proposed System</vt:lpstr>
      <vt:lpstr>Proposed System</vt:lpstr>
      <vt:lpstr>Plannin</vt:lpstr>
      <vt:lpstr>Software Requirements</vt:lpstr>
      <vt:lpstr>Software Requirements</vt:lpstr>
      <vt:lpstr>Datasets/Modules</vt:lpstr>
      <vt:lpstr>Design-Sequence Diagram </vt:lpstr>
      <vt:lpstr>Design-Class Diagram </vt:lpstr>
      <vt:lpstr>PowerPoint Presentation</vt:lpstr>
      <vt:lpstr>PowerPoint Presentation</vt:lpstr>
      <vt:lpstr>PowerPoint Presentation</vt:lpstr>
      <vt:lpstr>Implementation</vt:lpstr>
      <vt:lpstr>Outputs</vt:lpstr>
      <vt:lpstr>Outputs</vt:lpstr>
      <vt:lpstr>Research paper</vt:lpstr>
      <vt:lpstr>Research paper</vt:lpstr>
      <vt:lpstr>Research paper</vt:lpstr>
      <vt:lpstr>Research paper</vt:lpstr>
      <vt:lpstr>Conclusion</vt:lpstr>
      <vt:lpstr>References</vt:lpstr>
      <vt:lpstr>Git Hub Dashboards of each student</vt:lpstr>
      <vt:lpstr>PowerPoint Presentation</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Federated Learning Intrusion Detection System</dc:title>
  <dc:creator>joshika</dc:creator>
  <cp:lastModifiedBy>dinesh chinnu</cp:lastModifiedBy>
  <cp:revision>20</cp:revision>
  <dcterms:created xsi:type="dcterms:W3CDTF">2025-12-02T11:29:58Z</dcterms:created>
  <dcterms:modified xsi:type="dcterms:W3CDTF">2026-04-10T05:01:18Z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Google</vt:lpwstr>
  </property>
  <property fmtid="{D5CDD505-2E9C-101B-9397-08002B2CF9AE}" pid="4" name="LastSaved">
    <vt:filetime>2025-12-02T00:00:00Z</vt:filetime>
  </property>
</Properties>
</file>