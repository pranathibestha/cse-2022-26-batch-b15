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67" r:id="rId4"/>
    <p:sldId id="259" r:id="rId5"/>
    <p:sldId id="260" r:id="rId6"/>
    <p:sldId id="261" r:id="rId7"/>
    <p:sldId id="268" r:id="rId8"/>
    <p:sldId id="263" r:id="rId9"/>
    <p:sldId id="264" r:id="rId10"/>
    <p:sldId id="265" r:id="rId11"/>
    <p:sldId id="266"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7203DB1-22C9-4328-8E0B-13A98EA180CE}" type="datetimeFigureOut">
              <a:rPr lang="en-IN" smtClean="0"/>
              <a:t>12-12-2025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43C257F-7C75-44DD-AC1C-7150640DC7DB}" type="slidenum">
              <a:rPr lang="en-IN" smtClean="0"/>
              <a:t>‹#›</a:t>
            </a:fld>
            <a:endParaRPr lang="en-IN"/>
          </a:p>
        </p:txBody>
      </p:sp>
    </p:spTree>
    <p:extLst>
      <p:ext uri="{BB962C8B-B14F-4D97-AF65-F5344CB8AC3E}">
        <p14:creationId xmlns:p14="http://schemas.microsoft.com/office/powerpoint/2010/main" val="1379966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5B66991-F725-422B-A7F0-F43E86186675}" type="slidenum">
              <a:rPr lang="en-IN" smtClean="0"/>
              <a:t>7</a:t>
            </a:fld>
            <a:endParaRPr lang="en-IN"/>
          </a:p>
        </p:txBody>
      </p:sp>
    </p:spTree>
    <p:extLst>
      <p:ext uri="{BB962C8B-B14F-4D97-AF65-F5344CB8AC3E}">
        <p14:creationId xmlns:p14="http://schemas.microsoft.com/office/powerpoint/2010/main" val="754176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20"/>
            <a:chOff x="777240" y="6634440"/>
            <a:chExt cx="11414760" cy="22352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endParaRPr/>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4440"/>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endParaRPr/>
          </a:p>
        </p:txBody>
      </p:sp>
      <p:sp>
        <p:nvSpPr>
          <p:cNvPr id="8" name="object 8"/>
          <p:cNvSpPr txBox="1"/>
          <p:nvPr/>
        </p:nvSpPr>
        <p:spPr>
          <a:xfrm>
            <a:off x="5181601" y="1735293"/>
            <a:ext cx="2362200" cy="415627"/>
          </a:xfrm>
          <a:prstGeom prst="rect">
            <a:avLst/>
          </a:prstGeom>
        </p:spPr>
        <p:txBody>
          <a:bodyPr vert="horz" wrap="square" lIns="0" tIns="13335" rIns="0" bIns="0" rtlCol="0">
            <a:spAutoFit/>
          </a:bodyPr>
          <a:lstStyle/>
          <a:p>
            <a:pPr algn="ctr">
              <a:lnSpc>
                <a:spcPts val="2080"/>
              </a:lnSpc>
              <a:spcBef>
                <a:spcPts val="105"/>
              </a:spcBef>
            </a:pPr>
            <a:r>
              <a:rPr lang="en-IN" spc="-10" dirty="0">
                <a:latin typeface="Times New Roman"/>
                <a:cs typeface="Times New Roman"/>
              </a:rPr>
              <a:t>T.JOSHIKA</a:t>
            </a:r>
            <a:endParaRPr lang="en-IN" sz="175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IN" sz="900" spc="-10" dirty="0">
                <a:latin typeface="Times New Roman"/>
                <a:cs typeface="Times New Roman"/>
              </a:rPr>
              <a:t>234G5A0504</a:t>
            </a:r>
            <a:endParaRPr sz="900" dirty="0">
              <a:latin typeface="Times New Roman"/>
              <a:cs typeface="Times New Roman"/>
            </a:endParaRPr>
          </a:p>
        </p:txBody>
      </p:sp>
      <p:sp>
        <p:nvSpPr>
          <p:cNvPr id="9" name="object 9"/>
          <p:cNvSpPr txBox="1"/>
          <p:nvPr/>
        </p:nvSpPr>
        <p:spPr>
          <a:xfrm>
            <a:off x="3733800" y="2476799"/>
            <a:ext cx="4724400" cy="1320874"/>
          </a:xfrm>
          <a:prstGeom prst="rect">
            <a:avLst/>
          </a:prstGeom>
        </p:spPr>
        <p:txBody>
          <a:bodyPr vert="horz" wrap="square" lIns="0" tIns="12700" rIns="0" bIns="0" rtlCol="0">
            <a:spAutoFit/>
          </a:bodyPr>
          <a:lstStyle/>
          <a:p>
            <a:pPr marL="635" algn="ctr">
              <a:lnSpc>
                <a:spcPts val="1630"/>
              </a:lnSpc>
              <a:spcBef>
                <a:spcPts val="100"/>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sz="1400" dirty="0">
              <a:latin typeface="Times New Roman"/>
              <a:cs typeface="Times New Roman"/>
            </a:endParaRPr>
          </a:p>
          <a:p>
            <a:pPr marL="12065" marR="5080" algn="ctr">
              <a:lnSpc>
                <a:spcPts val="2790"/>
              </a:lnSpc>
              <a:spcBef>
                <a:spcPts val="114"/>
              </a:spcBef>
            </a:pPr>
            <a:r>
              <a:rPr lang="en-IN" sz="2400" spc="-10" dirty="0">
                <a:latin typeface="Times New Roman"/>
                <a:cs typeface="Times New Roman"/>
              </a:rPr>
              <a:t>Dr. </a:t>
            </a:r>
            <a:r>
              <a:rPr lang="en-IN" sz="2400" spc="-10" dirty="0" err="1">
                <a:latin typeface="Times New Roman"/>
                <a:cs typeface="Times New Roman"/>
              </a:rPr>
              <a:t>S.Ravi</a:t>
            </a:r>
            <a:r>
              <a:rPr lang="en-IN" sz="2400" spc="-10" dirty="0">
                <a:latin typeface="Times New Roman"/>
                <a:cs typeface="Times New Roman"/>
              </a:rPr>
              <a:t> Kumar</a:t>
            </a:r>
            <a:r>
              <a:rPr sz="2400" spc="-10" dirty="0">
                <a:latin typeface="Times New Roman"/>
                <a:cs typeface="Times New Roman"/>
              </a:rPr>
              <a:t>,</a:t>
            </a:r>
            <a:r>
              <a:rPr lang="en-IN" sz="2400" spc="-10" dirty="0">
                <a:latin typeface="Times New Roman"/>
                <a:cs typeface="Times New Roman"/>
              </a:rPr>
              <a:t> </a:t>
            </a:r>
            <a:r>
              <a:rPr lang="en-IN" sz="1400" spc="-10" dirty="0" err="1">
                <a:latin typeface="Times New Roman"/>
                <a:cs typeface="Times New Roman"/>
              </a:rPr>
              <a:t>M.Tech</a:t>
            </a:r>
            <a:r>
              <a:rPr lang="en-IN" sz="1400" spc="-10" dirty="0">
                <a:latin typeface="Times New Roman"/>
                <a:cs typeface="Times New Roman"/>
              </a:rPr>
              <a:t>., </a:t>
            </a:r>
            <a:r>
              <a:rPr lang="en-IN" sz="1400" spc="-10" dirty="0" err="1">
                <a:latin typeface="Times New Roman"/>
                <a:cs typeface="Times New Roman"/>
              </a:rPr>
              <a:t>ph.D.</a:t>
            </a:r>
            <a:r>
              <a:rPr sz="1400" spc="-10" dirty="0">
                <a:latin typeface="Times New Roman"/>
                <a:cs typeface="Times New Roman"/>
              </a:rPr>
              <a:t> </a:t>
            </a:r>
            <a:endParaRPr lang="en-IN" sz="1400" spc="-10" dirty="0">
              <a:latin typeface="Times New Roman"/>
              <a:cs typeface="Times New Roman"/>
            </a:endParaRPr>
          </a:p>
          <a:p>
            <a:pPr marL="12065" marR="5080" algn="ctr">
              <a:lnSpc>
                <a:spcPts val="2790"/>
              </a:lnSpc>
              <a:spcBef>
                <a:spcPts val="114"/>
              </a:spcBef>
            </a:pPr>
            <a:r>
              <a:rPr lang="en-IN" sz="1400" spc="-20" dirty="0">
                <a:latin typeface="Times New Roman"/>
                <a:cs typeface="Times New Roman"/>
              </a:rPr>
              <a:t>Assistant</a:t>
            </a:r>
            <a:r>
              <a:rPr lang="en-IN" sz="1400" spc="-40" dirty="0">
                <a:latin typeface="Times New Roman"/>
                <a:cs typeface="Times New Roman"/>
              </a:rPr>
              <a:t> </a:t>
            </a:r>
            <a:r>
              <a:rPr lang="en-IN" sz="1400" spc="-10" dirty="0">
                <a:latin typeface="Times New Roman"/>
                <a:cs typeface="Times New Roman"/>
              </a:rPr>
              <a:t>Professor</a:t>
            </a:r>
            <a:endParaRPr lang="en-IN" sz="1400" dirty="0">
              <a:latin typeface="Times New Roman"/>
              <a:cs typeface="Times New Roman"/>
            </a:endParaRPr>
          </a:p>
          <a:p>
            <a:pPr marL="12065" marR="5080" algn="ctr">
              <a:lnSpc>
                <a:spcPts val="2790"/>
              </a:lnSpc>
              <a:spcBef>
                <a:spcPts val="114"/>
              </a:spcBef>
            </a:pPr>
            <a:endParaRPr sz="24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r>
              <a:rPr sz="2200" spc="-15" dirty="0">
                <a:latin typeface="Times New Roman"/>
                <a:cs typeface="Times New Roman"/>
              </a:rPr>
              <a:t> </a:t>
            </a:r>
            <a:endParaRPr sz="2200" dirty="0">
              <a:latin typeface="Times New Roman"/>
              <a:cs typeface="Times New Roman"/>
            </a:endParaRP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IN" sz="1300" b="1" dirty="0">
                <a:solidFill>
                  <a:srgbClr val="1E4E78"/>
                </a:solidFill>
                <a:latin typeface="Times New Roman"/>
                <a:cs typeface="Times New Roman"/>
              </a:rPr>
              <a:t>5-</a:t>
            </a:r>
            <a:r>
              <a:rPr sz="1300" b="1" spc="-20" dirty="0">
                <a:solidFill>
                  <a:srgbClr val="1E4E78"/>
                </a:solidFill>
                <a:latin typeface="Times New Roman"/>
                <a:cs typeface="Times New Roman"/>
              </a:rPr>
              <a:t>202</a:t>
            </a:r>
            <a:r>
              <a:rPr lang="en-IN" sz="1300" b="1" spc="-20" dirty="0">
                <a:solidFill>
                  <a:srgbClr val="1E4E78"/>
                </a:solidFill>
                <a:latin typeface="Times New Roman"/>
                <a:cs typeface="Times New Roman"/>
              </a:rPr>
              <a:t>6</a:t>
            </a:r>
            <a:endParaRPr sz="1300" dirty="0">
              <a:latin typeface="Times New Roman"/>
              <a:cs typeface="Times New Roman"/>
            </a:endParaRPr>
          </a:p>
        </p:txBody>
      </p:sp>
      <p:sp>
        <p:nvSpPr>
          <p:cNvPr id="11" name="object 11"/>
          <p:cNvSpPr txBox="1"/>
          <p:nvPr/>
        </p:nvSpPr>
        <p:spPr>
          <a:xfrm>
            <a:off x="2557188" y="1724463"/>
            <a:ext cx="2624412" cy="455381"/>
          </a:xfrm>
          <a:prstGeom prst="rect">
            <a:avLst/>
          </a:prstGeom>
        </p:spPr>
        <p:txBody>
          <a:bodyPr vert="horz" wrap="square" lIns="0" tIns="14605" rIns="0" bIns="0" rtlCol="0">
            <a:spAutoFit/>
          </a:bodyPr>
          <a:lstStyle/>
          <a:p>
            <a:pPr algn="ctr">
              <a:lnSpc>
                <a:spcPts val="2380"/>
              </a:lnSpc>
              <a:spcBef>
                <a:spcPts val="115"/>
              </a:spcBef>
            </a:pPr>
            <a:r>
              <a:rPr lang="en-IN" sz="2000" dirty="0">
                <a:latin typeface="Times New Roman"/>
                <a:cs typeface="Times New Roman"/>
              </a:rPr>
              <a:t>B.PRANATHI</a:t>
            </a:r>
            <a:endParaRPr sz="2000" dirty="0">
              <a:latin typeface="Times New Roman"/>
              <a:cs typeface="Times New Roman"/>
            </a:endParaRPr>
          </a:p>
          <a:p>
            <a:pPr marL="1270" algn="ctr">
              <a:lnSpc>
                <a:spcPts val="1060"/>
              </a:lnSpc>
            </a:pPr>
            <a:r>
              <a:rPr sz="900" dirty="0">
                <a:latin typeface="Times New Roman"/>
                <a:cs typeface="Times New Roman"/>
              </a:rPr>
              <a:t>Roll</a:t>
            </a:r>
            <a:r>
              <a:rPr sz="900" spc="40" dirty="0">
                <a:latin typeface="Times New Roman"/>
                <a:cs typeface="Times New Roman"/>
              </a:rPr>
              <a:t> </a:t>
            </a:r>
            <a:r>
              <a:rPr sz="900" dirty="0">
                <a:latin typeface="Times New Roman"/>
                <a:cs typeface="Times New Roman"/>
              </a:rPr>
              <a:t>No.</a:t>
            </a:r>
            <a:r>
              <a:rPr sz="900" spc="40" dirty="0">
                <a:latin typeface="Times New Roman"/>
                <a:cs typeface="Times New Roman"/>
              </a:rPr>
              <a:t> </a:t>
            </a:r>
            <a:r>
              <a:rPr lang="en-IN" sz="900" spc="-10" dirty="0">
                <a:latin typeface="Times New Roman"/>
                <a:cs typeface="Times New Roman"/>
              </a:rPr>
              <a:t>224G1A0571</a:t>
            </a:r>
            <a:endParaRPr sz="900" dirty="0">
              <a:latin typeface="Times New Roman"/>
              <a:cs typeface="Times New Roman"/>
            </a:endParaRPr>
          </a:p>
        </p:txBody>
      </p:sp>
      <p:sp>
        <p:nvSpPr>
          <p:cNvPr id="12" name="object 12"/>
          <p:cNvSpPr txBox="1"/>
          <p:nvPr/>
        </p:nvSpPr>
        <p:spPr>
          <a:xfrm>
            <a:off x="7467599" y="1735293"/>
            <a:ext cx="3200401" cy="423321"/>
          </a:xfrm>
          <a:prstGeom prst="rect">
            <a:avLst/>
          </a:prstGeom>
        </p:spPr>
        <p:txBody>
          <a:bodyPr vert="horz" wrap="square" lIns="0" tIns="13335" rIns="0" bIns="0" rtlCol="0">
            <a:spAutoFit/>
          </a:bodyPr>
          <a:lstStyle/>
          <a:p>
            <a:pPr marL="42545">
              <a:lnSpc>
                <a:spcPct val="100000"/>
              </a:lnSpc>
              <a:spcBef>
                <a:spcPts val="409"/>
              </a:spcBef>
            </a:pPr>
            <a:r>
              <a:rPr lang="en-IN" sz="1800" spc="-10" dirty="0">
                <a:latin typeface="Times New Roman"/>
                <a:cs typeface="Times New Roman"/>
              </a:rPr>
              <a:t>         </a:t>
            </a:r>
            <a:r>
              <a:rPr lang="en-IN" spc="-10" dirty="0">
                <a:latin typeface="Times New Roman"/>
                <a:cs typeface="Times New Roman"/>
              </a:rPr>
              <a:t>C.KRISHNAKOWSHIK</a:t>
            </a:r>
            <a:endParaRPr lang="en-IN" sz="180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IN" sz="900" spc="-10" dirty="0">
                <a:latin typeface="Times New Roman"/>
                <a:cs typeface="Times New Roman"/>
              </a:rPr>
              <a:t>224G1A0538</a:t>
            </a:r>
            <a:endParaRPr sz="900" dirty="0">
              <a:latin typeface="Times New Roman"/>
              <a:cs typeface="Times New Roman"/>
            </a:endParaRPr>
          </a:p>
        </p:txBody>
      </p:sp>
      <p:grpSp>
        <p:nvGrpSpPr>
          <p:cNvPr id="14" name="object 14"/>
          <p:cNvGrpSpPr/>
          <p:nvPr/>
        </p:nvGrpSpPr>
        <p:grpSpPr>
          <a:xfrm>
            <a:off x="715009" y="318271"/>
            <a:ext cx="1060831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7" name="object 17"/>
          <p:cNvSpPr txBox="1">
            <a:spLocks noGrp="1"/>
          </p:cNvSpPr>
          <p:nvPr>
            <p:ph type="title"/>
          </p:nvPr>
        </p:nvSpPr>
        <p:spPr>
          <a:xfrm>
            <a:off x="-457200" y="491408"/>
            <a:ext cx="9829801" cy="505267"/>
          </a:xfrm>
          <a:prstGeom prst="rect">
            <a:avLst/>
          </a:prstGeom>
        </p:spPr>
        <p:txBody>
          <a:bodyPr vert="horz" wrap="square" lIns="0" tIns="12700" rIns="0" bIns="0" rtlCol="0">
            <a:spAutoFit/>
          </a:bodyPr>
          <a:lstStyle/>
          <a:p>
            <a:pPr marL="12700">
              <a:lnSpc>
                <a:spcPct val="100000"/>
              </a:lnSpc>
              <a:spcBef>
                <a:spcPts val="100"/>
              </a:spcBef>
            </a:pPr>
            <a:r>
              <a:rPr lang="en-IN" sz="3200" dirty="0"/>
              <a:t>                    </a:t>
            </a:r>
            <a:r>
              <a:rPr lang="en-US" sz="3200" dirty="0"/>
              <a:t>Federated Learning Intrusion Detection System   </a:t>
            </a:r>
            <a:endParaRPr sz="3200" dirty="0"/>
          </a:p>
        </p:txBody>
      </p:sp>
      <p:sp>
        <p:nvSpPr>
          <p:cNvPr id="18" name="object 18"/>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19" name="object 19"/>
          <p:cNvPicPr/>
          <p:nvPr/>
        </p:nvPicPr>
        <p:blipFill>
          <a:blip r:embed="rId3" cstate="print"/>
          <a:stretch>
            <a:fillRect/>
          </a:stretch>
        </p:blipFill>
        <p:spPr>
          <a:xfrm>
            <a:off x="5329143" y="3408075"/>
            <a:ext cx="1527378"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733800" y="0"/>
            <a:ext cx="51054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Federated learning Intrusion Detection System</a:t>
            </a:r>
            <a:endParaRPr sz="1500" dirty="0">
              <a:latin typeface="Times New Roman"/>
              <a:cs typeface="Times New Roman"/>
            </a:endParaRPr>
          </a:p>
        </p:txBody>
      </p:sp>
      <p:grpSp>
        <p:nvGrpSpPr>
          <p:cNvPr id="3" name="object 3"/>
          <p:cNvGrpSpPr/>
          <p:nvPr/>
        </p:nvGrpSpPr>
        <p:grpSpPr>
          <a:xfrm>
            <a:off x="0" y="212399"/>
            <a:ext cx="12192000" cy="803275"/>
            <a:chOff x="0" y="212399"/>
            <a:chExt cx="12192000" cy="803275"/>
          </a:xfrm>
        </p:grpSpPr>
        <p:pic>
          <p:nvPicPr>
            <p:cNvPr id="4" name="object 4"/>
            <p:cNvPicPr/>
            <p:nvPr/>
          </p:nvPicPr>
          <p:blipFill>
            <a:blip r:embed="rId2"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p:cNvSpPr txBox="1">
            <a:spLocks noGrp="1"/>
          </p:cNvSpPr>
          <p:nvPr>
            <p:ph type="dt" sz="half" idx="6"/>
          </p:nvPr>
        </p:nvSpPr>
        <p:spPr>
          <a:xfrm>
            <a:off x="2013245" y="6629197"/>
            <a:ext cx="366141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IN" cap="small" spc="-130" dirty="0"/>
              <a:t> Engineering</a:t>
            </a:r>
            <a:r>
              <a:rPr cap="small" spc="55" dirty="0"/>
              <a:t> </a:t>
            </a:r>
            <a:endParaRPr cap="small" spc="-130" dirty="0"/>
          </a:p>
        </p:txBody>
      </p:sp>
      <p:sp>
        <p:nvSpPr>
          <p:cNvPr id="10" name="object 10"/>
          <p:cNvSpPr txBox="1"/>
          <p:nvPr/>
        </p:nvSpPr>
        <p:spPr>
          <a:xfrm>
            <a:off x="6858001" y="6629197"/>
            <a:ext cx="4180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lang="en-IN" sz="1600" cap="small" spc="-100" dirty="0">
                <a:solidFill>
                  <a:srgbClr val="FFFFFF"/>
                </a:solidFill>
                <a:latin typeface="Times New Roman"/>
                <a:cs typeface="Times New Roman"/>
              </a:rPr>
              <a:t> 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7" y="989990"/>
            <a:ext cx="9460230" cy="4625340"/>
          </a:xfrm>
          <a:prstGeom prst="rect">
            <a:avLst/>
          </a:prstGeom>
        </p:spPr>
        <p:txBody>
          <a:bodyPr vert="horz" wrap="square" lIns="0" tIns="96520" rIns="0" bIns="0" rtlCol="0">
            <a:spAutoFit/>
          </a:bodyPr>
          <a:lstStyle/>
          <a:p>
            <a:pPr marL="421005" indent="-408305">
              <a:lnSpc>
                <a:spcPct val="100000"/>
              </a:lnSpc>
              <a:spcBef>
                <a:spcPts val="760"/>
              </a:spcBef>
              <a:buChar char="•"/>
              <a:tabLst>
                <a:tab pos="421005" algn="l"/>
              </a:tabLst>
            </a:pPr>
            <a:r>
              <a:rPr sz="2800" dirty="0">
                <a:latin typeface="Times New Roman"/>
                <a:cs typeface="Times New Roman"/>
              </a:rPr>
              <a:t>Title</a:t>
            </a:r>
            <a:r>
              <a:rPr sz="2800" spc="-25" dirty="0">
                <a:latin typeface="Times New Roman"/>
                <a:cs typeface="Times New Roman"/>
              </a:rPr>
              <a:t> </a:t>
            </a:r>
            <a:r>
              <a:rPr sz="2800" spc="-10" dirty="0">
                <a:latin typeface="Times New Roman"/>
                <a:cs typeface="Times New Roman"/>
              </a:rPr>
              <a:t>Justification</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Objectives</a:t>
            </a:r>
            <a:r>
              <a:rPr sz="2800" spc="-4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spc="-10" dirty="0">
                <a:latin typeface="Times New Roman"/>
                <a:cs typeface="Times New Roman"/>
              </a:rPr>
              <a:t>Project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21005" indent="-408305">
              <a:lnSpc>
                <a:spcPct val="100000"/>
              </a:lnSpc>
              <a:spcBef>
                <a:spcPts val="660"/>
              </a:spcBef>
              <a:buChar char="•"/>
              <a:tabLst>
                <a:tab pos="421005" algn="l"/>
              </a:tabLst>
            </a:pPr>
            <a:r>
              <a:rPr sz="2800" dirty="0">
                <a:latin typeface="Times New Roman"/>
                <a:cs typeface="Times New Roman"/>
              </a:rPr>
              <a:t>Proposed</a:t>
            </a:r>
            <a:r>
              <a:rPr sz="2800" spc="-25" dirty="0">
                <a:latin typeface="Times New Roman"/>
                <a:cs typeface="Times New Roman"/>
              </a:rPr>
              <a:t> </a:t>
            </a:r>
            <a:r>
              <a:rPr sz="2800" dirty="0">
                <a:latin typeface="Times New Roman"/>
                <a:cs typeface="Times New Roman"/>
              </a:rPr>
              <a:t>Work</a:t>
            </a:r>
            <a:r>
              <a:rPr sz="2800" spc="-20" dirty="0">
                <a:latin typeface="Times New Roman"/>
                <a:cs typeface="Times New Roman"/>
              </a:rPr>
              <a:t> </a:t>
            </a:r>
            <a:r>
              <a:rPr sz="2800" spc="-10" dirty="0">
                <a:latin typeface="Times New Roman"/>
                <a:cs typeface="Times New Roman"/>
              </a:rPr>
              <a:t>-</a:t>
            </a:r>
            <a:r>
              <a:rPr sz="2800" dirty="0">
                <a:latin typeface="Times New Roman"/>
                <a:cs typeface="Times New Roman"/>
              </a:rPr>
              <a:t>(Methods</a:t>
            </a:r>
            <a:r>
              <a:rPr sz="2800" spc="-25" dirty="0">
                <a:latin typeface="Times New Roman"/>
                <a:cs typeface="Times New Roman"/>
              </a:rPr>
              <a:t> </a:t>
            </a:r>
            <a:r>
              <a:rPr sz="2800" dirty="0">
                <a:latin typeface="Times New Roman"/>
                <a:cs typeface="Times New Roman"/>
              </a:rPr>
              <a:t>to</a:t>
            </a:r>
            <a:r>
              <a:rPr sz="2800" spc="-25" dirty="0">
                <a:latin typeface="Times New Roman"/>
                <a:cs typeface="Times New Roman"/>
              </a:rPr>
              <a:t> </a:t>
            </a:r>
            <a:r>
              <a:rPr sz="2800" dirty="0">
                <a:latin typeface="Times New Roman"/>
                <a:cs typeface="Times New Roman"/>
              </a:rPr>
              <a:t>be</a:t>
            </a:r>
            <a:r>
              <a:rPr sz="2800" spc="-25" dirty="0">
                <a:latin typeface="Times New Roman"/>
                <a:cs typeface="Times New Roman"/>
              </a:rPr>
              <a:t> </a:t>
            </a:r>
            <a:r>
              <a:rPr sz="2800" dirty="0">
                <a:latin typeface="Times New Roman"/>
                <a:cs typeface="Times New Roman"/>
              </a:rPr>
              <a:t>followed</a:t>
            </a:r>
            <a:r>
              <a:rPr sz="2800" spc="-20"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proposed</a:t>
            </a:r>
            <a:r>
              <a:rPr sz="2800" spc="-20"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9CF65-8104-2EC4-946A-ADD934F86C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5A89D4-52AC-1D8D-E2E4-9A84CD4CD896}"/>
              </a:ext>
            </a:extLst>
          </p:cNvPr>
          <p:cNvSpPr txBox="1"/>
          <p:nvPr/>
        </p:nvSpPr>
        <p:spPr>
          <a:xfrm>
            <a:off x="4495800" y="0"/>
            <a:ext cx="43434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Federated learning Intrusion Detection System</a:t>
            </a:r>
            <a:endParaRPr sz="1500" dirty="0">
              <a:latin typeface="Times New Roman"/>
              <a:cs typeface="Times New Roman"/>
            </a:endParaRPr>
          </a:p>
        </p:txBody>
      </p:sp>
      <p:grpSp>
        <p:nvGrpSpPr>
          <p:cNvPr id="3" name="object 3">
            <a:extLst>
              <a:ext uri="{FF2B5EF4-FFF2-40B4-BE49-F238E27FC236}">
                <a16:creationId xmlns:a16="http://schemas.microsoft.com/office/drawing/2014/main" id="{7884F3D6-9C18-D97C-621E-0AC6E9C7CCFE}"/>
              </a:ext>
            </a:extLst>
          </p:cNvPr>
          <p:cNvGrpSpPr/>
          <p:nvPr/>
        </p:nvGrpSpPr>
        <p:grpSpPr>
          <a:xfrm>
            <a:off x="0" y="212399"/>
            <a:ext cx="12192000" cy="803275"/>
            <a:chOff x="0" y="212399"/>
            <a:chExt cx="12192000" cy="803275"/>
          </a:xfrm>
        </p:grpSpPr>
        <p:pic>
          <p:nvPicPr>
            <p:cNvPr id="4" name="object 4">
              <a:extLst>
                <a:ext uri="{FF2B5EF4-FFF2-40B4-BE49-F238E27FC236}">
                  <a16:creationId xmlns:a16="http://schemas.microsoft.com/office/drawing/2014/main" id="{BC294CF2-BB5A-8C4B-077C-8C2B04D31618}"/>
                </a:ext>
              </a:extLst>
            </p:cNvPr>
            <p:cNvPicPr/>
            <p:nvPr/>
          </p:nvPicPr>
          <p:blipFill>
            <a:blip r:embed="rId2" cstate="print"/>
            <a:stretch>
              <a:fillRect/>
            </a:stretch>
          </p:blipFill>
          <p:spPr>
            <a:xfrm>
              <a:off x="0" y="212399"/>
              <a:ext cx="12192000" cy="803160"/>
            </a:xfrm>
            <a:prstGeom prst="rect">
              <a:avLst/>
            </a:prstGeom>
          </p:spPr>
        </p:pic>
        <p:sp>
          <p:nvSpPr>
            <p:cNvPr id="5" name="object 5">
              <a:extLst>
                <a:ext uri="{FF2B5EF4-FFF2-40B4-BE49-F238E27FC236}">
                  <a16:creationId xmlns:a16="http://schemas.microsoft.com/office/drawing/2014/main" id="{A8FB50D9-09DF-4A9C-DD93-DEAAC370112A}"/>
                </a:ext>
              </a:extLst>
            </p:cNvPr>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D0A72AA6-7D3D-A8DD-3595-6DEAF17E8977}"/>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IN" dirty="0">
                <a:solidFill>
                  <a:srgbClr val="000000"/>
                </a:solidFill>
              </a:rPr>
              <a:t>Title</a:t>
            </a:r>
            <a:r>
              <a:rPr lang="en-IN" spc="-110" dirty="0">
                <a:solidFill>
                  <a:srgbClr val="000000"/>
                </a:solidFill>
              </a:rPr>
              <a:t> </a:t>
            </a:r>
            <a:r>
              <a:rPr lang="en-IN" spc="-10" dirty="0">
                <a:solidFill>
                  <a:srgbClr val="000000"/>
                </a:solidFill>
              </a:rPr>
              <a:t>Justification</a:t>
            </a:r>
            <a:endParaRPr spc="-10" dirty="0"/>
          </a:p>
        </p:txBody>
      </p:sp>
      <p:sp>
        <p:nvSpPr>
          <p:cNvPr id="8" name="object 8">
            <a:extLst>
              <a:ext uri="{FF2B5EF4-FFF2-40B4-BE49-F238E27FC236}">
                <a16:creationId xmlns:a16="http://schemas.microsoft.com/office/drawing/2014/main" id="{56137B2E-7C8B-3EB4-8089-ECC7E3119089}"/>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a:extLst>
              <a:ext uri="{FF2B5EF4-FFF2-40B4-BE49-F238E27FC236}">
                <a16:creationId xmlns:a16="http://schemas.microsoft.com/office/drawing/2014/main" id="{6BA1E2F7-A53E-88DE-1605-D6FF9E9C6857}"/>
              </a:ext>
            </a:extLst>
          </p:cNvPr>
          <p:cNvSpPr txBox="1">
            <a:spLocks noGrp="1"/>
          </p:cNvSpPr>
          <p:nvPr>
            <p:ph type="dt" sz="half" idx="6"/>
          </p:nvPr>
        </p:nvSpPr>
        <p:spPr>
          <a:xfrm>
            <a:off x="2013245" y="6629197"/>
            <a:ext cx="366141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IN" cap="small" spc="-130" dirty="0"/>
              <a:t> Engineering</a:t>
            </a:r>
            <a:r>
              <a:rPr cap="small" spc="55" dirty="0"/>
              <a:t> </a:t>
            </a:r>
            <a:endParaRPr cap="small" spc="-130" dirty="0"/>
          </a:p>
        </p:txBody>
      </p:sp>
      <p:sp>
        <p:nvSpPr>
          <p:cNvPr id="10" name="object 10">
            <a:extLst>
              <a:ext uri="{FF2B5EF4-FFF2-40B4-BE49-F238E27FC236}">
                <a16:creationId xmlns:a16="http://schemas.microsoft.com/office/drawing/2014/main" id="{799D763F-4E25-4B32-CA49-8BF68AD47EC1}"/>
              </a:ext>
            </a:extLst>
          </p:cNvPr>
          <p:cNvSpPr txBox="1"/>
          <p:nvPr/>
        </p:nvSpPr>
        <p:spPr>
          <a:xfrm>
            <a:off x="6858001" y="6629197"/>
            <a:ext cx="4180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lang="en-IN" sz="1600" cap="small" spc="-100" dirty="0">
                <a:solidFill>
                  <a:srgbClr val="FFFFFF"/>
                </a:solidFill>
                <a:latin typeface="Times New Roman"/>
                <a:cs typeface="Times New Roman"/>
              </a:rPr>
              <a:t> 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B8FD2B94-5F8B-DCE9-780E-CE375CB034A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7" name="object 7">
            <a:extLst>
              <a:ext uri="{FF2B5EF4-FFF2-40B4-BE49-F238E27FC236}">
                <a16:creationId xmlns:a16="http://schemas.microsoft.com/office/drawing/2014/main" id="{E5134579-8FEB-42B0-95A3-CC6AD188EAD1}"/>
              </a:ext>
            </a:extLst>
          </p:cNvPr>
          <p:cNvSpPr txBox="1"/>
          <p:nvPr/>
        </p:nvSpPr>
        <p:spPr>
          <a:xfrm>
            <a:off x="304800" y="959809"/>
            <a:ext cx="11256613" cy="4750339"/>
          </a:xfrm>
          <a:prstGeom prst="rect">
            <a:avLst/>
          </a:prstGeom>
        </p:spPr>
        <p:txBody>
          <a:bodyPr vert="horz" wrap="square" lIns="0" tIns="96520" rIns="0" bIns="0" rtlCol="0">
            <a:spAutoFit/>
          </a:bodyPr>
          <a:lstStyle/>
          <a:p>
            <a:r>
              <a:rPr lang="en-US" sz="2400" dirty="0">
                <a:latin typeface="Times New Roman" panose="02020603050405020304" pitchFamily="18" charset="0"/>
                <a:cs typeface="Times New Roman" panose="02020603050405020304" pitchFamily="18" charset="0"/>
              </a:rPr>
              <a:t>The title </a:t>
            </a:r>
            <a:r>
              <a:rPr lang="en-US" sz="2400" b="1" dirty="0">
                <a:latin typeface="Times New Roman" panose="02020603050405020304" pitchFamily="18" charset="0"/>
                <a:cs typeface="Times New Roman" panose="02020603050405020304" pitchFamily="18" charset="0"/>
              </a:rPr>
              <a:t>“Federated Learning–Based Intrusion Detection System”</a:t>
            </a:r>
            <a:r>
              <a:rPr lang="en-US" sz="2400" dirty="0">
                <a:latin typeface="Times New Roman" panose="02020603050405020304" pitchFamily="18" charset="0"/>
                <a:cs typeface="Times New Roman" panose="02020603050405020304" pitchFamily="18" charset="0"/>
              </a:rPr>
              <a:t> is appropriate because the project combines two key concepts: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Federated Learning</a:t>
            </a:r>
            <a:r>
              <a:rPr lang="en-US" sz="2400" dirty="0">
                <a:latin typeface="Times New Roman" panose="02020603050405020304" pitchFamily="18" charset="0"/>
                <a:cs typeface="Times New Roman" panose="02020603050405020304" pitchFamily="18" charset="0"/>
              </a:rPr>
              <a:t> – allows multiple cloud or network nodes to collaboratively train a machine learning model </a:t>
            </a:r>
            <a:r>
              <a:rPr lang="en-US" sz="2400" b="1" dirty="0">
                <a:latin typeface="Times New Roman" panose="02020603050405020304" pitchFamily="18" charset="0"/>
                <a:cs typeface="Times New Roman" panose="02020603050405020304" pitchFamily="18" charset="0"/>
              </a:rPr>
              <a:t>without sharing raw data</a:t>
            </a:r>
            <a:r>
              <a:rPr lang="en-US" sz="2400" dirty="0">
                <a:latin typeface="Times New Roman" panose="02020603050405020304" pitchFamily="18" charset="0"/>
                <a:cs typeface="Times New Roman" panose="02020603050405020304" pitchFamily="18" charset="0"/>
              </a:rPr>
              <a:t>, ensuring privacy and security.</a:t>
            </a:r>
          </a:p>
          <a:p>
            <a:r>
              <a:rPr lang="en-US" sz="2400" b="1" dirty="0">
                <a:latin typeface="Times New Roman" panose="02020603050405020304" pitchFamily="18" charset="0"/>
                <a:cs typeface="Times New Roman" panose="02020603050405020304" pitchFamily="18" charset="0"/>
              </a:rPr>
              <a:t>Intrusion Detection System (IDS)</a:t>
            </a:r>
            <a:r>
              <a:rPr lang="en-US" sz="2400" dirty="0">
                <a:latin typeface="Times New Roman" panose="02020603050405020304" pitchFamily="18" charset="0"/>
                <a:cs typeface="Times New Roman" panose="02020603050405020304" pitchFamily="18" charset="0"/>
              </a:rPr>
              <a:t> – monitors network traffic and system activity to detect </a:t>
            </a:r>
            <a:r>
              <a:rPr lang="en-US" sz="2400" b="1" dirty="0">
                <a:latin typeface="Times New Roman" panose="02020603050405020304" pitchFamily="18" charset="0"/>
                <a:cs typeface="Times New Roman" panose="02020603050405020304" pitchFamily="18" charset="0"/>
              </a:rPr>
              <a:t>malicious attacks, anomalies, and threats</a:t>
            </a:r>
            <a:r>
              <a:rPr lang="en-US" sz="2400" dirty="0">
                <a:latin typeface="Times New Roman" panose="02020603050405020304" pitchFamily="18" charset="0"/>
                <a:cs typeface="Times New Roman" panose="02020603050405020304" pitchFamily="18" charset="0"/>
              </a:rPr>
              <a:t> in real time.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Since your project focuses on </a:t>
            </a:r>
            <a:r>
              <a:rPr lang="en-US" sz="2400" b="1" dirty="0">
                <a:latin typeface="Times New Roman" panose="02020603050405020304" pitchFamily="18" charset="0"/>
                <a:cs typeface="Times New Roman" panose="02020603050405020304" pitchFamily="18" charset="0"/>
              </a:rPr>
              <a:t>detecting cyber threats while preserving user data privacy</a:t>
            </a:r>
            <a:r>
              <a:rPr lang="en-US" sz="2400" dirty="0">
                <a:latin typeface="Times New Roman" panose="02020603050405020304" pitchFamily="18" charset="0"/>
                <a:cs typeface="Times New Roman" panose="02020603050405020304" pitchFamily="18" charset="0"/>
              </a:rPr>
              <a:t>, this title clearly represents both the </a:t>
            </a:r>
            <a:r>
              <a:rPr lang="en-US" sz="2400" b="1" dirty="0">
                <a:latin typeface="Times New Roman" panose="02020603050405020304" pitchFamily="18" charset="0"/>
                <a:cs typeface="Times New Roman" panose="02020603050405020304" pitchFamily="18" charset="0"/>
              </a:rPr>
              <a:t>technology used (Federated Learning)</a:t>
            </a:r>
            <a:r>
              <a:rPr lang="en-US" sz="2400" dirty="0">
                <a:latin typeface="Times New Roman" panose="02020603050405020304" pitchFamily="18" charset="0"/>
                <a:cs typeface="Times New Roman" panose="02020603050405020304" pitchFamily="18" charset="0"/>
              </a:rPr>
              <a:t> and the </a:t>
            </a:r>
            <a:r>
              <a:rPr lang="en-US" sz="2400" b="1" dirty="0">
                <a:latin typeface="Times New Roman" panose="02020603050405020304" pitchFamily="18" charset="0"/>
                <a:cs typeface="Times New Roman" panose="02020603050405020304" pitchFamily="18" charset="0"/>
              </a:rPr>
              <a:t>purpose (Intrusion Detection)</a:t>
            </a:r>
            <a:r>
              <a:rPr lang="en-US" sz="2400" dirty="0">
                <a:latin typeface="Times New Roman" panose="02020603050405020304" pitchFamily="18" charset="0"/>
                <a:cs typeface="Times New Roman" panose="02020603050405020304" pitchFamily="18" charset="0"/>
              </a:rPr>
              <a:t>.</a:t>
            </a:r>
          </a:p>
          <a:p>
            <a:pPr marL="12700">
              <a:lnSpc>
                <a:spcPct val="150000"/>
              </a:lnSpc>
              <a:spcBef>
                <a:spcPts val="760"/>
              </a:spcBef>
              <a:tabLst>
                <a:tab pos="421005" algn="l"/>
              </a:tabLst>
            </a:pP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8045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2800" y="-26936"/>
            <a:ext cx="3838837"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Federated learning Intrusion Detection System</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5480932" y="209958"/>
            <a:ext cx="1228090" cy="452120"/>
          </a:xfrm>
          <a:prstGeom prst="rect">
            <a:avLst/>
          </a:prstGeom>
        </p:spPr>
        <p:txBody>
          <a:bodyPr vert="horz" wrap="square" lIns="0" tIns="12700" rIns="0" bIns="0" rtlCol="0">
            <a:spAutoFit/>
          </a:bodyPr>
          <a:lstStyle/>
          <a:p>
            <a:pPr marL="12700">
              <a:lnSpc>
                <a:spcPct val="100000"/>
              </a:lnSpc>
              <a:spcBef>
                <a:spcPts val="100"/>
              </a:spcBef>
            </a:pPr>
            <a:r>
              <a:rPr sz="2800" spc="-10" dirty="0">
                <a:solidFill>
                  <a:srgbClr val="000000"/>
                </a:solidFill>
              </a:rPr>
              <a:t>Abstract</a:t>
            </a:r>
            <a:endParaRPr sz="280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p:cNvSpPr txBox="1">
            <a:spLocks noGrp="1"/>
          </p:cNvSpPr>
          <p:nvPr>
            <p:ph type="dt" sz="half" idx="6"/>
          </p:nvPr>
        </p:nvSpPr>
        <p:spPr>
          <a:xfrm>
            <a:off x="1247734" y="6641281"/>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09022" y="6605614"/>
            <a:ext cx="4235244" cy="23083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7" name="object 7"/>
          <p:cNvSpPr txBox="1"/>
          <p:nvPr/>
        </p:nvSpPr>
        <p:spPr>
          <a:xfrm>
            <a:off x="179402" y="935230"/>
            <a:ext cx="11613843" cy="4377802"/>
          </a:xfrm>
          <a:prstGeom prst="rect">
            <a:avLst/>
          </a:prstGeom>
        </p:spPr>
        <p:txBody>
          <a:bodyPr vert="horz" wrap="square" lIns="0" tIns="12065" rIns="0" bIns="0"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Federated Learning – Intrusion Detection</a:t>
            </a:r>
            <a:r>
              <a:rPr lang="en-US" sz="2400" dirty="0">
                <a:latin typeface="Times New Roman" panose="02020603050405020304" pitchFamily="18" charset="0"/>
                <a:cs typeface="Times New Roman" panose="02020603050405020304" pitchFamily="18" charset="0"/>
              </a:rPr>
              <a:t> System is designed to secure cloud environments in a collaborative and efficient way. It allows multiple cloud clients to train threat detection models locally, while a central server aggregates updates to build a stronger global model. The system protects sensitive data by keeping it private, detects attacks like malware and intrusions quickly, and reduces manual monitoring through automated alerts and adaptive learning. Overall, it makes cloud security smarter, faster, and more privacy-compliant for both providers and users.</a:t>
            </a: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2800" y="-28323"/>
            <a:ext cx="386562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Federated learning Intrusion Detection System</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85" dirty="0"/>
              <a:t> </a:t>
            </a:r>
            <a:r>
              <a:rPr spc="-10" dirty="0"/>
              <a:t>Statement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p:cNvSpPr txBox="1">
            <a:spLocks noGrp="1"/>
          </p:cNvSpPr>
          <p:nvPr>
            <p:ph type="dt" sz="half" idx="6"/>
          </p:nvPr>
        </p:nvSpPr>
        <p:spPr>
          <a:xfrm>
            <a:off x="1262974" y="6629197"/>
            <a:ext cx="4071026" cy="228803"/>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05600" y="6607175"/>
            <a:ext cx="4223426"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7" name="object 7"/>
          <p:cNvSpPr txBox="1">
            <a:spLocks noGrp="1"/>
          </p:cNvSpPr>
          <p:nvPr>
            <p:ph type="body" idx="1"/>
          </p:nvPr>
        </p:nvSpPr>
        <p:spPr>
          <a:xfrm>
            <a:off x="149031" y="1166328"/>
            <a:ext cx="11346815" cy="3139321"/>
          </a:xfrm>
          <a:prstGeom prst="rect">
            <a:avLst/>
          </a:prstGeom>
        </p:spPr>
        <p:txBody>
          <a:bodyPr vert="horz" wrap="square" lIns="0" tIns="60960" rIns="0" bIns="0" rtlCol="0">
            <a:spAutoFit/>
          </a:bodyPr>
          <a:lstStyle/>
          <a:p>
            <a:pPr marL="12700" marR="5080">
              <a:lnSpc>
                <a:spcPts val="3020"/>
              </a:lnSpc>
              <a:spcBef>
                <a:spcPts val="480"/>
              </a:spcBef>
              <a:tabLst>
                <a:tab pos="505459" algn="l"/>
                <a:tab pos="2227580" algn="l"/>
                <a:tab pos="4404995" algn="l"/>
                <a:tab pos="4942840" algn="l"/>
                <a:tab pos="6308090" algn="l"/>
                <a:tab pos="7319645" algn="l"/>
                <a:tab pos="7838440" algn="l"/>
                <a:tab pos="9808210" algn="l"/>
                <a:tab pos="10503535" algn="l"/>
              </a:tabLst>
            </a:pPr>
            <a:r>
              <a:rPr lang="en-US" dirty="0">
                <a:latin typeface="Times New Roman" panose="02020603050405020304" pitchFamily="18" charset="0"/>
                <a:cs typeface="Times New Roman" panose="02020603050405020304" pitchFamily="18" charset="0"/>
              </a:rPr>
              <a:t>“Traditional IDS systems require centralizing security logs, which exposes sensitive user data and violates privacy regulations. With increasing cyber-attacks in cloud platforms, there is a need for a secure IDS that can detect threats without sharing raw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project develops a Federated Learning-based Intrusion Detection System (FL-IDS) that allows multiple cloud nodes to collaboratively train a threat-detection model while keeping all sensitive data local, ensuring both strong security and privacy preservation.”</a:t>
            </a:r>
            <a:endParaRPr spc="-1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2800" y="-18836"/>
            <a:ext cx="383986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Federated learning Intrusion Detection System</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3145790" algn="l"/>
              </a:tabLst>
            </a:pPr>
            <a:r>
              <a:rPr dirty="0"/>
              <a:t>Objectives</a:t>
            </a:r>
            <a:r>
              <a:rPr spc="-60" dirty="0"/>
              <a:t> </a:t>
            </a:r>
            <a:r>
              <a:rPr spc="-25" dirty="0"/>
              <a:t>of</a:t>
            </a:r>
            <a:r>
              <a:rPr dirty="0"/>
              <a:t>	</a:t>
            </a:r>
            <a:r>
              <a:rPr spc="-10" dirty="0"/>
              <a:t>Project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93451"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7" name="object 7"/>
          <p:cNvSpPr txBox="1"/>
          <p:nvPr/>
        </p:nvSpPr>
        <p:spPr>
          <a:xfrm>
            <a:off x="272465" y="1110318"/>
            <a:ext cx="11619230" cy="3270447"/>
          </a:xfrm>
          <a:prstGeom prst="rect">
            <a:avLst/>
          </a:prstGeom>
        </p:spPr>
        <p:txBody>
          <a:bodyPr vert="horz" wrap="square" lIns="0" tIns="12700" rIns="0" bIns="0"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Objective 1:</a:t>
            </a:r>
          </a:p>
          <a:p>
            <a:pPr>
              <a:lnSpc>
                <a:spcPct val="150000"/>
              </a:lnSpc>
            </a:pPr>
            <a:r>
              <a:rPr lang="en-US" sz="2400" dirty="0">
                <a:latin typeface="Times New Roman" panose="02020603050405020304" pitchFamily="18" charset="0"/>
                <a:cs typeface="Times New Roman" panose="02020603050405020304" pitchFamily="18" charset="0"/>
              </a:rPr>
              <a:t>To design a federated learning framework that enables multiple cloud clients to collaboratively train threat detection models without sharing raw data.</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Objective 2:</a:t>
            </a:r>
          </a:p>
          <a:p>
            <a:pPr>
              <a:lnSpc>
                <a:spcPct val="150000"/>
              </a:lnSpc>
            </a:pPr>
            <a:r>
              <a:rPr lang="en-US" sz="2400" dirty="0">
                <a:latin typeface="Times New Roman" panose="02020603050405020304" pitchFamily="18" charset="0"/>
                <a:cs typeface="Times New Roman" panose="02020603050405020304" pitchFamily="18" charset="0"/>
              </a:rPr>
              <a:t>To enhance cloud security and privacy by automating threat identification, anomaly detection, and alert generation while ensuring compliance with data protection regulations.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2800" y="0"/>
            <a:ext cx="6806310" cy="243656"/>
          </a:xfrm>
          <a:prstGeom prst="rect">
            <a:avLst/>
          </a:prstGeom>
        </p:spPr>
        <p:txBody>
          <a:bodyPr vert="horz" wrap="square" lIns="0" tIns="12700" rIns="0" bIns="0" rtlCol="0">
            <a:spAutoFit/>
          </a:bodyPr>
          <a:lstStyle/>
          <a:p>
            <a:pPr marL="12700">
              <a:lnSpc>
                <a:spcPct val="100000"/>
              </a:lnSpc>
              <a:spcBef>
                <a:spcPts val="100"/>
              </a:spcBef>
            </a:pPr>
            <a:r>
              <a:rPr lang="en-IN" sz="1500" b="1" i="1" spc="-10" dirty="0">
                <a:solidFill>
                  <a:srgbClr val="FFFFFF"/>
                </a:solidFill>
              </a:rPr>
              <a:t>                                    </a:t>
            </a:r>
            <a:r>
              <a:rPr lang="en-IN" sz="1500" b="1" i="1" dirty="0">
                <a:solidFill>
                  <a:srgbClr val="FFFFFF"/>
                </a:solidFill>
              </a:rPr>
              <a:t> Federated learning Intrusion Detection System</a:t>
            </a:r>
            <a:endParaRPr sz="1500" dirty="0">
              <a:latin typeface="Times New Roman"/>
              <a:cs typeface="Times New Roman"/>
            </a:endParaRPr>
          </a:p>
        </p:txBody>
      </p:sp>
      <p:grpSp>
        <p:nvGrpSpPr>
          <p:cNvPr id="3" name="object 3"/>
          <p:cNvGrpSpPr/>
          <p:nvPr/>
        </p:nvGrpSpPr>
        <p:grpSpPr>
          <a:xfrm>
            <a:off x="0" y="216408"/>
            <a:ext cx="12192000" cy="803275"/>
            <a:chOff x="0" y="216408"/>
            <a:chExt cx="12192000" cy="803275"/>
          </a:xfrm>
        </p:grpSpPr>
        <p:pic>
          <p:nvPicPr>
            <p:cNvPr id="4" name="object 4"/>
            <p:cNvPicPr/>
            <p:nvPr/>
          </p:nvPicPr>
          <p:blipFill>
            <a:blip r:embed="rId3" cstate="print"/>
            <a:stretch>
              <a:fillRect/>
            </a:stretch>
          </p:blipFill>
          <p:spPr>
            <a:xfrm>
              <a:off x="0" y="216408"/>
              <a:ext cx="12192000" cy="803148"/>
            </a:xfrm>
            <a:prstGeom prst="rect">
              <a:avLst/>
            </a:prstGeom>
          </p:spPr>
        </p:pic>
        <p:sp>
          <p:nvSpPr>
            <p:cNvPr id="5" name="object 5"/>
            <p:cNvSpPr/>
            <p:nvPr/>
          </p:nvSpPr>
          <p:spPr>
            <a:xfrm>
              <a:off x="0" y="233159"/>
              <a:ext cx="12192000" cy="715010"/>
            </a:xfrm>
            <a:custGeom>
              <a:avLst/>
              <a:gdLst/>
              <a:ahLst/>
              <a:cxnLst/>
              <a:rect l="l" t="t" r="r" b="b"/>
              <a:pathLst>
                <a:path w="12192000" h="715010">
                  <a:moveTo>
                    <a:pt x="12192000" y="0"/>
                  </a:moveTo>
                  <a:lnTo>
                    <a:pt x="0" y="0"/>
                  </a:lnTo>
                  <a:lnTo>
                    <a:pt x="0" y="714387"/>
                  </a:lnTo>
                  <a:lnTo>
                    <a:pt x="12192000" y="714387"/>
                  </a:lnTo>
                  <a:lnTo>
                    <a:pt x="12192000" y="0"/>
                  </a:lnTo>
                  <a:close/>
                </a:path>
              </a:pathLst>
            </a:custGeom>
            <a:solidFill>
              <a:srgbClr val="FF6600"/>
            </a:solidFill>
          </p:spPr>
          <p:txBody>
            <a:bodyPr wrap="square" lIns="0" tIns="0" rIns="0" bIns="0" rtlCol="0"/>
            <a:lstStyle/>
            <a:p>
              <a:endParaRPr/>
            </a:p>
          </p:txBody>
        </p:sp>
      </p:grpSp>
      <p:sp>
        <p:nvSpPr>
          <p:cNvPr id="6" name="object 6"/>
          <p:cNvSpPr txBox="1"/>
          <p:nvPr/>
        </p:nvSpPr>
        <p:spPr>
          <a:xfrm>
            <a:off x="133908" y="232028"/>
            <a:ext cx="3936365" cy="696595"/>
          </a:xfrm>
          <a:prstGeom prst="rect">
            <a:avLst/>
          </a:prstGeom>
        </p:spPr>
        <p:txBody>
          <a:bodyPr vert="horz" wrap="square" lIns="0" tIns="12700" rIns="0" bIns="0" rtlCol="0">
            <a:spAutoFit/>
          </a:bodyPr>
          <a:lstStyle/>
          <a:p>
            <a:pPr marL="12700">
              <a:lnSpc>
                <a:spcPct val="100000"/>
              </a:lnSpc>
              <a:spcBef>
                <a:spcPts val="100"/>
              </a:spcBef>
            </a:pPr>
            <a:r>
              <a:rPr sz="4400" dirty="0">
                <a:solidFill>
                  <a:srgbClr val="FFFFFF"/>
                </a:solidFill>
                <a:latin typeface="Times New Roman"/>
                <a:cs typeface="Times New Roman"/>
              </a:rPr>
              <a:t>Literature</a:t>
            </a:r>
            <a:r>
              <a:rPr sz="4400" spc="-100" dirty="0">
                <a:solidFill>
                  <a:srgbClr val="FFFFFF"/>
                </a:solidFill>
                <a:latin typeface="Times New Roman"/>
                <a:cs typeface="Times New Roman"/>
              </a:rPr>
              <a:t> </a:t>
            </a:r>
            <a:r>
              <a:rPr sz="4400" spc="-10" dirty="0">
                <a:solidFill>
                  <a:srgbClr val="FFFFFF"/>
                </a:solidFill>
                <a:latin typeface="Times New Roman"/>
                <a:cs typeface="Times New Roman"/>
              </a:rPr>
              <a:t>Survey</a:t>
            </a:r>
            <a:endParaRPr sz="4400" dirty="0">
              <a:latin typeface="Times New Roman"/>
              <a:cs typeface="Times New Roman"/>
            </a:endParaRPr>
          </a:p>
        </p:txBody>
      </p:sp>
      <p:sp>
        <p:nvSpPr>
          <p:cNvPr id="8" name="object 8"/>
          <p:cNvSpPr txBox="1"/>
          <p:nvPr/>
        </p:nvSpPr>
        <p:spPr>
          <a:xfrm>
            <a:off x="140614" y="6608595"/>
            <a:ext cx="535305" cy="230832"/>
          </a:xfrm>
          <a:prstGeom prst="rect">
            <a:avLst/>
          </a:prstGeom>
        </p:spPr>
        <p:txBody>
          <a:bodyPr vert="horz" wrap="square" lIns="0" tIns="0" rIns="0" bIns="0" rtlCol="0">
            <a:spAutoFit/>
          </a:bodyPr>
          <a:lstStyle/>
          <a:p>
            <a:pPr marL="12700">
              <a:lnSpc>
                <a:spcPts val="1839"/>
              </a:lnSpc>
            </a:pPr>
            <a:r>
              <a:rPr lang="en-IN" sz="1600" dirty="0">
                <a:solidFill>
                  <a:srgbClr val="FFFFFF"/>
                </a:solidFill>
                <a:latin typeface="Times New Roman"/>
                <a:cs typeface="Times New Roman"/>
              </a:rPr>
              <a:t>B -15</a:t>
            </a:r>
            <a:endParaRPr sz="1600" dirty="0">
              <a:latin typeface="Times New Roman"/>
              <a:cs typeface="Times New Roman"/>
            </a:endParaRPr>
          </a:p>
        </p:txBody>
      </p:sp>
      <p:sp>
        <p:nvSpPr>
          <p:cNvPr id="9" name="object 9"/>
          <p:cNvSpPr txBox="1">
            <a:spLocks noGrp="1"/>
          </p:cNvSpPr>
          <p:nvPr>
            <p:ph type="ftr" sz="quarter" idx="5"/>
          </p:nvPr>
        </p:nvSpPr>
        <p:spPr>
          <a:xfrm>
            <a:off x="1121765" y="6607681"/>
            <a:ext cx="4474184" cy="230832"/>
          </a:xfrm>
          <a:prstGeom prst="rect">
            <a:avLst/>
          </a:prstGeom>
        </p:spPr>
        <p:txBody>
          <a:bodyPr vert="horz" wrap="square" lIns="0" tIns="0" rIns="0" bIns="0" rtlCol="0">
            <a:spAutoFit/>
          </a:bodyPr>
          <a:lstStyle/>
          <a:p>
            <a:pPr marL="12700">
              <a:lnSpc>
                <a:spcPts val="1839"/>
              </a:lnSpc>
            </a:pPr>
            <a:r>
              <a:rPr cap="small" spc="-70" dirty="0"/>
              <a:t>Dept.</a:t>
            </a:r>
            <a:r>
              <a:rPr cap="small" spc="-130" dirty="0"/>
              <a:t> </a:t>
            </a:r>
            <a:r>
              <a:rPr cap="small" dirty="0"/>
              <a:t>of</a:t>
            </a:r>
            <a:r>
              <a:rPr cap="small" spc="55" dirty="0"/>
              <a:t> </a:t>
            </a:r>
            <a:r>
              <a:rPr cap="small" spc="-95" dirty="0"/>
              <a:t>Computer</a:t>
            </a:r>
            <a:r>
              <a:rPr cap="small" spc="45" dirty="0"/>
              <a:t> </a:t>
            </a:r>
            <a:r>
              <a:rPr cap="small" spc="-75" dirty="0"/>
              <a:t>Science</a:t>
            </a:r>
            <a:r>
              <a:rPr cap="small" spc="15" dirty="0"/>
              <a:t> </a:t>
            </a:r>
            <a:r>
              <a:rPr cap="small" spc="-40" dirty="0"/>
              <a:t>and</a:t>
            </a:r>
            <a:r>
              <a:rPr cap="small" spc="45" dirty="0"/>
              <a:t> </a:t>
            </a:r>
            <a:r>
              <a:rPr cap="small" spc="-90" dirty="0"/>
              <a:t>Engineering</a:t>
            </a:r>
            <a:r>
              <a:rPr cap="small" spc="-50" dirty="0"/>
              <a:t> </a:t>
            </a:r>
            <a:endParaRPr cap="small" spc="-125" dirty="0"/>
          </a:p>
        </p:txBody>
      </p:sp>
      <p:sp>
        <p:nvSpPr>
          <p:cNvPr id="10" name="object 10"/>
          <p:cNvSpPr txBox="1">
            <a:spLocks noGrp="1"/>
          </p:cNvSpPr>
          <p:nvPr>
            <p:ph type="dt" sz="half" idx="6"/>
          </p:nvPr>
        </p:nvSpPr>
        <p:spPr>
          <a:xfrm>
            <a:off x="6249315" y="6611112"/>
            <a:ext cx="4800600" cy="235549"/>
          </a:xfrm>
          <a:prstGeom prst="rect">
            <a:avLst/>
          </a:prstGeom>
        </p:spPr>
        <p:txBody>
          <a:bodyPr vert="horz" wrap="square" lIns="0" tIns="0" rIns="0" bIns="0" rtlCol="0">
            <a:spAutoFit/>
          </a:bodyPr>
          <a:lstStyle/>
          <a:p>
            <a:pPr marL="509270">
              <a:lnSpc>
                <a:spcPts val="1839"/>
              </a:lnSpc>
            </a:pPr>
            <a:r>
              <a:rPr lang="en-IN" cap="small" spc="-85" dirty="0"/>
              <a:t>Srinivasa</a:t>
            </a:r>
            <a:r>
              <a:rPr lang="en-IN" cap="small" spc="-10" dirty="0"/>
              <a:t> </a:t>
            </a:r>
            <a:r>
              <a:rPr lang="en-IN" cap="small" spc="-95" dirty="0"/>
              <a:t>Ramanujan</a:t>
            </a:r>
            <a:r>
              <a:rPr lang="en-IN" cap="small" spc="-20" dirty="0"/>
              <a:t> </a:t>
            </a:r>
            <a:r>
              <a:rPr lang="en-IN" cap="small" spc="-95" dirty="0"/>
              <a:t>Institute</a:t>
            </a:r>
            <a:r>
              <a:rPr lang="en-IN" cap="small" spc="80" dirty="0"/>
              <a:t> </a:t>
            </a:r>
            <a:r>
              <a:rPr lang="en-IN" cap="small" dirty="0"/>
              <a:t>of</a:t>
            </a:r>
            <a:r>
              <a:rPr lang="en-IN" cap="small" spc="145" dirty="0"/>
              <a:t> </a:t>
            </a:r>
            <a:r>
              <a:rPr lang="en-IN" cap="small" spc="-155" dirty="0"/>
              <a:t>Technology</a:t>
            </a:r>
            <a:endParaRPr cap="small" spc="-155" dirty="0"/>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839"/>
              </a:lnSpc>
            </a:pPr>
            <a:fld id="{81D60167-4931-47E6-BA6A-407CBD079E47}" type="slidenum">
              <a:rPr spc="-25" dirty="0"/>
              <a:t>7</a:t>
            </a:fld>
            <a:endParaRPr spc="-25" dirty="0"/>
          </a:p>
        </p:txBody>
      </p:sp>
      <p:graphicFrame>
        <p:nvGraphicFramePr>
          <p:cNvPr id="7" name="object 7"/>
          <p:cNvGraphicFramePr>
            <a:graphicFrameLocks noGrp="1"/>
          </p:cNvGraphicFramePr>
          <p:nvPr>
            <p:extLst>
              <p:ext uri="{D42A27DB-BD31-4B8C-83A1-F6EECF244321}">
                <p14:modId xmlns:p14="http://schemas.microsoft.com/office/powerpoint/2010/main" val="3293364060"/>
              </p:ext>
            </p:extLst>
          </p:nvPr>
        </p:nvGraphicFramePr>
        <p:xfrm>
          <a:off x="592159" y="1019557"/>
          <a:ext cx="10761643" cy="5497192"/>
        </p:xfrm>
        <a:graphic>
          <a:graphicData uri="http://schemas.openxmlformats.org/drawingml/2006/table">
            <a:tbl>
              <a:tblPr firstRow="1" bandRow="1">
                <a:tableStyleId>{2D5ABB26-0587-4C30-8999-92F81FD0307C}</a:tableStyleId>
              </a:tblPr>
              <a:tblGrid>
                <a:gridCol w="476673">
                  <a:extLst>
                    <a:ext uri="{9D8B030D-6E8A-4147-A177-3AD203B41FA5}">
                      <a16:colId xmlns:a16="http://schemas.microsoft.com/office/drawing/2014/main" val="20000"/>
                    </a:ext>
                  </a:extLst>
                </a:gridCol>
                <a:gridCol w="1859202">
                  <a:extLst>
                    <a:ext uri="{9D8B030D-6E8A-4147-A177-3AD203B41FA5}">
                      <a16:colId xmlns:a16="http://schemas.microsoft.com/office/drawing/2014/main" val="20001"/>
                    </a:ext>
                  </a:extLst>
                </a:gridCol>
                <a:gridCol w="1405678">
                  <a:extLst>
                    <a:ext uri="{9D8B030D-6E8A-4147-A177-3AD203B41FA5}">
                      <a16:colId xmlns:a16="http://schemas.microsoft.com/office/drawing/2014/main" val="20002"/>
                    </a:ext>
                  </a:extLst>
                </a:gridCol>
                <a:gridCol w="1424674">
                  <a:extLst>
                    <a:ext uri="{9D8B030D-6E8A-4147-A177-3AD203B41FA5}">
                      <a16:colId xmlns:a16="http://schemas.microsoft.com/office/drawing/2014/main" val="20003"/>
                    </a:ext>
                  </a:extLst>
                </a:gridCol>
                <a:gridCol w="1686154">
                  <a:extLst>
                    <a:ext uri="{9D8B030D-6E8A-4147-A177-3AD203B41FA5}">
                      <a16:colId xmlns:a16="http://schemas.microsoft.com/office/drawing/2014/main" val="20004"/>
                    </a:ext>
                  </a:extLst>
                </a:gridCol>
                <a:gridCol w="2104671">
                  <a:extLst>
                    <a:ext uri="{9D8B030D-6E8A-4147-A177-3AD203B41FA5}">
                      <a16:colId xmlns:a16="http://schemas.microsoft.com/office/drawing/2014/main" val="20005"/>
                    </a:ext>
                  </a:extLst>
                </a:gridCol>
                <a:gridCol w="1804591">
                  <a:extLst>
                    <a:ext uri="{9D8B030D-6E8A-4147-A177-3AD203B41FA5}">
                      <a16:colId xmlns:a16="http://schemas.microsoft.com/office/drawing/2014/main" val="20006"/>
                    </a:ext>
                  </a:extLst>
                </a:gridCol>
              </a:tblGrid>
              <a:tr h="862684">
                <a:tc>
                  <a:txBody>
                    <a:bodyPr/>
                    <a:lstStyle/>
                    <a:p>
                      <a:pPr marL="85090">
                        <a:lnSpc>
                          <a:spcPts val="2150"/>
                        </a:lnSpc>
                      </a:pPr>
                      <a:r>
                        <a:rPr lang="en-IN" sz="1300" b="1" spc="-25" dirty="0">
                          <a:solidFill>
                            <a:srgbClr val="FFFFFF"/>
                          </a:solidFill>
                          <a:latin typeface="Times New Roman" panose="02020603050405020304" pitchFamily="18" charset="0"/>
                          <a:cs typeface="Times New Roman" panose="02020603050405020304" pitchFamily="18" charset="0"/>
                        </a:rPr>
                        <a:t>No</a:t>
                      </a:r>
                      <a:endParaRPr lang="en-IN" sz="13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090">
                        <a:lnSpc>
                          <a:spcPts val="2150"/>
                        </a:lnSpc>
                      </a:pPr>
                      <a:r>
                        <a:rPr lang="en-IN" sz="1300" b="1" spc="-10">
                          <a:solidFill>
                            <a:srgbClr val="FFFFFF"/>
                          </a:solidFill>
                          <a:latin typeface="Times New Roman" panose="02020603050405020304" pitchFamily="18" charset="0"/>
                          <a:cs typeface="Times New Roman" panose="02020603050405020304" pitchFamily="18" charset="0"/>
                        </a:rPr>
                        <a:t>Title</a:t>
                      </a:r>
                      <a:endParaRPr lang="en-IN" sz="130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090">
                        <a:lnSpc>
                          <a:spcPts val="2150"/>
                        </a:lnSpc>
                      </a:pPr>
                      <a:r>
                        <a:rPr lang="en-IN" sz="1300" b="1" spc="-10">
                          <a:solidFill>
                            <a:srgbClr val="FFFFFF"/>
                          </a:solidFill>
                          <a:latin typeface="Times New Roman" panose="02020603050405020304" pitchFamily="18" charset="0"/>
                          <a:cs typeface="Times New Roman" panose="02020603050405020304" pitchFamily="18" charset="0"/>
                        </a:rPr>
                        <a:t>Author</a:t>
                      </a:r>
                      <a:endParaRPr lang="en-IN" sz="130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marR="137795">
                        <a:lnSpc>
                          <a:spcPts val="2160"/>
                        </a:lnSpc>
                        <a:spcBef>
                          <a:spcPts val="60"/>
                        </a:spcBef>
                      </a:pPr>
                      <a:r>
                        <a:rPr lang="en-IN" sz="1300" b="1">
                          <a:solidFill>
                            <a:srgbClr val="FFFFFF"/>
                          </a:solidFill>
                          <a:latin typeface="Times New Roman" panose="02020603050405020304" pitchFamily="18" charset="0"/>
                          <a:cs typeface="Times New Roman" panose="02020603050405020304" pitchFamily="18" charset="0"/>
                        </a:rPr>
                        <a:t>Journal</a:t>
                      </a:r>
                      <a:r>
                        <a:rPr lang="en-IN" sz="1300" b="1" spc="-75">
                          <a:solidFill>
                            <a:srgbClr val="FFFFFF"/>
                          </a:solidFill>
                          <a:latin typeface="Times New Roman" panose="02020603050405020304" pitchFamily="18" charset="0"/>
                          <a:cs typeface="Times New Roman" panose="02020603050405020304" pitchFamily="18" charset="0"/>
                        </a:rPr>
                        <a:t> </a:t>
                      </a:r>
                      <a:r>
                        <a:rPr lang="en-IN" sz="1300" b="1" spc="-30">
                          <a:solidFill>
                            <a:srgbClr val="FFFFFF"/>
                          </a:solidFill>
                          <a:latin typeface="Times New Roman" panose="02020603050405020304" pitchFamily="18" charset="0"/>
                          <a:cs typeface="Times New Roman" panose="02020603050405020304" pitchFamily="18" charset="0"/>
                        </a:rPr>
                        <a:t>Name </a:t>
                      </a:r>
                      <a:r>
                        <a:rPr lang="en-IN" sz="1300" b="1">
                          <a:solidFill>
                            <a:srgbClr val="FFFFFF"/>
                          </a:solidFill>
                          <a:latin typeface="Times New Roman" panose="02020603050405020304" pitchFamily="18" charset="0"/>
                          <a:cs typeface="Times New Roman" panose="02020603050405020304" pitchFamily="18" charset="0"/>
                        </a:rPr>
                        <a:t>&amp;</a:t>
                      </a:r>
                      <a:r>
                        <a:rPr lang="en-IN" sz="1300" b="1" spc="-10">
                          <a:solidFill>
                            <a:srgbClr val="FFFFFF"/>
                          </a:solidFill>
                          <a:latin typeface="Times New Roman" panose="02020603050405020304" pitchFamily="18" charset="0"/>
                          <a:cs typeface="Times New Roman" panose="02020603050405020304" pitchFamily="18" charset="0"/>
                        </a:rPr>
                        <a:t> </a:t>
                      </a:r>
                      <a:r>
                        <a:rPr lang="en-IN" sz="1300" b="1" spc="-20">
                          <a:solidFill>
                            <a:srgbClr val="FFFFFF"/>
                          </a:solidFill>
                          <a:latin typeface="Times New Roman" panose="02020603050405020304" pitchFamily="18" charset="0"/>
                          <a:cs typeface="Times New Roman" panose="02020603050405020304" pitchFamily="18" charset="0"/>
                        </a:rPr>
                        <a:t>Year</a:t>
                      </a:r>
                      <a:endParaRPr lang="en-IN" sz="1300">
                        <a:latin typeface="Times New Roman" panose="02020603050405020304" pitchFamily="18" charset="0"/>
                        <a:cs typeface="Times New Roman" panose="02020603050405020304" pitchFamily="18" charset="0"/>
                      </a:endParaRPr>
                    </a:p>
                  </a:txBody>
                  <a:tcPr marL="0" marR="0" marT="53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marR="513715">
                        <a:lnSpc>
                          <a:spcPts val="2160"/>
                        </a:lnSpc>
                        <a:spcBef>
                          <a:spcPts val="60"/>
                        </a:spcBef>
                      </a:pPr>
                      <a:r>
                        <a:rPr lang="en-IN" sz="1300" b="1" spc="-10">
                          <a:solidFill>
                            <a:srgbClr val="FFFFFF"/>
                          </a:solidFill>
                          <a:latin typeface="Times New Roman" panose="02020603050405020304" pitchFamily="18" charset="0"/>
                          <a:cs typeface="Times New Roman" panose="02020603050405020304" pitchFamily="18" charset="0"/>
                        </a:rPr>
                        <a:t>Methodology Adapted</a:t>
                      </a:r>
                      <a:endParaRPr lang="en-IN" sz="1300">
                        <a:latin typeface="Times New Roman" panose="02020603050405020304" pitchFamily="18" charset="0"/>
                        <a:cs typeface="Times New Roman" panose="02020603050405020304" pitchFamily="18" charset="0"/>
                      </a:endParaRPr>
                    </a:p>
                  </a:txBody>
                  <a:tcPr marL="0" marR="0" marT="53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a:lnSpc>
                          <a:spcPts val="2150"/>
                        </a:lnSpc>
                      </a:pPr>
                      <a:r>
                        <a:rPr lang="en-IN" sz="1300" b="1">
                          <a:solidFill>
                            <a:srgbClr val="FFFFFF"/>
                          </a:solidFill>
                          <a:latin typeface="Times New Roman" panose="02020603050405020304" pitchFamily="18" charset="0"/>
                          <a:cs typeface="Times New Roman" panose="02020603050405020304" pitchFamily="18" charset="0"/>
                        </a:rPr>
                        <a:t>Key</a:t>
                      </a:r>
                      <a:r>
                        <a:rPr lang="en-IN" sz="1300" b="1" spc="-40">
                          <a:solidFill>
                            <a:srgbClr val="FFFFFF"/>
                          </a:solidFill>
                          <a:latin typeface="Times New Roman" panose="02020603050405020304" pitchFamily="18" charset="0"/>
                          <a:cs typeface="Times New Roman" panose="02020603050405020304" pitchFamily="18" charset="0"/>
                        </a:rPr>
                        <a:t> </a:t>
                      </a:r>
                      <a:r>
                        <a:rPr lang="en-IN" sz="1300" b="1" spc="-10">
                          <a:solidFill>
                            <a:srgbClr val="FFFFFF"/>
                          </a:solidFill>
                          <a:latin typeface="Times New Roman" panose="02020603050405020304" pitchFamily="18" charset="0"/>
                          <a:cs typeface="Times New Roman" panose="02020603050405020304" pitchFamily="18" charset="0"/>
                        </a:rPr>
                        <a:t>Findings</a:t>
                      </a:r>
                      <a:endParaRPr lang="en-IN" sz="130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7630">
                        <a:lnSpc>
                          <a:spcPts val="2150"/>
                        </a:lnSpc>
                      </a:pPr>
                      <a:r>
                        <a:rPr lang="en-IN" sz="1300" b="1" spc="-20" dirty="0">
                          <a:solidFill>
                            <a:srgbClr val="FFFFFF"/>
                          </a:solidFill>
                          <a:latin typeface="Times New Roman" panose="02020603050405020304" pitchFamily="18" charset="0"/>
                          <a:cs typeface="Times New Roman" panose="02020603050405020304" pitchFamily="18" charset="0"/>
                        </a:rPr>
                        <a:t>Gaps</a:t>
                      </a:r>
                      <a:endParaRPr lang="en-IN" sz="13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extLst>
                  <a:ext uri="{0D108BD9-81ED-4DB2-BD59-A6C34878D82A}">
                    <a16:rowId xmlns:a16="http://schemas.microsoft.com/office/drawing/2014/main" val="10000"/>
                  </a:ext>
                </a:extLst>
              </a:tr>
              <a:tr h="2847410">
                <a:tc>
                  <a:txBody>
                    <a:bodyPr/>
                    <a:lstStyle/>
                    <a:p>
                      <a:pPr marL="85090">
                        <a:lnSpc>
                          <a:spcPts val="2155"/>
                        </a:lnSpc>
                      </a:pPr>
                      <a:r>
                        <a:rPr lang="en-IN" sz="1300" spc="-25" dirty="0">
                          <a:latin typeface="Times New Roman" panose="02020603050405020304" pitchFamily="18" charset="0"/>
                          <a:cs typeface="Times New Roman" panose="02020603050405020304" pitchFamily="18" charset="0"/>
                        </a:rPr>
                        <a:t>1.</a:t>
                      </a:r>
                      <a:endParaRPr lang="en-IN" sz="13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090" marR="195580">
                        <a:lnSpc>
                          <a:spcPts val="2160"/>
                        </a:lnSpc>
                        <a:spcBef>
                          <a:spcPts val="65"/>
                        </a:spcBef>
                      </a:pPr>
                      <a:r>
                        <a:rPr lang="en-US" sz="1300" dirty="0">
                          <a:latin typeface="Times New Roman" panose="02020603050405020304" pitchFamily="18" charset="0"/>
                          <a:cs typeface="Times New Roman" panose="02020603050405020304" pitchFamily="18" charset="0"/>
                        </a:rPr>
                        <a:t>Federated Learning-Based Intrusion Detection System for Cloud Networks</a:t>
                      </a:r>
                    </a:p>
                  </a:txBody>
                  <a:tcPr marL="0" marR="0" marT="578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090" marR="629285">
                        <a:lnSpc>
                          <a:spcPts val="2160"/>
                        </a:lnSpc>
                        <a:spcBef>
                          <a:spcPts val="65"/>
                        </a:spcBef>
                      </a:pPr>
                      <a:r>
                        <a:rPr lang="en-IN" sz="1300" dirty="0">
                          <a:latin typeface="Times New Roman" panose="02020603050405020304" pitchFamily="18" charset="0"/>
                          <a:cs typeface="Times New Roman" panose="02020603050405020304" pitchFamily="18" charset="0"/>
                        </a:rPr>
                        <a:t>Q. Li &amp; Y. Chen</a:t>
                      </a:r>
                    </a:p>
                  </a:txBody>
                  <a:tcPr marL="0" marR="0" marT="578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a:lnSpc>
                          <a:spcPts val="2155"/>
                        </a:lnSpc>
                      </a:pPr>
                      <a:r>
                        <a:rPr lang="en-US" sz="1300" dirty="0">
                          <a:latin typeface="Times New Roman" panose="02020603050405020304" pitchFamily="18" charset="0"/>
                          <a:cs typeface="Times New Roman" panose="02020603050405020304" pitchFamily="18" charset="0"/>
                        </a:rPr>
                        <a:t>IEEE Transactions on Network and Service Management, </a:t>
                      </a:r>
                      <a:r>
                        <a:rPr lang="en-IN" sz="1300" dirty="0">
                          <a:latin typeface="Times New Roman" panose="02020603050405020304" pitchFamily="18" charset="0"/>
                          <a:cs typeface="Times New Roman" panose="02020603050405020304" pitchFamily="18" charset="0"/>
                        </a:rPr>
                        <a:t>2023</a:t>
                      </a: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marR="471170">
                        <a:lnSpc>
                          <a:spcPts val="2160"/>
                        </a:lnSpc>
                        <a:spcBef>
                          <a:spcPts val="65"/>
                        </a:spcBef>
                      </a:pPr>
                      <a:r>
                        <a:rPr lang="en-US" sz="1300" dirty="0">
                          <a:latin typeface="Times New Roman" panose="02020603050405020304" pitchFamily="18" charset="0"/>
                          <a:cs typeface="Times New Roman" panose="02020603050405020304" pitchFamily="18" charset="0"/>
                        </a:rPr>
                        <a:t>Implemented FL architecture where multiple cloud nodes train local IDS models</a:t>
                      </a:r>
                    </a:p>
                  </a:txBody>
                  <a:tcPr marL="0" marR="0" marT="578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marR="450850">
                        <a:lnSpc>
                          <a:spcPts val="2160"/>
                        </a:lnSpc>
                        <a:spcBef>
                          <a:spcPts val="65"/>
                        </a:spcBef>
                      </a:pPr>
                      <a:r>
                        <a:rPr lang="en-US" sz="1300" dirty="0">
                          <a:latin typeface="Times New Roman" panose="02020603050405020304" pitchFamily="18" charset="0"/>
                          <a:cs typeface="Times New Roman" panose="02020603050405020304" pitchFamily="18" charset="0"/>
                        </a:rPr>
                        <a:t>Improved detection accuracy without sharing raw data; reduced privacy risk; scalable in cloud environments</a:t>
                      </a:r>
                    </a:p>
                  </a:txBody>
                  <a:tcPr marL="0" marR="0" marT="578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7630" marR="459740">
                        <a:lnSpc>
                          <a:spcPts val="2160"/>
                        </a:lnSpc>
                        <a:spcBef>
                          <a:spcPts val="65"/>
                        </a:spcBef>
                      </a:pPr>
                      <a:r>
                        <a:rPr lang="en-US" sz="1300" dirty="0">
                          <a:latin typeface="Times New Roman" panose="02020603050405020304" pitchFamily="18" charset="0"/>
                          <a:cs typeface="Times New Roman" panose="02020603050405020304" pitchFamily="18" charset="0"/>
                        </a:rPr>
                        <a:t>No adversarial attack defense; high communication</a:t>
                      </a:r>
                    </a:p>
                  </a:txBody>
                  <a:tcPr marL="0" marR="0" marT="578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extLst>
                  <a:ext uri="{0D108BD9-81ED-4DB2-BD59-A6C34878D82A}">
                    <a16:rowId xmlns:a16="http://schemas.microsoft.com/office/drawing/2014/main" val="10001"/>
                  </a:ext>
                </a:extLst>
              </a:tr>
              <a:tr h="1787098">
                <a:tc>
                  <a:txBody>
                    <a:bodyPr/>
                    <a:lstStyle/>
                    <a:p>
                      <a:pPr marL="85090">
                        <a:lnSpc>
                          <a:spcPts val="2155"/>
                        </a:lnSpc>
                      </a:pPr>
                      <a:r>
                        <a:rPr lang="en-IN" sz="1300" spc="-50">
                          <a:latin typeface="Times New Roman" panose="02020603050405020304" pitchFamily="18" charset="0"/>
                          <a:cs typeface="Times New Roman" panose="02020603050405020304" pitchFamily="18" charset="0"/>
                        </a:rPr>
                        <a:t>2</a:t>
                      </a:r>
                      <a:endParaRPr lang="en-IN" sz="130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a:lnSpc>
                          <a:spcPts val="2045"/>
                        </a:lnSpc>
                      </a:pPr>
                      <a:r>
                        <a:rPr lang="en-US" sz="1300" dirty="0">
                          <a:latin typeface="Times New Roman" panose="02020603050405020304" pitchFamily="18" charset="0"/>
                          <a:cs typeface="Times New Roman" panose="02020603050405020304" pitchFamily="18" charset="0"/>
                        </a:rPr>
                        <a:t>Secure Federated Learning Framework for Distributed Cyberattack Detection</a:t>
                      </a:r>
                      <a:endParaRPr lang="en-IN" sz="13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51435">
                        <a:lnSpc>
                          <a:spcPts val="2045"/>
                        </a:lnSpc>
                      </a:pPr>
                      <a:r>
                        <a:rPr lang="en-IN" sz="1300" dirty="0">
                          <a:latin typeface="Times New Roman" panose="02020603050405020304" pitchFamily="18" charset="0"/>
                          <a:cs typeface="Times New Roman" panose="02020603050405020304" pitchFamily="18" charset="0"/>
                        </a:rPr>
                        <a:t>J. Kaur &amp; P. Sharma</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52069">
                        <a:lnSpc>
                          <a:spcPts val="2045"/>
                        </a:lnSpc>
                      </a:pPr>
                      <a:r>
                        <a:rPr lang="en-US" sz="1300" dirty="0">
                          <a:latin typeface="Times New Roman" panose="02020603050405020304" pitchFamily="18" charset="0"/>
                          <a:cs typeface="Times New Roman" panose="02020603050405020304" pitchFamily="18" charset="0"/>
                        </a:rPr>
                        <a:t>Int. Journal of Cyber Security and Digital Forensics, 2022</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635">
                        <a:lnSpc>
                          <a:spcPts val="2045"/>
                        </a:lnSpc>
                      </a:pPr>
                      <a:r>
                        <a:rPr lang="en-US" sz="1300" dirty="0">
                          <a:latin typeface="Times New Roman" panose="02020603050405020304" pitchFamily="18" charset="0"/>
                          <a:cs typeface="Times New Roman" panose="02020603050405020304" pitchFamily="18" charset="0"/>
                        </a:rPr>
                        <a:t>Proposed secure FL framework using encrypted parameter updates for distributed IDS</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635">
                        <a:lnSpc>
                          <a:spcPts val="2045"/>
                        </a:lnSpc>
                      </a:pPr>
                      <a:r>
                        <a:rPr lang="en-US" sz="1300" dirty="0">
                          <a:latin typeface="Times New Roman" panose="02020603050405020304" pitchFamily="18" charset="0"/>
                          <a:cs typeface="Times New Roman" panose="02020603050405020304" pitchFamily="18" charset="0"/>
                        </a:rPr>
                        <a:t>Enhanced security of model training; improved robustness against data breaches; suitable for distributed networks</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635">
                        <a:lnSpc>
                          <a:spcPts val="2045"/>
                        </a:lnSpc>
                      </a:pPr>
                      <a:r>
                        <a:rPr lang="en-US" sz="1300" dirty="0">
                          <a:latin typeface="Times New Roman" panose="02020603050405020304" pitchFamily="18" charset="0"/>
                          <a:cs typeface="Times New Roman" panose="02020603050405020304" pitchFamily="18" charset="0"/>
                        </a:rPr>
                        <a:t>No evaluation against poisoning attacks; limited dataset diversity; no automation or self-healing mechanisms</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67000" y="-18339"/>
            <a:ext cx="417192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Federated learning Intrusion Detection System</a:t>
            </a:r>
            <a:endParaRPr sz="1500" dirty="0">
              <a:latin typeface="Times New Roman"/>
              <a:cs typeface="Times New Roman"/>
            </a:endParaRPr>
          </a:p>
        </p:txBody>
      </p:sp>
      <p:sp>
        <p:nvSpPr>
          <p:cNvPr id="3" name="object 3"/>
          <p:cNvSpPr txBox="1"/>
          <p:nvPr/>
        </p:nvSpPr>
        <p:spPr>
          <a:xfrm>
            <a:off x="236899" y="1002318"/>
            <a:ext cx="11164570" cy="4370427"/>
          </a:xfrm>
          <a:prstGeom prst="rect">
            <a:avLst/>
          </a:prstGeom>
        </p:spPr>
        <p:txBody>
          <a:bodyPr vert="horz" wrap="square" lIns="0" tIns="60960" rIns="0" bIns="0" rtlCol="0">
            <a:spAutoFit/>
          </a:bodyPr>
          <a:lstStyle/>
          <a:p>
            <a:r>
              <a:rPr lang="en-US" sz="2800" dirty="0">
                <a:latin typeface="Times New Roman" panose="02020603050405020304" pitchFamily="18" charset="0"/>
                <a:cs typeface="Times New Roman" panose="02020603050405020304" pitchFamily="18" charset="0"/>
              </a:rPr>
              <a:t>The proposed system is a federated learning–based framework designed to detect cloud threats in a secure and privacy-preserving way. The system allows multiple cloud clients to train models locally on their own sensitive data, while a central server aggregates updates to build a stronger global detection model. Instead of sharing raw logs or private information, all threat-related learning takes place collaboratively across distributed nodes. This makes detection faster, more accurate, and compliant with privacy regulations. The system also provides automated alerts, anomaly detection, and resilience against adversarial attacks, making cloud threat detection more efficient, transparent, and trustworthy for both providers and users.</a:t>
            </a:r>
          </a:p>
        </p:txBody>
      </p:sp>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93451"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81400" y="-18836"/>
            <a:ext cx="394592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F</a:t>
            </a:r>
            <a:r>
              <a:rPr lang="en-IN" sz="1500" b="1" i="1" dirty="0" err="1">
                <a:solidFill>
                  <a:srgbClr val="FFFFFF"/>
                </a:solidFill>
                <a:latin typeface="Times New Roman"/>
                <a:cs typeface="Times New Roman"/>
              </a:rPr>
              <a:t>ederated</a:t>
            </a:r>
            <a:r>
              <a:rPr lang="en-IN" sz="1500" b="1" i="1" dirty="0">
                <a:solidFill>
                  <a:srgbClr val="FFFFFF"/>
                </a:solidFill>
                <a:latin typeface="Times New Roman"/>
                <a:cs typeface="Times New Roman"/>
              </a:rPr>
              <a:t> Learning Intrusion Detection System</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10" name="object 10"/>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pic>
        <p:nvPicPr>
          <p:cNvPr id="18" name="Picture 17" descr="A close-up of words&#10;&#10;AI-generated content may be incorrect.">
            <a:extLst>
              <a:ext uri="{FF2B5EF4-FFF2-40B4-BE49-F238E27FC236}">
                <a16:creationId xmlns:a16="http://schemas.microsoft.com/office/drawing/2014/main" id="{5456298A-B1F6-2BE7-20ED-0EB9F1F151C4}"/>
              </a:ext>
            </a:extLst>
          </p:cNvPr>
          <p:cNvPicPr>
            <a:picLocks noChangeAspect="1"/>
          </p:cNvPicPr>
          <p:nvPr/>
        </p:nvPicPr>
        <p:blipFill>
          <a:blip r:embed="rId3"/>
          <a:stretch>
            <a:fillRect/>
          </a:stretch>
        </p:blipFill>
        <p:spPr>
          <a:xfrm>
            <a:off x="1260877" y="1905000"/>
            <a:ext cx="9670245" cy="28195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4" name="object 4"/>
          <p:cNvSpPr txBox="1"/>
          <p:nvPr/>
        </p:nvSpPr>
        <p:spPr>
          <a:xfrm>
            <a:off x="3352800" y="-39165"/>
            <a:ext cx="380176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F</a:t>
            </a:r>
            <a:r>
              <a:rPr lang="en-IN" sz="1500" b="1" i="1" dirty="0" err="1">
                <a:solidFill>
                  <a:srgbClr val="FFFFFF"/>
                </a:solidFill>
                <a:latin typeface="Times New Roman"/>
                <a:cs typeface="Times New Roman"/>
              </a:rPr>
              <a:t>ederated</a:t>
            </a:r>
            <a:r>
              <a:rPr lang="en-IN" sz="1500" b="1" i="1" dirty="0">
                <a:solidFill>
                  <a:srgbClr val="FFFFFF"/>
                </a:solidFill>
                <a:latin typeface="Times New Roman"/>
                <a:cs typeface="Times New Roman"/>
              </a:rPr>
              <a:t> Learning Intrusion Detection System</a:t>
            </a:r>
            <a:endParaRPr sz="1500" dirty="0">
              <a:latin typeface="Times New Roman"/>
              <a:cs typeface="Times New Roman"/>
            </a:endParaRP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2"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Dashboards</a:t>
            </a:r>
            <a:r>
              <a:rPr spc="-60" dirty="0"/>
              <a:t> </a:t>
            </a:r>
            <a:r>
              <a:rPr spc="-25" dirty="0"/>
              <a:t>of</a:t>
            </a:r>
            <a:r>
              <a:rPr dirty="0"/>
              <a:t>	</a:t>
            </a:r>
            <a:r>
              <a:rPr spc="-20" dirty="0"/>
              <a:t>each</a:t>
            </a:r>
            <a:r>
              <a:rPr dirty="0"/>
              <a:t>	</a:t>
            </a:r>
            <a:r>
              <a:rPr spc="-10" dirty="0"/>
              <a:t>student</a:t>
            </a:r>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11" name="object 11"/>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9" name="object 9"/>
          <p:cNvSpPr txBox="1"/>
          <p:nvPr/>
        </p:nvSpPr>
        <p:spPr>
          <a:xfrm>
            <a:off x="596402" y="5987760"/>
            <a:ext cx="10147798"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panose="02020603050405020304" pitchFamily="18" charset="0"/>
                <a:cs typeface="Times New Roman" panose="02020603050405020304" pitchFamily="18" charset="0"/>
              </a:rPr>
              <a:t>link</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10" dirty="0">
                <a:latin typeface="Times New Roman" panose="02020603050405020304" pitchFamily="18" charset="0"/>
                <a:cs typeface="Times New Roman" panose="02020603050405020304" pitchFamily="18" charset="0"/>
              </a:rPr>
              <a:t> </a:t>
            </a:r>
            <a:r>
              <a:rPr sz="1800" spc="-10" dirty="0" err="1">
                <a:latin typeface="Times New Roman" panose="02020603050405020304" pitchFamily="18" charset="0"/>
                <a:cs typeface="Times New Roman" panose="02020603050405020304" pitchFamily="18" charset="0"/>
              </a:rPr>
              <a:t>Github</a:t>
            </a:r>
            <a:r>
              <a:rPr lang="en-IN" sz="1800" spc="-10" dirty="0">
                <a:latin typeface="Times New Roman" panose="02020603050405020304" pitchFamily="18" charset="0"/>
                <a:cs typeface="Times New Roman" panose="02020603050405020304" pitchFamily="18" charset="0"/>
              </a:rPr>
              <a:t> : https://github.com/pranathibestha/CSE-2022-26-Batch-B15</a:t>
            </a:r>
            <a:endParaRPr sz="18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53A07F24-0726-88D4-58E4-EB93EB2EF84E}"/>
              </a:ext>
            </a:extLst>
          </p:cNvPr>
          <p:cNvPicPr>
            <a:picLocks noChangeAspect="1"/>
          </p:cNvPicPr>
          <p:nvPr/>
        </p:nvPicPr>
        <p:blipFill>
          <a:blip r:embed="rId3"/>
          <a:stretch>
            <a:fillRect/>
          </a:stretch>
        </p:blipFill>
        <p:spPr>
          <a:xfrm>
            <a:off x="766665" y="1074240"/>
            <a:ext cx="10053735" cy="47375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3200400" y="-10611"/>
            <a:ext cx="3871897"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F</a:t>
            </a:r>
            <a:r>
              <a:rPr lang="en-IN" sz="1500" b="1" i="1" dirty="0" err="1">
                <a:solidFill>
                  <a:srgbClr val="FFFFFF"/>
                </a:solidFill>
                <a:latin typeface="Times New Roman"/>
                <a:cs typeface="Times New Roman"/>
              </a:rPr>
              <a:t>ederated</a:t>
            </a:r>
            <a:r>
              <a:rPr lang="en-IN" sz="1500" b="1" i="1" dirty="0">
                <a:solidFill>
                  <a:srgbClr val="FFFFFF"/>
                </a:solidFill>
                <a:latin typeface="Times New Roman"/>
                <a:cs typeface="Times New Roman"/>
              </a:rPr>
              <a:t> Learning intrusion Detection System</a:t>
            </a:r>
            <a:endParaRPr sz="1500" dirty="0">
              <a:latin typeface="Times New Roman"/>
              <a:cs typeface="Times New Roman"/>
            </a:endParaRPr>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6" name="object 6"/>
          <p:cNvSpPr txBox="1">
            <a:spLocks noGrp="1"/>
          </p:cNvSpPr>
          <p:nvPr>
            <p:ph type="dt" sz="half" idx="6"/>
          </p:nvPr>
        </p:nvSpPr>
        <p:spPr>
          <a:xfrm>
            <a:off x="1773948" y="6629559"/>
            <a:ext cx="4169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7147541" y="6629197"/>
            <a:ext cx="42824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196</TotalTime>
  <Words>961</Words>
  <Application>Microsoft Office PowerPoint</Application>
  <PresentationFormat>Widescreen</PresentationFormat>
  <Paragraphs>121</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Federated Learning Intrusion Detection System   </vt:lpstr>
      <vt:lpstr>Contents</vt:lpstr>
      <vt:lpstr>Title Justification</vt:lpstr>
      <vt:lpstr>Abstract</vt:lpstr>
      <vt:lpstr>Problem Statement</vt:lpstr>
      <vt:lpstr>Objectives of Project</vt:lpstr>
      <vt:lpstr>                                     Federated learning Intrusion Detection System</vt:lpstr>
      <vt:lpstr>Proposed System</vt:lpstr>
      <vt:lpstr>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joshika</dc:creator>
  <cp:lastModifiedBy>dinesh chinnu</cp:lastModifiedBy>
  <cp:revision>12</cp:revision>
  <dcterms:created xsi:type="dcterms:W3CDTF">2025-12-02T11:29:58Z</dcterms:created>
  <dcterms:modified xsi:type="dcterms:W3CDTF">2025-12-12T05:44:38Z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2025-12-02T00:00:00Z</vt:filetime>
  </property>
  <property fmtid="{D5CDD505-2E9C-101B-9397-08002B2CF9AE}" pid="3" name="Creator">
    <vt:lpwstr>Google</vt:lpwstr>
  </property>
  <property fmtid="{D5CDD505-2E9C-101B-9397-08002B2CF9AE}" pid="4" name="LastSaved">
    <vt:filetime>2025-12-02T00:00:00Z</vt:filetime>
  </property>
</Properties>
</file>