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67" r:id="rId4"/>
    <p:sldId id="259" r:id="rId5"/>
    <p:sldId id="260" r:id="rId6"/>
    <p:sldId id="261" r:id="rId7"/>
    <p:sldId id="268" r:id="rId8"/>
    <p:sldId id="263" r:id="rId9"/>
    <p:sldId id="264" r:id="rId10"/>
    <p:sldId id="265" r:id="rId11"/>
    <p:sldId id="266" r:id="rId12"/>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78" d="100"/>
          <a:sy n="78" d="100"/>
        </p:scale>
        <p:origin x="850" y="2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17203DB1-22C9-4328-8E0B-13A98EA180CE}" type="datetimeFigureOut">
              <a:rPr lang="en-IN" smtClean="0"/>
              <a:t>12-12-2025</a:t>
            </a:fld>
            <a:endParaRPr lang="en-IN"/>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F43C257F-7C75-44DD-AC1C-7150640DC7DB}" type="slidenum">
              <a:rPr lang="en-IN" smtClean="0"/>
              <a:t>‹#›</a:t>
            </a:fld>
            <a:endParaRPr lang="en-IN"/>
          </a:p>
        </p:txBody>
      </p:sp>
    </p:spTree>
    <p:extLst>
      <p:ext uri="{BB962C8B-B14F-4D97-AF65-F5344CB8AC3E}">
        <p14:creationId xmlns:p14="http://schemas.microsoft.com/office/powerpoint/2010/main" val="1379966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5B66991-F725-422B-A7F0-F43E86186675}" type="slidenum">
              <a:rPr lang="en-IN" smtClean="0"/>
              <a:t>7</a:t>
            </a:fld>
            <a:endParaRPr lang="en-IN"/>
          </a:p>
        </p:txBody>
      </p:sp>
    </p:spTree>
    <p:extLst>
      <p:ext uri="{BB962C8B-B14F-4D97-AF65-F5344CB8AC3E}">
        <p14:creationId xmlns:p14="http://schemas.microsoft.com/office/powerpoint/2010/main" val="754176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6" name="Holder 6"/>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Holder 7"/>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4" name="Holder 4"/>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5" name="Holder 5"/>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3" name="Holder 3"/>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4" name="Holder 4"/>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7"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 name="Holder 2"/>
          <p:cNvSpPr>
            <a:spLocks noGrp="1"/>
          </p:cNvSpPr>
          <p:nvPr>
            <p:ph type="title"/>
          </p:nvPr>
        </p:nvSpPr>
        <p:spPr>
          <a:xfrm>
            <a:off x="73025" y="182323"/>
            <a:ext cx="4739005" cy="69596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a:xfrm>
            <a:off x="236899" y="1074318"/>
            <a:ext cx="11346815" cy="3137535"/>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149031" y="6629427"/>
            <a:ext cx="63500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a:xfrm>
            <a:off x="1773949" y="6629558"/>
            <a:ext cx="366141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a:xfrm>
            <a:off x="11793245" y="6629427"/>
            <a:ext cx="228600" cy="250825"/>
          </a:xfrm>
          <a:prstGeom prst="rect">
            <a:avLst/>
          </a:prstGeom>
        </p:spPr>
        <p:txBody>
          <a:bodyPr wrap="square" lIns="0" tIns="0" rIns="0" bIns="0">
            <a:spAutoFit/>
          </a:bodyPr>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777240" y="6634440"/>
            <a:ext cx="11414760" cy="223520"/>
            <a:chOff x="777240" y="6634440"/>
            <a:chExt cx="11414760" cy="223520"/>
          </a:xfrm>
        </p:grpSpPr>
        <p:sp>
          <p:nvSpPr>
            <p:cNvPr id="3" name="object 3"/>
            <p:cNvSpPr/>
            <p:nvPr/>
          </p:nvSpPr>
          <p:spPr>
            <a:xfrm>
              <a:off x="777240" y="6634440"/>
              <a:ext cx="5781675" cy="220979"/>
            </a:xfrm>
            <a:custGeom>
              <a:avLst/>
              <a:gdLst/>
              <a:ahLst/>
              <a:cxnLst/>
              <a:rect l="l" t="t" r="r" b="b"/>
              <a:pathLst>
                <a:path w="5781675" h="220979">
                  <a:moveTo>
                    <a:pt x="5781599" y="220679"/>
                  </a:moveTo>
                  <a:lnTo>
                    <a:pt x="0" y="220679"/>
                  </a:lnTo>
                  <a:lnTo>
                    <a:pt x="0" y="0"/>
                  </a:lnTo>
                  <a:lnTo>
                    <a:pt x="5781599" y="0"/>
                  </a:lnTo>
                  <a:lnTo>
                    <a:pt x="5781599" y="220679"/>
                  </a:lnTo>
                  <a:close/>
                </a:path>
              </a:pathLst>
            </a:custGeom>
            <a:solidFill>
              <a:srgbClr val="002060"/>
            </a:solidFill>
          </p:spPr>
          <p:txBody>
            <a:bodyPr wrap="square" lIns="0" tIns="0" rIns="0" bIns="0" rtlCol="0"/>
            <a:lstStyle/>
            <a:p>
              <a:endParaRPr/>
            </a:p>
          </p:txBody>
        </p:sp>
        <p:sp>
          <p:nvSpPr>
            <p:cNvPr id="4" name="object 4"/>
            <p:cNvSpPr/>
            <p:nvPr/>
          </p:nvSpPr>
          <p:spPr>
            <a:xfrm>
              <a:off x="6559199" y="6634440"/>
              <a:ext cx="5194935" cy="220979"/>
            </a:xfrm>
            <a:custGeom>
              <a:avLst/>
              <a:gdLst/>
              <a:ahLst/>
              <a:cxnLst/>
              <a:rect l="l" t="t" r="r" b="b"/>
              <a:pathLst>
                <a:path w="5194934" h="220979">
                  <a:moveTo>
                    <a:pt x="5194799" y="220679"/>
                  </a:moveTo>
                  <a:lnTo>
                    <a:pt x="0" y="220679"/>
                  </a:lnTo>
                  <a:lnTo>
                    <a:pt x="0" y="0"/>
                  </a:lnTo>
                  <a:lnTo>
                    <a:pt x="5194799" y="0"/>
                  </a:lnTo>
                  <a:lnTo>
                    <a:pt x="5194799" y="220679"/>
                  </a:lnTo>
                  <a:close/>
                </a:path>
              </a:pathLst>
            </a:custGeom>
            <a:solidFill>
              <a:srgbClr val="008080"/>
            </a:solidFill>
          </p:spPr>
          <p:txBody>
            <a:bodyPr wrap="square" lIns="0" tIns="0" rIns="0" bIns="0" rtlCol="0"/>
            <a:lstStyle/>
            <a:p>
              <a:endParaRPr/>
            </a:p>
          </p:txBody>
        </p:sp>
        <p:sp>
          <p:nvSpPr>
            <p:cNvPr id="5" name="object 5"/>
            <p:cNvSpPr/>
            <p:nvPr/>
          </p:nvSpPr>
          <p:spPr>
            <a:xfrm>
              <a:off x="11754359" y="6636960"/>
              <a:ext cx="437515" cy="220979"/>
            </a:xfrm>
            <a:custGeom>
              <a:avLst/>
              <a:gdLst/>
              <a:ahLst/>
              <a:cxnLst/>
              <a:rect l="l" t="t" r="r" b="b"/>
              <a:pathLst>
                <a:path w="437515" h="220979">
                  <a:moveTo>
                    <a:pt x="437399" y="220679"/>
                  </a:moveTo>
                  <a:lnTo>
                    <a:pt x="0" y="220679"/>
                  </a:lnTo>
                  <a:lnTo>
                    <a:pt x="0" y="0"/>
                  </a:lnTo>
                  <a:lnTo>
                    <a:pt x="437399" y="0"/>
                  </a:lnTo>
                  <a:lnTo>
                    <a:pt x="437399" y="220679"/>
                  </a:lnTo>
                  <a:close/>
                </a:path>
              </a:pathLst>
            </a:custGeom>
            <a:solidFill>
              <a:srgbClr val="FFC000"/>
            </a:solidFill>
          </p:spPr>
          <p:txBody>
            <a:bodyPr wrap="square" lIns="0" tIns="0" rIns="0" bIns="0" rtlCol="0"/>
            <a:lstStyle/>
            <a:p>
              <a:endParaRPr/>
            </a:p>
          </p:txBody>
        </p:sp>
      </p:grpSp>
      <p:sp>
        <p:nvSpPr>
          <p:cNvPr id="6" name="object 6"/>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7" name="object 7"/>
          <p:cNvSpPr/>
          <p:nvPr/>
        </p:nvSpPr>
        <p:spPr>
          <a:xfrm>
            <a:off x="0" y="6634440"/>
            <a:ext cx="777240" cy="221615"/>
          </a:xfrm>
          <a:custGeom>
            <a:avLst/>
            <a:gdLst/>
            <a:ahLst/>
            <a:cxnLst/>
            <a:rect l="l" t="t" r="r" b="b"/>
            <a:pathLst>
              <a:path w="777240" h="221615">
                <a:moveTo>
                  <a:pt x="776879" y="221039"/>
                </a:moveTo>
                <a:lnTo>
                  <a:pt x="0" y="221039"/>
                </a:lnTo>
                <a:lnTo>
                  <a:pt x="0" y="0"/>
                </a:lnTo>
                <a:lnTo>
                  <a:pt x="776879" y="0"/>
                </a:lnTo>
                <a:lnTo>
                  <a:pt x="776879" y="221039"/>
                </a:lnTo>
                <a:close/>
              </a:path>
            </a:pathLst>
          </a:custGeom>
          <a:solidFill>
            <a:srgbClr val="C55A11"/>
          </a:solidFill>
        </p:spPr>
        <p:txBody>
          <a:bodyPr wrap="square" lIns="0" tIns="0" rIns="0" bIns="0" rtlCol="0"/>
          <a:lstStyle/>
          <a:p>
            <a:endParaRPr/>
          </a:p>
        </p:txBody>
      </p:sp>
      <p:sp>
        <p:nvSpPr>
          <p:cNvPr id="8" name="object 8"/>
          <p:cNvSpPr txBox="1"/>
          <p:nvPr/>
        </p:nvSpPr>
        <p:spPr>
          <a:xfrm>
            <a:off x="5181601" y="1735293"/>
            <a:ext cx="2362200" cy="415627"/>
          </a:xfrm>
          <a:prstGeom prst="rect">
            <a:avLst/>
          </a:prstGeom>
        </p:spPr>
        <p:txBody>
          <a:bodyPr vert="horz" wrap="square" lIns="0" tIns="13335" rIns="0" bIns="0" rtlCol="0">
            <a:spAutoFit/>
          </a:bodyPr>
          <a:lstStyle/>
          <a:p>
            <a:pPr algn="ctr">
              <a:lnSpc>
                <a:spcPts val="2080"/>
              </a:lnSpc>
              <a:spcBef>
                <a:spcPts val="105"/>
              </a:spcBef>
            </a:pPr>
            <a:r>
              <a:rPr lang="en-IN" spc="-10" dirty="0">
                <a:latin typeface="Times New Roman"/>
                <a:cs typeface="Times New Roman"/>
              </a:rPr>
              <a:t>T.JOSHIKA</a:t>
            </a:r>
            <a:endParaRPr lang="en-IN" sz="1750" dirty="0">
              <a:latin typeface="Times New Roman"/>
              <a:cs typeface="Times New Roman"/>
            </a:endParaRPr>
          </a:p>
          <a:p>
            <a:pPr marL="635" algn="ctr">
              <a:lnSpc>
                <a:spcPts val="1060"/>
              </a:lnSpc>
            </a:pPr>
            <a:r>
              <a:rPr sz="900" dirty="0">
                <a:latin typeface="Times New Roman"/>
                <a:cs typeface="Times New Roman"/>
              </a:rPr>
              <a:t>Roll</a:t>
            </a:r>
            <a:r>
              <a:rPr sz="900" spc="5" dirty="0">
                <a:latin typeface="Times New Roman"/>
                <a:cs typeface="Times New Roman"/>
              </a:rPr>
              <a:t> </a:t>
            </a:r>
            <a:r>
              <a:rPr sz="900" dirty="0">
                <a:latin typeface="Times New Roman"/>
                <a:cs typeface="Times New Roman"/>
              </a:rPr>
              <a:t>No.</a:t>
            </a:r>
            <a:r>
              <a:rPr sz="900" spc="5" dirty="0">
                <a:latin typeface="Times New Roman"/>
                <a:cs typeface="Times New Roman"/>
              </a:rPr>
              <a:t> </a:t>
            </a:r>
            <a:r>
              <a:rPr lang="en-IN" sz="900" spc="-10" dirty="0">
                <a:latin typeface="Times New Roman"/>
                <a:cs typeface="Times New Roman"/>
              </a:rPr>
              <a:t>234G5A0504</a:t>
            </a:r>
            <a:endParaRPr sz="900" dirty="0">
              <a:latin typeface="Times New Roman"/>
              <a:cs typeface="Times New Roman"/>
            </a:endParaRPr>
          </a:p>
        </p:txBody>
      </p:sp>
      <p:sp>
        <p:nvSpPr>
          <p:cNvPr id="9" name="object 9"/>
          <p:cNvSpPr txBox="1"/>
          <p:nvPr/>
        </p:nvSpPr>
        <p:spPr>
          <a:xfrm>
            <a:off x="3733800" y="2476799"/>
            <a:ext cx="4724400" cy="1320874"/>
          </a:xfrm>
          <a:prstGeom prst="rect">
            <a:avLst/>
          </a:prstGeom>
        </p:spPr>
        <p:txBody>
          <a:bodyPr vert="horz" wrap="square" lIns="0" tIns="12700" rIns="0" bIns="0" rtlCol="0">
            <a:spAutoFit/>
          </a:bodyPr>
          <a:lstStyle/>
          <a:p>
            <a:pPr marL="635" algn="ctr">
              <a:lnSpc>
                <a:spcPts val="1630"/>
              </a:lnSpc>
              <a:spcBef>
                <a:spcPts val="100"/>
              </a:spcBef>
            </a:pPr>
            <a:r>
              <a:rPr sz="1400" i="1" dirty="0">
                <a:latin typeface="Times New Roman"/>
                <a:cs typeface="Times New Roman"/>
              </a:rPr>
              <a:t>Under</a:t>
            </a:r>
            <a:r>
              <a:rPr sz="1400" i="1" spc="-35" dirty="0">
                <a:latin typeface="Times New Roman"/>
                <a:cs typeface="Times New Roman"/>
              </a:rPr>
              <a:t> </a:t>
            </a:r>
            <a:r>
              <a:rPr sz="1400" i="1" dirty="0">
                <a:latin typeface="Times New Roman"/>
                <a:cs typeface="Times New Roman"/>
              </a:rPr>
              <a:t>the</a:t>
            </a:r>
            <a:r>
              <a:rPr sz="1400" i="1" spc="-35" dirty="0">
                <a:latin typeface="Times New Roman"/>
                <a:cs typeface="Times New Roman"/>
              </a:rPr>
              <a:t> </a:t>
            </a:r>
            <a:r>
              <a:rPr sz="1400" i="1" spc="-10" dirty="0">
                <a:latin typeface="Times New Roman"/>
                <a:cs typeface="Times New Roman"/>
              </a:rPr>
              <a:t>guidance</a:t>
            </a:r>
            <a:r>
              <a:rPr sz="1400" i="1" spc="-35" dirty="0">
                <a:latin typeface="Times New Roman"/>
                <a:cs typeface="Times New Roman"/>
              </a:rPr>
              <a:t> </a:t>
            </a:r>
            <a:r>
              <a:rPr sz="1400" i="1" spc="-25" dirty="0">
                <a:latin typeface="Times New Roman"/>
                <a:cs typeface="Times New Roman"/>
              </a:rPr>
              <a:t>of</a:t>
            </a:r>
            <a:endParaRPr sz="1400" dirty="0">
              <a:latin typeface="Times New Roman"/>
              <a:cs typeface="Times New Roman"/>
            </a:endParaRPr>
          </a:p>
          <a:p>
            <a:pPr marL="12065" marR="5080" algn="ctr">
              <a:lnSpc>
                <a:spcPts val="2790"/>
              </a:lnSpc>
              <a:spcBef>
                <a:spcPts val="114"/>
              </a:spcBef>
            </a:pPr>
            <a:r>
              <a:rPr lang="en-IN" sz="2400" spc="-10" dirty="0">
                <a:latin typeface="Times New Roman"/>
                <a:cs typeface="Times New Roman"/>
              </a:rPr>
              <a:t>Dr. </a:t>
            </a:r>
            <a:r>
              <a:rPr lang="en-IN" sz="2400" spc="-10" dirty="0" err="1">
                <a:latin typeface="Times New Roman"/>
                <a:cs typeface="Times New Roman"/>
              </a:rPr>
              <a:t>S.Ravi</a:t>
            </a:r>
            <a:r>
              <a:rPr lang="en-IN" sz="2400" spc="-10" dirty="0">
                <a:latin typeface="Times New Roman"/>
                <a:cs typeface="Times New Roman"/>
              </a:rPr>
              <a:t> Kumar</a:t>
            </a:r>
            <a:r>
              <a:rPr sz="2400" spc="-10" dirty="0">
                <a:latin typeface="Times New Roman"/>
                <a:cs typeface="Times New Roman"/>
              </a:rPr>
              <a:t>,</a:t>
            </a:r>
            <a:r>
              <a:rPr lang="en-IN" sz="2400" spc="-10" dirty="0">
                <a:latin typeface="Times New Roman"/>
                <a:cs typeface="Times New Roman"/>
              </a:rPr>
              <a:t> </a:t>
            </a:r>
            <a:r>
              <a:rPr lang="en-IN" sz="1400" spc="-10" dirty="0" err="1">
                <a:latin typeface="Times New Roman"/>
                <a:cs typeface="Times New Roman"/>
              </a:rPr>
              <a:t>M.Tech</a:t>
            </a:r>
            <a:r>
              <a:rPr lang="en-IN" sz="1400" spc="-10" dirty="0">
                <a:latin typeface="Times New Roman"/>
                <a:cs typeface="Times New Roman"/>
              </a:rPr>
              <a:t>., </a:t>
            </a:r>
            <a:r>
              <a:rPr lang="en-IN" sz="1400" spc="-10" dirty="0" err="1">
                <a:latin typeface="Times New Roman"/>
                <a:cs typeface="Times New Roman"/>
              </a:rPr>
              <a:t>ph.D.</a:t>
            </a:r>
            <a:r>
              <a:rPr sz="1400" spc="-10" dirty="0">
                <a:latin typeface="Times New Roman"/>
                <a:cs typeface="Times New Roman"/>
              </a:rPr>
              <a:t> </a:t>
            </a:r>
            <a:endParaRPr lang="en-IN" sz="1400" spc="-10" dirty="0">
              <a:latin typeface="Times New Roman"/>
              <a:cs typeface="Times New Roman"/>
            </a:endParaRPr>
          </a:p>
          <a:p>
            <a:pPr marL="12065" marR="5080" algn="ctr">
              <a:lnSpc>
                <a:spcPts val="2790"/>
              </a:lnSpc>
              <a:spcBef>
                <a:spcPts val="114"/>
              </a:spcBef>
            </a:pPr>
            <a:r>
              <a:rPr lang="en-IN" sz="1400" spc="-20" dirty="0">
                <a:latin typeface="Times New Roman"/>
                <a:cs typeface="Times New Roman"/>
              </a:rPr>
              <a:t>Assistant</a:t>
            </a:r>
            <a:r>
              <a:rPr lang="en-IN" sz="1400" spc="-40" dirty="0">
                <a:latin typeface="Times New Roman"/>
                <a:cs typeface="Times New Roman"/>
              </a:rPr>
              <a:t> </a:t>
            </a:r>
            <a:r>
              <a:rPr lang="en-IN" sz="1400" spc="-10" dirty="0">
                <a:latin typeface="Times New Roman"/>
                <a:cs typeface="Times New Roman"/>
              </a:rPr>
              <a:t>Professor</a:t>
            </a:r>
            <a:endParaRPr lang="en-IN" sz="1400" dirty="0">
              <a:latin typeface="Times New Roman"/>
              <a:cs typeface="Times New Roman"/>
            </a:endParaRPr>
          </a:p>
          <a:p>
            <a:pPr marL="12065" marR="5080" algn="ctr">
              <a:lnSpc>
                <a:spcPts val="2790"/>
              </a:lnSpc>
              <a:spcBef>
                <a:spcPts val="114"/>
              </a:spcBef>
            </a:pPr>
            <a:endParaRPr sz="2400" dirty="0">
              <a:latin typeface="Times New Roman"/>
              <a:cs typeface="Times New Roman"/>
            </a:endParaRPr>
          </a:p>
        </p:txBody>
      </p:sp>
      <p:sp>
        <p:nvSpPr>
          <p:cNvPr id="10" name="object 10"/>
          <p:cNvSpPr txBox="1"/>
          <p:nvPr/>
        </p:nvSpPr>
        <p:spPr>
          <a:xfrm>
            <a:off x="2147578" y="5096081"/>
            <a:ext cx="7890509" cy="1448435"/>
          </a:xfrm>
          <a:prstGeom prst="rect">
            <a:avLst/>
          </a:prstGeom>
        </p:spPr>
        <p:txBody>
          <a:bodyPr vert="horz" wrap="square" lIns="0" tIns="13335" rIns="0" bIns="0" rtlCol="0">
            <a:spAutoFit/>
          </a:bodyPr>
          <a:lstStyle/>
          <a:p>
            <a:pPr marL="4445" algn="ctr">
              <a:lnSpc>
                <a:spcPts val="2300"/>
              </a:lnSpc>
              <a:spcBef>
                <a:spcPts val="105"/>
              </a:spcBef>
            </a:pPr>
            <a:r>
              <a:rPr sz="2200" dirty="0">
                <a:latin typeface="Times New Roman"/>
                <a:cs typeface="Times New Roman"/>
              </a:rPr>
              <a:t>Department</a:t>
            </a:r>
            <a:r>
              <a:rPr sz="2200" spc="-25" dirty="0">
                <a:latin typeface="Times New Roman"/>
                <a:cs typeface="Times New Roman"/>
              </a:rPr>
              <a:t> </a:t>
            </a:r>
            <a:r>
              <a:rPr sz="2200" dirty="0">
                <a:latin typeface="Times New Roman"/>
                <a:cs typeface="Times New Roman"/>
              </a:rPr>
              <a:t>of</a:t>
            </a:r>
            <a:r>
              <a:rPr sz="2200" spc="-15" dirty="0">
                <a:latin typeface="Times New Roman"/>
                <a:cs typeface="Times New Roman"/>
              </a:rPr>
              <a:t> </a:t>
            </a:r>
            <a:r>
              <a:rPr sz="2200" dirty="0">
                <a:latin typeface="Times New Roman"/>
                <a:cs typeface="Times New Roman"/>
              </a:rPr>
              <a:t>Computer</a:t>
            </a:r>
            <a:r>
              <a:rPr sz="2200" spc="-15" dirty="0">
                <a:latin typeface="Times New Roman"/>
                <a:cs typeface="Times New Roman"/>
              </a:rPr>
              <a:t> </a:t>
            </a:r>
            <a:r>
              <a:rPr sz="2200" dirty="0">
                <a:latin typeface="Times New Roman"/>
                <a:cs typeface="Times New Roman"/>
              </a:rPr>
              <a:t>Science</a:t>
            </a:r>
            <a:r>
              <a:rPr sz="2200" spc="-20" dirty="0">
                <a:latin typeface="Times New Roman"/>
                <a:cs typeface="Times New Roman"/>
              </a:rPr>
              <a:t> </a:t>
            </a:r>
            <a:r>
              <a:rPr sz="2200" dirty="0">
                <a:latin typeface="Times New Roman"/>
                <a:cs typeface="Times New Roman"/>
              </a:rPr>
              <a:t>and</a:t>
            </a:r>
            <a:r>
              <a:rPr sz="2200" spc="-15" dirty="0">
                <a:latin typeface="Times New Roman"/>
                <a:cs typeface="Times New Roman"/>
              </a:rPr>
              <a:t> </a:t>
            </a:r>
            <a:r>
              <a:rPr sz="2200" dirty="0">
                <a:latin typeface="Times New Roman"/>
                <a:cs typeface="Times New Roman"/>
              </a:rPr>
              <a:t>Engineering</a:t>
            </a:r>
            <a:r>
              <a:rPr sz="2200" spc="-15" dirty="0">
                <a:latin typeface="Times New Roman"/>
                <a:cs typeface="Times New Roman"/>
              </a:rPr>
              <a:t> </a:t>
            </a:r>
            <a:endParaRPr sz="2200" dirty="0">
              <a:latin typeface="Times New Roman"/>
              <a:cs typeface="Times New Roman"/>
            </a:endParaRPr>
          </a:p>
          <a:p>
            <a:pPr algn="ctr">
              <a:lnSpc>
                <a:spcPts val="3565"/>
              </a:lnSpc>
            </a:pPr>
            <a:r>
              <a:rPr sz="3400" dirty="0">
                <a:solidFill>
                  <a:srgbClr val="FF0000"/>
                </a:solidFill>
                <a:latin typeface="Times New Roman"/>
                <a:cs typeface="Times New Roman"/>
              </a:rPr>
              <a:t>Srinivasa</a:t>
            </a:r>
            <a:r>
              <a:rPr sz="3400" spc="-20" dirty="0">
                <a:solidFill>
                  <a:srgbClr val="FF0000"/>
                </a:solidFill>
                <a:latin typeface="Times New Roman"/>
                <a:cs typeface="Times New Roman"/>
              </a:rPr>
              <a:t> </a:t>
            </a:r>
            <a:r>
              <a:rPr sz="3400" dirty="0">
                <a:solidFill>
                  <a:srgbClr val="FF0000"/>
                </a:solidFill>
                <a:latin typeface="Times New Roman"/>
                <a:cs typeface="Times New Roman"/>
              </a:rPr>
              <a:t>Ramanujan</a:t>
            </a:r>
            <a:r>
              <a:rPr sz="3400" spc="-20" dirty="0">
                <a:solidFill>
                  <a:srgbClr val="FF0000"/>
                </a:solidFill>
                <a:latin typeface="Times New Roman"/>
                <a:cs typeface="Times New Roman"/>
              </a:rPr>
              <a:t> </a:t>
            </a:r>
            <a:r>
              <a:rPr sz="3400" dirty="0">
                <a:solidFill>
                  <a:srgbClr val="FF0000"/>
                </a:solidFill>
                <a:latin typeface="Times New Roman"/>
                <a:cs typeface="Times New Roman"/>
              </a:rPr>
              <a:t>Institute</a:t>
            </a:r>
            <a:r>
              <a:rPr sz="3400" spc="-20" dirty="0">
                <a:solidFill>
                  <a:srgbClr val="FF0000"/>
                </a:solidFill>
                <a:latin typeface="Times New Roman"/>
                <a:cs typeface="Times New Roman"/>
              </a:rPr>
              <a:t> </a:t>
            </a:r>
            <a:r>
              <a:rPr sz="3400" dirty="0">
                <a:solidFill>
                  <a:srgbClr val="FF0000"/>
                </a:solidFill>
                <a:latin typeface="Times New Roman"/>
                <a:cs typeface="Times New Roman"/>
              </a:rPr>
              <a:t>of</a:t>
            </a:r>
            <a:r>
              <a:rPr sz="3400" spc="-20" dirty="0">
                <a:solidFill>
                  <a:srgbClr val="FF0000"/>
                </a:solidFill>
                <a:latin typeface="Times New Roman"/>
                <a:cs typeface="Times New Roman"/>
              </a:rPr>
              <a:t> </a:t>
            </a:r>
            <a:r>
              <a:rPr sz="3400" spc="-10" dirty="0">
                <a:solidFill>
                  <a:srgbClr val="FF0000"/>
                </a:solidFill>
                <a:latin typeface="Times New Roman"/>
                <a:cs typeface="Times New Roman"/>
              </a:rPr>
              <a:t>Technology</a:t>
            </a:r>
            <a:endParaRPr sz="3400" dirty="0">
              <a:latin typeface="Times New Roman"/>
              <a:cs typeface="Times New Roman"/>
            </a:endParaRPr>
          </a:p>
          <a:p>
            <a:pPr marL="6350" algn="ctr">
              <a:lnSpc>
                <a:spcPts val="1850"/>
              </a:lnSpc>
            </a:pPr>
            <a:r>
              <a:rPr sz="1750" b="1" spc="-10" dirty="0">
                <a:latin typeface="Times New Roman"/>
                <a:cs typeface="Times New Roman"/>
              </a:rPr>
              <a:t>Autonomous</a:t>
            </a:r>
            <a:endParaRPr sz="1750" dirty="0">
              <a:latin typeface="Times New Roman"/>
              <a:cs typeface="Times New Roman"/>
            </a:endParaRPr>
          </a:p>
          <a:p>
            <a:pPr marL="7620" algn="ctr">
              <a:lnSpc>
                <a:spcPts val="1370"/>
              </a:lnSpc>
            </a:pPr>
            <a:r>
              <a:rPr sz="1200" b="1" dirty="0">
                <a:latin typeface="Times New Roman"/>
                <a:cs typeface="Times New Roman"/>
              </a:rPr>
              <a:t>Rotarypuram</a:t>
            </a:r>
            <a:r>
              <a:rPr sz="1200" b="1" spc="-10" dirty="0">
                <a:latin typeface="Times New Roman"/>
                <a:cs typeface="Times New Roman"/>
              </a:rPr>
              <a:t> </a:t>
            </a:r>
            <a:r>
              <a:rPr sz="1200" b="1" dirty="0">
                <a:latin typeface="Times New Roman"/>
                <a:cs typeface="Times New Roman"/>
              </a:rPr>
              <a:t>Village,</a:t>
            </a:r>
            <a:r>
              <a:rPr sz="1200" b="1" spc="-5" dirty="0">
                <a:latin typeface="Times New Roman"/>
                <a:cs typeface="Times New Roman"/>
              </a:rPr>
              <a:t> </a:t>
            </a:r>
            <a:r>
              <a:rPr sz="1200" b="1" dirty="0">
                <a:latin typeface="Times New Roman"/>
                <a:cs typeface="Times New Roman"/>
              </a:rPr>
              <a:t>B</a:t>
            </a:r>
            <a:r>
              <a:rPr sz="1200" b="1" spc="-10" dirty="0">
                <a:latin typeface="Times New Roman"/>
                <a:cs typeface="Times New Roman"/>
              </a:rPr>
              <a:t> </a:t>
            </a:r>
            <a:r>
              <a:rPr sz="1200" b="1" dirty="0">
                <a:latin typeface="Times New Roman"/>
                <a:cs typeface="Times New Roman"/>
              </a:rPr>
              <a:t>K</a:t>
            </a:r>
            <a:r>
              <a:rPr sz="1200" b="1" spc="-5" dirty="0">
                <a:latin typeface="Times New Roman"/>
                <a:cs typeface="Times New Roman"/>
              </a:rPr>
              <a:t> </a:t>
            </a:r>
            <a:r>
              <a:rPr sz="1200" b="1" dirty="0">
                <a:latin typeface="Times New Roman"/>
                <a:cs typeface="Times New Roman"/>
              </a:rPr>
              <a:t>Samudram</a:t>
            </a:r>
            <a:r>
              <a:rPr sz="1200" b="1" spc="-10" dirty="0">
                <a:latin typeface="Times New Roman"/>
                <a:cs typeface="Times New Roman"/>
              </a:rPr>
              <a:t> </a:t>
            </a:r>
            <a:r>
              <a:rPr sz="1200" b="1" dirty="0">
                <a:latin typeface="Times New Roman"/>
                <a:cs typeface="Times New Roman"/>
              </a:rPr>
              <a:t>Mandal,</a:t>
            </a:r>
            <a:r>
              <a:rPr sz="1200" b="1" spc="-5" dirty="0">
                <a:latin typeface="Times New Roman"/>
                <a:cs typeface="Times New Roman"/>
              </a:rPr>
              <a:t> </a:t>
            </a:r>
            <a:r>
              <a:rPr sz="1200" b="1" dirty="0">
                <a:latin typeface="Times New Roman"/>
                <a:cs typeface="Times New Roman"/>
              </a:rPr>
              <a:t>Ananthapuramu</a:t>
            </a:r>
            <a:r>
              <a:rPr sz="1200" b="1" spc="-10" dirty="0">
                <a:latin typeface="Times New Roman"/>
                <a:cs typeface="Times New Roman"/>
              </a:rPr>
              <a:t> </a:t>
            </a:r>
            <a:r>
              <a:rPr sz="1200" b="1" dirty="0">
                <a:latin typeface="Times New Roman"/>
                <a:cs typeface="Times New Roman"/>
              </a:rPr>
              <a:t>–</a:t>
            </a:r>
            <a:r>
              <a:rPr sz="1200" b="1" spc="-5" dirty="0">
                <a:latin typeface="Times New Roman"/>
                <a:cs typeface="Times New Roman"/>
              </a:rPr>
              <a:t> </a:t>
            </a:r>
            <a:r>
              <a:rPr sz="1200" b="1" spc="-10" dirty="0">
                <a:latin typeface="Times New Roman"/>
                <a:cs typeface="Times New Roman"/>
              </a:rPr>
              <a:t>515701.</a:t>
            </a:r>
            <a:endParaRPr sz="1200" dirty="0">
              <a:latin typeface="Times New Roman"/>
              <a:cs typeface="Times New Roman"/>
            </a:endParaRPr>
          </a:p>
          <a:p>
            <a:pPr marL="6985" algn="ctr">
              <a:lnSpc>
                <a:spcPct val="100000"/>
              </a:lnSpc>
              <a:spcBef>
                <a:spcPts val="545"/>
              </a:spcBef>
            </a:pPr>
            <a:r>
              <a:rPr sz="1300" b="1" dirty="0">
                <a:solidFill>
                  <a:srgbClr val="1E4E78"/>
                </a:solidFill>
                <a:latin typeface="Times New Roman"/>
                <a:cs typeface="Times New Roman"/>
              </a:rPr>
              <a:t>202</a:t>
            </a:r>
            <a:r>
              <a:rPr lang="en-IN" sz="1300" b="1" dirty="0">
                <a:solidFill>
                  <a:srgbClr val="1E4E78"/>
                </a:solidFill>
                <a:latin typeface="Times New Roman"/>
                <a:cs typeface="Times New Roman"/>
              </a:rPr>
              <a:t>5-</a:t>
            </a:r>
            <a:r>
              <a:rPr sz="1300" b="1" spc="-20" dirty="0">
                <a:solidFill>
                  <a:srgbClr val="1E4E78"/>
                </a:solidFill>
                <a:latin typeface="Times New Roman"/>
                <a:cs typeface="Times New Roman"/>
              </a:rPr>
              <a:t>202</a:t>
            </a:r>
            <a:r>
              <a:rPr lang="en-IN" sz="1300" b="1" spc="-20" dirty="0">
                <a:solidFill>
                  <a:srgbClr val="1E4E78"/>
                </a:solidFill>
                <a:latin typeface="Times New Roman"/>
                <a:cs typeface="Times New Roman"/>
              </a:rPr>
              <a:t>6</a:t>
            </a:r>
            <a:endParaRPr sz="1300" dirty="0">
              <a:latin typeface="Times New Roman"/>
              <a:cs typeface="Times New Roman"/>
            </a:endParaRPr>
          </a:p>
        </p:txBody>
      </p:sp>
      <p:sp>
        <p:nvSpPr>
          <p:cNvPr id="11" name="object 11"/>
          <p:cNvSpPr txBox="1"/>
          <p:nvPr/>
        </p:nvSpPr>
        <p:spPr>
          <a:xfrm>
            <a:off x="2557188" y="1724463"/>
            <a:ext cx="2624412" cy="455381"/>
          </a:xfrm>
          <a:prstGeom prst="rect">
            <a:avLst/>
          </a:prstGeom>
        </p:spPr>
        <p:txBody>
          <a:bodyPr vert="horz" wrap="square" lIns="0" tIns="14605" rIns="0" bIns="0" rtlCol="0">
            <a:spAutoFit/>
          </a:bodyPr>
          <a:lstStyle/>
          <a:p>
            <a:pPr algn="ctr">
              <a:lnSpc>
                <a:spcPts val="2380"/>
              </a:lnSpc>
              <a:spcBef>
                <a:spcPts val="115"/>
              </a:spcBef>
            </a:pPr>
            <a:r>
              <a:rPr lang="en-IN" sz="2000" dirty="0">
                <a:latin typeface="Times New Roman"/>
                <a:cs typeface="Times New Roman"/>
              </a:rPr>
              <a:t>B.PRANATHI</a:t>
            </a:r>
            <a:endParaRPr sz="2000" dirty="0">
              <a:latin typeface="Times New Roman"/>
              <a:cs typeface="Times New Roman"/>
            </a:endParaRPr>
          </a:p>
          <a:p>
            <a:pPr marL="1270" algn="ctr">
              <a:lnSpc>
                <a:spcPts val="1060"/>
              </a:lnSpc>
            </a:pPr>
            <a:r>
              <a:rPr sz="900" dirty="0">
                <a:latin typeface="Times New Roman"/>
                <a:cs typeface="Times New Roman"/>
              </a:rPr>
              <a:t>Roll</a:t>
            </a:r>
            <a:r>
              <a:rPr sz="900" spc="40" dirty="0">
                <a:latin typeface="Times New Roman"/>
                <a:cs typeface="Times New Roman"/>
              </a:rPr>
              <a:t> </a:t>
            </a:r>
            <a:r>
              <a:rPr sz="900" dirty="0">
                <a:latin typeface="Times New Roman"/>
                <a:cs typeface="Times New Roman"/>
              </a:rPr>
              <a:t>No.</a:t>
            </a:r>
            <a:r>
              <a:rPr sz="900" spc="40" dirty="0">
                <a:latin typeface="Times New Roman"/>
                <a:cs typeface="Times New Roman"/>
              </a:rPr>
              <a:t> </a:t>
            </a:r>
            <a:r>
              <a:rPr lang="en-IN" sz="900" spc="-10" dirty="0">
                <a:latin typeface="Times New Roman"/>
                <a:cs typeface="Times New Roman"/>
              </a:rPr>
              <a:t>224G1A0571</a:t>
            </a:r>
            <a:endParaRPr sz="900" dirty="0">
              <a:latin typeface="Times New Roman"/>
              <a:cs typeface="Times New Roman"/>
            </a:endParaRPr>
          </a:p>
        </p:txBody>
      </p:sp>
      <p:sp>
        <p:nvSpPr>
          <p:cNvPr id="12" name="object 12"/>
          <p:cNvSpPr txBox="1"/>
          <p:nvPr/>
        </p:nvSpPr>
        <p:spPr>
          <a:xfrm>
            <a:off x="7467599" y="1735293"/>
            <a:ext cx="3200401" cy="423321"/>
          </a:xfrm>
          <a:prstGeom prst="rect">
            <a:avLst/>
          </a:prstGeom>
        </p:spPr>
        <p:txBody>
          <a:bodyPr vert="horz" wrap="square" lIns="0" tIns="13335" rIns="0" bIns="0" rtlCol="0">
            <a:spAutoFit/>
          </a:bodyPr>
          <a:lstStyle/>
          <a:p>
            <a:pPr marL="42545">
              <a:lnSpc>
                <a:spcPct val="100000"/>
              </a:lnSpc>
              <a:spcBef>
                <a:spcPts val="409"/>
              </a:spcBef>
            </a:pPr>
            <a:r>
              <a:rPr lang="en-IN" sz="1800" spc="-10" dirty="0">
                <a:latin typeface="Times New Roman"/>
                <a:cs typeface="Times New Roman"/>
              </a:rPr>
              <a:t>         </a:t>
            </a:r>
            <a:r>
              <a:rPr lang="en-IN" spc="-10" dirty="0">
                <a:latin typeface="Times New Roman"/>
                <a:cs typeface="Times New Roman"/>
              </a:rPr>
              <a:t>C.KRISHNAKOWSHIK</a:t>
            </a:r>
            <a:endParaRPr lang="en-IN" sz="1800" dirty="0">
              <a:latin typeface="Times New Roman"/>
              <a:cs typeface="Times New Roman"/>
            </a:endParaRPr>
          </a:p>
          <a:p>
            <a:pPr marL="635" algn="ctr">
              <a:lnSpc>
                <a:spcPts val="1060"/>
              </a:lnSpc>
            </a:pPr>
            <a:r>
              <a:rPr sz="900" dirty="0">
                <a:latin typeface="Times New Roman"/>
                <a:cs typeface="Times New Roman"/>
              </a:rPr>
              <a:t>Roll</a:t>
            </a:r>
            <a:r>
              <a:rPr sz="900" spc="5" dirty="0">
                <a:latin typeface="Times New Roman"/>
                <a:cs typeface="Times New Roman"/>
              </a:rPr>
              <a:t> </a:t>
            </a:r>
            <a:r>
              <a:rPr sz="900" dirty="0">
                <a:latin typeface="Times New Roman"/>
                <a:cs typeface="Times New Roman"/>
              </a:rPr>
              <a:t>No.</a:t>
            </a:r>
            <a:r>
              <a:rPr sz="900" spc="5" dirty="0">
                <a:latin typeface="Times New Roman"/>
                <a:cs typeface="Times New Roman"/>
              </a:rPr>
              <a:t> </a:t>
            </a:r>
            <a:r>
              <a:rPr lang="en-IN" sz="900" spc="-10" dirty="0">
                <a:latin typeface="Times New Roman"/>
                <a:cs typeface="Times New Roman"/>
              </a:rPr>
              <a:t>224G1A0538</a:t>
            </a:r>
            <a:endParaRPr sz="900" dirty="0">
              <a:latin typeface="Times New Roman"/>
              <a:cs typeface="Times New Roman"/>
            </a:endParaRPr>
          </a:p>
        </p:txBody>
      </p:sp>
      <p:grpSp>
        <p:nvGrpSpPr>
          <p:cNvPr id="14" name="object 14"/>
          <p:cNvGrpSpPr/>
          <p:nvPr/>
        </p:nvGrpSpPr>
        <p:grpSpPr>
          <a:xfrm>
            <a:off x="715009" y="318271"/>
            <a:ext cx="10608310" cy="937894"/>
            <a:chOff x="715009" y="318271"/>
            <a:chExt cx="10608310" cy="937894"/>
          </a:xfrm>
        </p:grpSpPr>
        <p:pic>
          <p:nvPicPr>
            <p:cNvPr id="15" name="object 15"/>
            <p:cNvPicPr/>
            <p:nvPr/>
          </p:nvPicPr>
          <p:blipFill>
            <a:blip r:embed="rId2" cstate="print"/>
            <a:stretch>
              <a:fillRect/>
            </a:stretch>
          </p:blipFill>
          <p:spPr>
            <a:xfrm>
              <a:off x="715009" y="318271"/>
              <a:ext cx="10608182" cy="937864"/>
            </a:xfrm>
            <a:prstGeom prst="rect">
              <a:avLst/>
            </a:prstGeom>
          </p:spPr>
        </p:pic>
        <p:sp>
          <p:nvSpPr>
            <p:cNvPr id="16" name="object 16"/>
            <p:cNvSpPr/>
            <p:nvPr/>
          </p:nvSpPr>
          <p:spPr>
            <a:xfrm>
              <a:off x="755008" y="335270"/>
              <a:ext cx="10528300" cy="857885"/>
            </a:xfrm>
            <a:custGeom>
              <a:avLst/>
              <a:gdLst/>
              <a:ahLst/>
              <a:cxnLst/>
              <a:rect l="l" t="t" r="r" b="b"/>
              <a:pathLst>
                <a:path w="10528300" h="857885">
                  <a:moveTo>
                    <a:pt x="10385202" y="857863"/>
                  </a:moveTo>
                  <a:lnTo>
                    <a:pt x="142980" y="857863"/>
                  </a:lnTo>
                  <a:lnTo>
                    <a:pt x="97787" y="850574"/>
                  </a:lnTo>
                  <a:lnTo>
                    <a:pt x="58537" y="830277"/>
                  </a:lnTo>
                  <a:lnTo>
                    <a:pt x="27586" y="799326"/>
                  </a:lnTo>
                  <a:lnTo>
                    <a:pt x="7289" y="760076"/>
                  </a:lnTo>
                  <a:lnTo>
                    <a:pt x="0" y="714883"/>
                  </a:lnTo>
                  <a:lnTo>
                    <a:pt x="0" y="142980"/>
                  </a:lnTo>
                  <a:lnTo>
                    <a:pt x="7289" y="97787"/>
                  </a:lnTo>
                  <a:lnTo>
                    <a:pt x="27586" y="58537"/>
                  </a:lnTo>
                  <a:lnTo>
                    <a:pt x="58537" y="27586"/>
                  </a:lnTo>
                  <a:lnTo>
                    <a:pt x="97787" y="7289"/>
                  </a:lnTo>
                  <a:lnTo>
                    <a:pt x="142980" y="0"/>
                  </a:lnTo>
                  <a:lnTo>
                    <a:pt x="10385202" y="0"/>
                  </a:lnTo>
                  <a:lnTo>
                    <a:pt x="10439918" y="10883"/>
                  </a:lnTo>
                  <a:lnTo>
                    <a:pt x="10486304" y="41877"/>
                  </a:lnTo>
                  <a:lnTo>
                    <a:pt x="10517299" y="88264"/>
                  </a:lnTo>
                  <a:lnTo>
                    <a:pt x="10528183" y="142980"/>
                  </a:lnTo>
                  <a:lnTo>
                    <a:pt x="10528183" y="714883"/>
                  </a:lnTo>
                  <a:lnTo>
                    <a:pt x="10520894" y="760076"/>
                  </a:lnTo>
                  <a:lnTo>
                    <a:pt x="10500596" y="799326"/>
                  </a:lnTo>
                  <a:lnTo>
                    <a:pt x="10469645" y="830277"/>
                  </a:lnTo>
                  <a:lnTo>
                    <a:pt x="10430395" y="850574"/>
                  </a:lnTo>
                  <a:lnTo>
                    <a:pt x="10385202" y="857863"/>
                  </a:lnTo>
                  <a:close/>
                </a:path>
              </a:pathLst>
            </a:custGeom>
            <a:solidFill>
              <a:srgbClr val="FF6600"/>
            </a:solidFill>
          </p:spPr>
          <p:txBody>
            <a:bodyPr wrap="square" lIns="0" tIns="0" rIns="0" bIns="0" rtlCol="0"/>
            <a:lstStyle/>
            <a:p>
              <a:endParaRPr/>
            </a:p>
          </p:txBody>
        </p:sp>
      </p:grpSp>
      <p:sp>
        <p:nvSpPr>
          <p:cNvPr id="17" name="object 17"/>
          <p:cNvSpPr txBox="1">
            <a:spLocks noGrp="1"/>
          </p:cNvSpPr>
          <p:nvPr>
            <p:ph type="title"/>
          </p:nvPr>
        </p:nvSpPr>
        <p:spPr>
          <a:xfrm>
            <a:off x="-457200" y="491408"/>
            <a:ext cx="9829801" cy="505267"/>
          </a:xfrm>
          <a:prstGeom prst="rect">
            <a:avLst/>
          </a:prstGeom>
        </p:spPr>
        <p:txBody>
          <a:bodyPr vert="horz" wrap="square" lIns="0" tIns="12700" rIns="0" bIns="0" rtlCol="0">
            <a:spAutoFit/>
          </a:bodyPr>
          <a:lstStyle/>
          <a:p>
            <a:pPr marL="12700">
              <a:lnSpc>
                <a:spcPct val="100000"/>
              </a:lnSpc>
              <a:spcBef>
                <a:spcPts val="100"/>
              </a:spcBef>
            </a:pPr>
            <a:r>
              <a:rPr lang="en-IN" sz="3200" dirty="0"/>
              <a:t>                    </a:t>
            </a:r>
            <a:r>
              <a:rPr lang="en-US" sz="3200" dirty="0"/>
              <a:t>Federated Learning Intrusion Detection System   </a:t>
            </a:r>
            <a:endParaRPr sz="3200" dirty="0"/>
          </a:p>
        </p:txBody>
      </p:sp>
      <p:sp>
        <p:nvSpPr>
          <p:cNvPr id="18" name="object 18"/>
          <p:cNvSpPr txBox="1"/>
          <p:nvPr/>
        </p:nvSpPr>
        <p:spPr>
          <a:xfrm>
            <a:off x="5987420" y="1278968"/>
            <a:ext cx="217170" cy="269240"/>
          </a:xfrm>
          <a:prstGeom prst="rect">
            <a:avLst/>
          </a:prstGeom>
        </p:spPr>
        <p:txBody>
          <a:bodyPr vert="horz" wrap="square" lIns="0" tIns="12700" rIns="0" bIns="0" rtlCol="0">
            <a:spAutoFit/>
          </a:bodyPr>
          <a:lstStyle/>
          <a:p>
            <a:pPr marL="12700">
              <a:lnSpc>
                <a:spcPct val="100000"/>
              </a:lnSpc>
              <a:spcBef>
                <a:spcPts val="100"/>
              </a:spcBef>
            </a:pPr>
            <a:r>
              <a:rPr sz="1600" i="1" spc="-25" dirty="0">
                <a:latin typeface="Times New Roman"/>
                <a:cs typeface="Times New Roman"/>
              </a:rPr>
              <a:t>by</a:t>
            </a:r>
            <a:endParaRPr sz="1600">
              <a:latin typeface="Times New Roman"/>
              <a:cs typeface="Times New Roman"/>
            </a:endParaRPr>
          </a:p>
        </p:txBody>
      </p:sp>
      <p:pic>
        <p:nvPicPr>
          <p:cNvPr id="19" name="object 19"/>
          <p:cNvPicPr/>
          <p:nvPr/>
        </p:nvPicPr>
        <p:blipFill>
          <a:blip r:embed="rId3" cstate="print"/>
          <a:stretch>
            <a:fillRect/>
          </a:stretch>
        </p:blipFill>
        <p:spPr>
          <a:xfrm>
            <a:off x="5329143" y="3408075"/>
            <a:ext cx="1527378" cy="16854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33800" y="0"/>
            <a:ext cx="510540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Federated learning Intrusion Detection System</a:t>
            </a:r>
            <a:endParaRPr sz="1500" dirty="0">
              <a:latin typeface="Times New Roman"/>
              <a:cs typeface="Times New Roman"/>
            </a:endParaRPr>
          </a:p>
        </p:txBody>
      </p:sp>
      <p:grpSp>
        <p:nvGrpSpPr>
          <p:cNvPr id="3" name="object 3"/>
          <p:cNvGrpSpPr/>
          <p:nvPr/>
        </p:nvGrpSpPr>
        <p:grpSpPr>
          <a:xfrm>
            <a:off x="0" y="212399"/>
            <a:ext cx="12192000" cy="803275"/>
            <a:chOff x="0" y="212399"/>
            <a:chExt cx="12192000" cy="803275"/>
          </a:xfrm>
        </p:grpSpPr>
        <p:pic>
          <p:nvPicPr>
            <p:cNvPr id="4" name="object 4"/>
            <p:cNvPicPr/>
            <p:nvPr/>
          </p:nvPicPr>
          <p:blipFill>
            <a:blip r:embed="rId2" cstate="print"/>
            <a:stretch>
              <a:fillRect/>
            </a:stretch>
          </p:blipFill>
          <p:spPr>
            <a:xfrm>
              <a:off x="0" y="212399"/>
              <a:ext cx="12192000" cy="803160"/>
            </a:xfrm>
            <a:prstGeom prst="rect">
              <a:avLst/>
            </a:prstGeom>
          </p:spPr>
        </p:pic>
        <p:sp>
          <p:nvSpPr>
            <p:cNvPr id="5" name="object 5"/>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t>Contents</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9" name="object 9"/>
          <p:cNvSpPr txBox="1">
            <a:spLocks noGrp="1"/>
          </p:cNvSpPr>
          <p:nvPr>
            <p:ph type="dt" sz="half" idx="6"/>
          </p:nvPr>
        </p:nvSpPr>
        <p:spPr>
          <a:xfrm>
            <a:off x="2013245" y="6629197"/>
            <a:ext cx="3661410"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lang="en-IN" cap="small" spc="-130" dirty="0"/>
              <a:t> Engineering</a:t>
            </a:r>
            <a:r>
              <a:rPr cap="small" spc="55" dirty="0"/>
              <a:t> </a:t>
            </a:r>
            <a:endParaRPr cap="small" spc="-130" dirty="0"/>
          </a:p>
        </p:txBody>
      </p:sp>
      <p:sp>
        <p:nvSpPr>
          <p:cNvPr id="10" name="object 10"/>
          <p:cNvSpPr txBox="1"/>
          <p:nvPr/>
        </p:nvSpPr>
        <p:spPr>
          <a:xfrm>
            <a:off x="6858001" y="6629197"/>
            <a:ext cx="41808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lang="en-IN" sz="1600" cap="small" spc="-100" dirty="0">
                <a:solidFill>
                  <a:srgbClr val="FFFFFF"/>
                </a:solidFill>
                <a:latin typeface="Times New Roman"/>
                <a:cs typeface="Times New Roman"/>
              </a:rPr>
              <a:t> 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2</a:t>
            </a:fld>
            <a:endParaRPr spc="-25" dirty="0"/>
          </a:p>
        </p:txBody>
      </p:sp>
      <p:sp>
        <p:nvSpPr>
          <p:cNvPr id="7" name="object 7"/>
          <p:cNvSpPr txBox="1"/>
          <p:nvPr/>
        </p:nvSpPr>
        <p:spPr>
          <a:xfrm>
            <a:off x="325787" y="989990"/>
            <a:ext cx="9460230" cy="4625340"/>
          </a:xfrm>
          <a:prstGeom prst="rect">
            <a:avLst/>
          </a:prstGeom>
        </p:spPr>
        <p:txBody>
          <a:bodyPr vert="horz" wrap="square" lIns="0" tIns="96520" rIns="0" bIns="0" rtlCol="0">
            <a:spAutoFit/>
          </a:bodyPr>
          <a:lstStyle/>
          <a:p>
            <a:pPr marL="421005" indent="-408305">
              <a:lnSpc>
                <a:spcPct val="100000"/>
              </a:lnSpc>
              <a:spcBef>
                <a:spcPts val="760"/>
              </a:spcBef>
              <a:buChar char="•"/>
              <a:tabLst>
                <a:tab pos="421005" algn="l"/>
              </a:tabLst>
            </a:pPr>
            <a:r>
              <a:rPr sz="2800" dirty="0">
                <a:latin typeface="Times New Roman"/>
                <a:cs typeface="Times New Roman"/>
              </a:rPr>
              <a:t>Title</a:t>
            </a:r>
            <a:r>
              <a:rPr sz="2800" spc="-25" dirty="0">
                <a:latin typeface="Times New Roman"/>
                <a:cs typeface="Times New Roman"/>
              </a:rPr>
              <a:t> </a:t>
            </a:r>
            <a:r>
              <a:rPr sz="2800" spc="-10" dirty="0">
                <a:latin typeface="Times New Roman"/>
                <a:cs typeface="Times New Roman"/>
              </a:rPr>
              <a:t>Justification</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Abstract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Problem</a:t>
            </a:r>
            <a:r>
              <a:rPr sz="2800" spc="-35" dirty="0">
                <a:latin typeface="Times New Roman"/>
                <a:cs typeface="Times New Roman"/>
              </a:rPr>
              <a:t> </a:t>
            </a:r>
            <a:r>
              <a:rPr sz="2800" spc="-10" dirty="0">
                <a:latin typeface="Times New Roman"/>
                <a:cs typeface="Times New Roman"/>
              </a:rPr>
              <a:t>statement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Objectives</a:t>
            </a:r>
            <a:r>
              <a:rPr sz="2800" spc="-40" dirty="0">
                <a:latin typeface="Times New Roman"/>
                <a:cs typeface="Times New Roman"/>
              </a:rPr>
              <a:t> </a:t>
            </a:r>
            <a:r>
              <a:rPr sz="2800" dirty="0">
                <a:latin typeface="Times New Roman"/>
                <a:cs typeface="Times New Roman"/>
              </a:rPr>
              <a:t>of</a:t>
            </a:r>
            <a:r>
              <a:rPr sz="2800" spc="-35" dirty="0">
                <a:latin typeface="Times New Roman"/>
                <a:cs typeface="Times New Roman"/>
              </a:rPr>
              <a:t> </a:t>
            </a:r>
            <a:r>
              <a:rPr sz="2800" spc="-10" dirty="0">
                <a:latin typeface="Times New Roman"/>
                <a:cs typeface="Times New Roman"/>
              </a:rPr>
              <a:t>Project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Literature</a:t>
            </a:r>
            <a:r>
              <a:rPr sz="2800" spc="-35" dirty="0">
                <a:latin typeface="Times New Roman"/>
                <a:cs typeface="Times New Roman"/>
              </a:rPr>
              <a:t> </a:t>
            </a:r>
            <a:r>
              <a:rPr sz="2800" dirty="0">
                <a:latin typeface="Times New Roman"/>
                <a:cs typeface="Times New Roman"/>
              </a:rPr>
              <a:t>survey</a:t>
            </a:r>
            <a:r>
              <a:rPr sz="2800" spc="-25"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spc="-10" dirty="0">
                <a:latin typeface="Times New Roman"/>
                <a:cs typeface="Times New Roman"/>
              </a:rPr>
              <a:t>objectives</a:t>
            </a:r>
            <a:endParaRPr sz="2800" dirty="0">
              <a:latin typeface="Times New Roman"/>
              <a:cs typeface="Times New Roman"/>
            </a:endParaRPr>
          </a:p>
          <a:p>
            <a:pPr marL="421005" indent="-408305">
              <a:lnSpc>
                <a:spcPct val="100000"/>
              </a:lnSpc>
              <a:spcBef>
                <a:spcPts val="660"/>
              </a:spcBef>
              <a:buChar char="•"/>
              <a:tabLst>
                <a:tab pos="421005" algn="l"/>
              </a:tabLst>
            </a:pPr>
            <a:r>
              <a:rPr sz="2800" dirty="0">
                <a:latin typeface="Times New Roman"/>
                <a:cs typeface="Times New Roman"/>
              </a:rPr>
              <a:t>Proposed</a:t>
            </a:r>
            <a:r>
              <a:rPr sz="2800" spc="-25" dirty="0">
                <a:latin typeface="Times New Roman"/>
                <a:cs typeface="Times New Roman"/>
              </a:rPr>
              <a:t> </a:t>
            </a:r>
            <a:r>
              <a:rPr sz="2800" dirty="0">
                <a:latin typeface="Times New Roman"/>
                <a:cs typeface="Times New Roman"/>
              </a:rPr>
              <a:t>Work</a:t>
            </a:r>
            <a:r>
              <a:rPr sz="2800" spc="-20" dirty="0">
                <a:latin typeface="Times New Roman"/>
                <a:cs typeface="Times New Roman"/>
              </a:rPr>
              <a:t> </a:t>
            </a:r>
            <a:r>
              <a:rPr sz="2800" spc="-10" dirty="0">
                <a:latin typeface="Times New Roman"/>
                <a:cs typeface="Times New Roman"/>
              </a:rPr>
              <a:t>-</a:t>
            </a:r>
            <a:r>
              <a:rPr sz="2800" dirty="0">
                <a:latin typeface="Times New Roman"/>
                <a:cs typeface="Times New Roman"/>
              </a:rPr>
              <a:t>(Methods</a:t>
            </a:r>
            <a:r>
              <a:rPr sz="2800" spc="-25" dirty="0">
                <a:latin typeface="Times New Roman"/>
                <a:cs typeface="Times New Roman"/>
              </a:rPr>
              <a:t> </a:t>
            </a:r>
            <a:r>
              <a:rPr sz="2800" dirty="0">
                <a:latin typeface="Times New Roman"/>
                <a:cs typeface="Times New Roman"/>
              </a:rPr>
              <a:t>to</a:t>
            </a:r>
            <a:r>
              <a:rPr sz="2800" spc="-25" dirty="0">
                <a:latin typeface="Times New Roman"/>
                <a:cs typeface="Times New Roman"/>
              </a:rPr>
              <a:t> </a:t>
            </a:r>
            <a:r>
              <a:rPr sz="2800" dirty="0">
                <a:latin typeface="Times New Roman"/>
                <a:cs typeface="Times New Roman"/>
              </a:rPr>
              <a:t>be</a:t>
            </a:r>
            <a:r>
              <a:rPr sz="2800" spc="-25" dirty="0">
                <a:latin typeface="Times New Roman"/>
                <a:cs typeface="Times New Roman"/>
              </a:rPr>
              <a:t> </a:t>
            </a:r>
            <a:r>
              <a:rPr sz="2800" dirty="0">
                <a:latin typeface="Times New Roman"/>
                <a:cs typeface="Times New Roman"/>
              </a:rPr>
              <a:t>followed</a:t>
            </a:r>
            <a:r>
              <a:rPr sz="2800" spc="-20"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dirty="0">
                <a:latin typeface="Times New Roman"/>
                <a:cs typeface="Times New Roman"/>
              </a:rPr>
              <a:t>proposed</a:t>
            </a:r>
            <a:r>
              <a:rPr sz="2800" spc="-20" dirty="0">
                <a:latin typeface="Times New Roman"/>
                <a:cs typeface="Times New Roman"/>
              </a:rPr>
              <a:t> </a:t>
            </a:r>
            <a:r>
              <a:rPr sz="2800" spc="-10" dirty="0">
                <a:latin typeface="Times New Roman"/>
                <a:cs typeface="Times New Roman"/>
              </a:rPr>
              <a:t>system)</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References</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GitHub </a:t>
            </a:r>
            <a:r>
              <a:rPr sz="2800" spc="-20" dirty="0">
                <a:latin typeface="Times New Roman"/>
                <a:cs typeface="Times New Roman"/>
              </a:rPr>
              <a:t>Link</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Queries</a:t>
            </a:r>
            <a:endParaRPr sz="2800" dirty="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CF65-8104-2EC4-946A-ADD934F86CF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35A89D4-52AC-1D8D-E2E4-9A84CD4CD896}"/>
              </a:ext>
            </a:extLst>
          </p:cNvPr>
          <p:cNvSpPr txBox="1"/>
          <p:nvPr/>
        </p:nvSpPr>
        <p:spPr>
          <a:xfrm>
            <a:off x="4495800" y="0"/>
            <a:ext cx="434340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Federated learning Intrusion Detection System</a:t>
            </a:r>
            <a:endParaRPr sz="1500" dirty="0">
              <a:latin typeface="Times New Roman"/>
              <a:cs typeface="Times New Roman"/>
            </a:endParaRPr>
          </a:p>
        </p:txBody>
      </p:sp>
      <p:grpSp>
        <p:nvGrpSpPr>
          <p:cNvPr id="3" name="object 3">
            <a:extLst>
              <a:ext uri="{FF2B5EF4-FFF2-40B4-BE49-F238E27FC236}">
                <a16:creationId xmlns:a16="http://schemas.microsoft.com/office/drawing/2014/main" id="{7884F3D6-9C18-D97C-621E-0AC6E9C7CCFE}"/>
              </a:ext>
            </a:extLst>
          </p:cNvPr>
          <p:cNvGrpSpPr/>
          <p:nvPr/>
        </p:nvGrpSpPr>
        <p:grpSpPr>
          <a:xfrm>
            <a:off x="0" y="212399"/>
            <a:ext cx="12192000" cy="803275"/>
            <a:chOff x="0" y="212399"/>
            <a:chExt cx="12192000" cy="803275"/>
          </a:xfrm>
        </p:grpSpPr>
        <p:pic>
          <p:nvPicPr>
            <p:cNvPr id="4" name="object 4">
              <a:extLst>
                <a:ext uri="{FF2B5EF4-FFF2-40B4-BE49-F238E27FC236}">
                  <a16:creationId xmlns:a16="http://schemas.microsoft.com/office/drawing/2014/main" id="{BC294CF2-BB5A-8C4B-077C-8C2B04D31618}"/>
                </a:ext>
              </a:extLst>
            </p:cNvPr>
            <p:cNvPicPr/>
            <p:nvPr/>
          </p:nvPicPr>
          <p:blipFill>
            <a:blip r:embed="rId2" cstate="print"/>
            <a:stretch>
              <a:fillRect/>
            </a:stretch>
          </p:blipFill>
          <p:spPr>
            <a:xfrm>
              <a:off x="0" y="212399"/>
              <a:ext cx="12192000" cy="803160"/>
            </a:xfrm>
            <a:prstGeom prst="rect">
              <a:avLst/>
            </a:prstGeom>
          </p:spPr>
        </p:pic>
        <p:sp>
          <p:nvSpPr>
            <p:cNvPr id="5" name="object 5">
              <a:extLst>
                <a:ext uri="{FF2B5EF4-FFF2-40B4-BE49-F238E27FC236}">
                  <a16:creationId xmlns:a16="http://schemas.microsoft.com/office/drawing/2014/main" id="{A8FB50D9-09DF-4A9C-DD93-DEAAC370112A}"/>
                </a:ext>
              </a:extLst>
            </p:cNvPr>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a:extLst>
              <a:ext uri="{FF2B5EF4-FFF2-40B4-BE49-F238E27FC236}">
                <a16:creationId xmlns:a16="http://schemas.microsoft.com/office/drawing/2014/main" id="{D0A72AA6-7D3D-A8DD-3595-6DEAF17E8977}"/>
              </a:ext>
            </a:extLst>
          </p:cNvPr>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lang="en-IN" dirty="0">
                <a:solidFill>
                  <a:srgbClr val="000000"/>
                </a:solidFill>
              </a:rPr>
              <a:t>Title</a:t>
            </a:r>
            <a:r>
              <a:rPr lang="en-IN" spc="-110" dirty="0">
                <a:solidFill>
                  <a:srgbClr val="000000"/>
                </a:solidFill>
              </a:rPr>
              <a:t> </a:t>
            </a:r>
            <a:r>
              <a:rPr lang="en-IN" spc="-10" dirty="0">
                <a:solidFill>
                  <a:srgbClr val="000000"/>
                </a:solidFill>
              </a:rPr>
              <a:t>Justification</a:t>
            </a:r>
            <a:endParaRPr spc="-10" dirty="0"/>
          </a:p>
        </p:txBody>
      </p:sp>
      <p:sp>
        <p:nvSpPr>
          <p:cNvPr id="8" name="object 8">
            <a:extLst>
              <a:ext uri="{FF2B5EF4-FFF2-40B4-BE49-F238E27FC236}">
                <a16:creationId xmlns:a16="http://schemas.microsoft.com/office/drawing/2014/main" id="{56137B2E-7C8B-3EB4-8089-ECC7E3119089}"/>
              </a:ext>
            </a:extLst>
          </p:cNvPr>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9" name="object 9">
            <a:extLst>
              <a:ext uri="{FF2B5EF4-FFF2-40B4-BE49-F238E27FC236}">
                <a16:creationId xmlns:a16="http://schemas.microsoft.com/office/drawing/2014/main" id="{6BA1E2F7-A53E-88DE-1605-D6FF9E9C6857}"/>
              </a:ext>
            </a:extLst>
          </p:cNvPr>
          <p:cNvSpPr txBox="1">
            <a:spLocks noGrp="1"/>
          </p:cNvSpPr>
          <p:nvPr>
            <p:ph type="dt" sz="half" idx="6"/>
          </p:nvPr>
        </p:nvSpPr>
        <p:spPr>
          <a:xfrm>
            <a:off x="2013245" y="6629197"/>
            <a:ext cx="3661410"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lang="en-IN" cap="small" spc="-130" dirty="0"/>
              <a:t> Engineering</a:t>
            </a:r>
            <a:r>
              <a:rPr cap="small" spc="55" dirty="0"/>
              <a:t> </a:t>
            </a:r>
            <a:endParaRPr cap="small" spc="-130" dirty="0"/>
          </a:p>
        </p:txBody>
      </p:sp>
      <p:sp>
        <p:nvSpPr>
          <p:cNvPr id="10" name="object 10">
            <a:extLst>
              <a:ext uri="{FF2B5EF4-FFF2-40B4-BE49-F238E27FC236}">
                <a16:creationId xmlns:a16="http://schemas.microsoft.com/office/drawing/2014/main" id="{799D763F-4E25-4B32-CA49-8BF68AD47EC1}"/>
              </a:ext>
            </a:extLst>
          </p:cNvPr>
          <p:cNvSpPr txBox="1"/>
          <p:nvPr/>
        </p:nvSpPr>
        <p:spPr>
          <a:xfrm>
            <a:off x="6858001" y="6629197"/>
            <a:ext cx="41808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lang="en-IN" sz="1600" cap="small" spc="-100" dirty="0">
                <a:solidFill>
                  <a:srgbClr val="FFFFFF"/>
                </a:solidFill>
                <a:latin typeface="Times New Roman"/>
                <a:cs typeface="Times New Roman"/>
              </a:rPr>
              <a:t> Technology</a:t>
            </a:r>
            <a:endParaRPr sz="1600" dirty="0">
              <a:latin typeface="Times New Roman"/>
              <a:cs typeface="Times New Roman"/>
            </a:endParaRPr>
          </a:p>
        </p:txBody>
      </p:sp>
      <p:sp>
        <p:nvSpPr>
          <p:cNvPr id="11" name="object 11">
            <a:extLst>
              <a:ext uri="{FF2B5EF4-FFF2-40B4-BE49-F238E27FC236}">
                <a16:creationId xmlns:a16="http://schemas.microsoft.com/office/drawing/2014/main" id="{B8FD2B94-5F8B-DCE9-780E-CE375CB034A0}"/>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3</a:t>
            </a:fld>
            <a:endParaRPr spc="-25" dirty="0"/>
          </a:p>
        </p:txBody>
      </p:sp>
      <p:sp>
        <p:nvSpPr>
          <p:cNvPr id="7" name="object 7">
            <a:extLst>
              <a:ext uri="{FF2B5EF4-FFF2-40B4-BE49-F238E27FC236}">
                <a16:creationId xmlns:a16="http://schemas.microsoft.com/office/drawing/2014/main" id="{E5134579-8FEB-42B0-95A3-CC6AD188EAD1}"/>
              </a:ext>
            </a:extLst>
          </p:cNvPr>
          <p:cNvSpPr txBox="1"/>
          <p:nvPr/>
        </p:nvSpPr>
        <p:spPr>
          <a:xfrm>
            <a:off x="304800" y="959809"/>
            <a:ext cx="11256613" cy="4750339"/>
          </a:xfrm>
          <a:prstGeom prst="rect">
            <a:avLst/>
          </a:prstGeom>
        </p:spPr>
        <p:txBody>
          <a:bodyPr vert="horz" wrap="square" lIns="0" tIns="96520" rIns="0" bIns="0" rtlCol="0">
            <a:spAutoFit/>
          </a:bodyPr>
          <a:lstStyle/>
          <a:p>
            <a:r>
              <a:rPr lang="en-US" sz="2400" dirty="0">
                <a:latin typeface="Times New Roman" panose="02020603050405020304" pitchFamily="18" charset="0"/>
                <a:cs typeface="Times New Roman" panose="02020603050405020304" pitchFamily="18" charset="0"/>
              </a:rPr>
              <a:t>The title </a:t>
            </a:r>
            <a:r>
              <a:rPr lang="en-US" sz="2400" b="1" dirty="0">
                <a:latin typeface="Times New Roman" panose="02020603050405020304" pitchFamily="18" charset="0"/>
                <a:cs typeface="Times New Roman" panose="02020603050405020304" pitchFamily="18" charset="0"/>
              </a:rPr>
              <a:t>“Federated Learning–Based Intrusion Detection System”</a:t>
            </a:r>
            <a:r>
              <a:rPr lang="en-US" sz="2400" dirty="0">
                <a:latin typeface="Times New Roman" panose="02020603050405020304" pitchFamily="18" charset="0"/>
                <a:cs typeface="Times New Roman" panose="02020603050405020304" pitchFamily="18" charset="0"/>
              </a:rPr>
              <a:t> is appropriate because the project combines two key concepts:</a:t>
            </a:r>
          </a:p>
          <a:p>
            <a:endParaRPr lang="en-US" sz="2400" dirty="0">
              <a:latin typeface="Times New Roman" panose="02020603050405020304" pitchFamily="18" charset="0"/>
              <a:cs typeface="Times New Roman" panose="02020603050405020304" pitchFamily="18" charset="0"/>
            </a:endParaRPr>
          </a:p>
          <a:p>
            <a:r>
              <a:rPr lang="en-US" sz="2400" b="1" dirty="0">
                <a:latin typeface="Times New Roman" panose="02020603050405020304" pitchFamily="18" charset="0"/>
                <a:cs typeface="Times New Roman" panose="02020603050405020304" pitchFamily="18" charset="0"/>
              </a:rPr>
              <a:t>Federated Learning</a:t>
            </a:r>
            <a:r>
              <a:rPr lang="en-US" sz="2400" dirty="0">
                <a:latin typeface="Times New Roman" panose="02020603050405020304" pitchFamily="18" charset="0"/>
                <a:cs typeface="Times New Roman" panose="02020603050405020304" pitchFamily="18" charset="0"/>
              </a:rPr>
              <a:t> – allows multiple cloud or network nodes to collaboratively train a machine learning model </a:t>
            </a:r>
            <a:r>
              <a:rPr lang="en-US" sz="2400" b="1" dirty="0">
                <a:latin typeface="Times New Roman" panose="02020603050405020304" pitchFamily="18" charset="0"/>
                <a:cs typeface="Times New Roman" panose="02020603050405020304" pitchFamily="18" charset="0"/>
              </a:rPr>
              <a:t>without sharing raw data</a:t>
            </a:r>
            <a:r>
              <a:rPr lang="en-US" sz="2400" dirty="0">
                <a:latin typeface="Times New Roman" panose="02020603050405020304" pitchFamily="18" charset="0"/>
                <a:cs typeface="Times New Roman" panose="02020603050405020304" pitchFamily="18" charset="0"/>
              </a:rPr>
              <a:t>, ensuring privacy and security.</a:t>
            </a:r>
          </a:p>
          <a:p>
            <a:r>
              <a:rPr lang="en-US" sz="2400" b="1" dirty="0">
                <a:latin typeface="Times New Roman" panose="02020603050405020304" pitchFamily="18" charset="0"/>
                <a:cs typeface="Times New Roman" panose="02020603050405020304" pitchFamily="18" charset="0"/>
              </a:rPr>
              <a:t>Intrusion Detection System (IDS)</a:t>
            </a:r>
            <a:r>
              <a:rPr lang="en-US" sz="2400" dirty="0">
                <a:latin typeface="Times New Roman" panose="02020603050405020304" pitchFamily="18" charset="0"/>
                <a:cs typeface="Times New Roman" panose="02020603050405020304" pitchFamily="18" charset="0"/>
              </a:rPr>
              <a:t> – monitors network traffic and system activity to detect </a:t>
            </a:r>
            <a:r>
              <a:rPr lang="en-US" sz="2400" b="1" dirty="0">
                <a:latin typeface="Times New Roman" panose="02020603050405020304" pitchFamily="18" charset="0"/>
                <a:cs typeface="Times New Roman" panose="02020603050405020304" pitchFamily="18" charset="0"/>
              </a:rPr>
              <a:t>malicious attacks, anomalies, and threats</a:t>
            </a:r>
            <a:r>
              <a:rPr lang="en-US" sz="2400" dirty="0">
                <a:latin typeface="Times New Roman" panose="02020603050405020304" pitchFamily="18" charset="0"/>
                <a:cs typeface="Times New Roman" panose="02020603050405020304" pitchFamily="18" charset="0"/>
              </a:rPr>
              <a:t> in real time.</a:t>
            </a:r>
          </a:p>
          <a:p>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Since your project focuses on </a:t>
            </a:r>
            <a:r>
              <a:rPr lang="en-US" sz="2400" b="1" dirty="0">
                <a:latin typeface="Times New Roman" panose="02020603050405020304" pitchFamily="18" charset="0"/>
                <a:cs typeface="Times New Roman" panose="02020603050405020304" pitchFamily="18" charset="0"/>
              </a:rPr>
              <a:t>detecting cyber threats while preserving user data privacy</a:t>
            </a:r>
            <a:r>
              <a:rPr lang="en-US" sz="2400" dirty="0">
                <a:latin typeface="Times New Roman" panose="02020603050405020304" pitchFamily="18" charset="0"/>
                <a:cs typeface="Times New Roman" panose="02020603050405020304" pitchFamily="18" charset="0"/>
              </a:rPr>
              <a:t>, this title clearly represents both the </a:t>
            </a:r>
            <a:r>
              <a:rPr lang="en-US" sz="2400" b="1" dirty="0">
                <a:latin typeface="Times New Roman" panose="02020603050405020304" pitchFamily="18" charset="0"/>
                <a:cs typeface="Times New Roman" panose="02020603050405020304" pitchFamily="18" charset="0"/>
              </a:rPr>
              <a:t>technology used (Federated Learning)</a:t>
            </a:r>
            <a:r>
              <a:rPr lang="en-US" sz="2400" dirty="0">
                <a:latin typeface="Times New Roman" panose="02020603050405020304" pitchFamily="18" charset="0"/>
                <a:cs typeface="Times New Roman" panose="02020603050405020304" pitchFamily="18" charset="0"/>
              </a:rPr>
              <a:t> and the </a:t>
            </a:r>
            <a:r>
              <a:rPr lang="en-US" sz="2400" b="1" dirty="0">
                <a:latin typeface="Times New Roman" panose="02020603050405020304" pitchFamily="18" charset="0"/>
                <a:cs typeface="Times New Roman" panose="02020603050405020304" pitchFamily="18" charset="0"/>
              </a:rPr>
              <a:t>purpose (Intrusion Detection)</a:t>
            </a:r>
            <a:r>
              <a:rPr lang="en-US" sz="2400" dirty="0">
                <a:latin typeface="Times New Roman" panose="02020603050405020304" pitchFamily="18" charset="0"/>
                <a:cs typeface="Times New Roman" panose="02020603050405020304" pitchFamily="18" charset="0"/>
              </a:rPr>
              <a:t>.</a:t>
            </a:r>
          </a:p>
          <a:p>
            <a:pPr marL="12700">
              <a:lnSpc>
                <a:spcPct val="150000"/>
              </a:lnSpc>
              <a:spcBef>
                <a:spcPts val="760"/>
              </a:spcBef>
              <a:tabLst>
                <a:tab pos="421005" algn="l"/>
              </a:tabLst>
            </a:pPr>
            <a:endParaRPr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680458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2800" y="-26936"/>
            <a:ext cx="3838837"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Federated learning Intrusion Detection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xfrm>
            <a:off x="5480932" y="209958"/>
            <a:ext cx="1228090" cy="452120"/>
          </a:xfrm>
          <a:prstGeom prst="rect">
            <a:avLst/>
          </a:prstGeom>
        </p:spPr>
        <p:txBody>
          <a:bodyPr vert="horz" wrap="square" lIns="0" tIns="12700" rIns="0" bIns="0" rtlCol="0">
            <a:spAutoFit/>
          </a:bodyPr>
          <a:lstStyle/>
          <a:p>
            <a:pPr marL="12700">
              <a:lnSpc>
                <a:spcPct val="100000"/>
              </a:lnSpc>
              <a:spcBef>
                <a:spcPts val="100"/>
              </a:spcBef>
            </a:pPr>
            <a:r>
              <a:rPr sz="2800" spc="-10" dirty="0">
                <a:solidFill>
                  <a:srgbClr val="000000"/>
                </a:solidFill>
              </a:rPr>
              <a:t>Abstract</a:t>
            </a:r>
            <a:endParaRPr sz="2800"/>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9" name="object 9"/>
          <p:cNvSpPr txBox="1">
            <a:spLocks noGrp="1"/>
          </p:cNvSpPr>
          <p:nvPr>
            <p:ph type="dt" sz="half" idx="6"/>
          </p:nvPr>
        </p:nvSpPr>
        <p:spPr>
          <a:xfrm>
            <a:off x="1247734" y="6641281"/>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709022" y="6605614"/>
            <a:ext cx="4235244" cy="23083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4</a:t>
            </a:fld>
            <a:endParaRPr spc="-25" dirty="0"/>
          </a:p>
        </p:txBody>
      </p:sp>
      <p:sp>
        <p:nvSpPr>
          <p:cNvPr id="7" name="object 7"/>
          <p:cNvSpPr txBox="1"/>
          <p:nvPr/>
        </p:nvSpPr>
        <p:spPr>
          <a:xfrm>
            <a:off x="179402" y="935230"/>
            <a:ext cx="11613843" cy="4377802"/>
          </a:xfrm>
          <a:prstGeom prst="rect">
            <a:avLst/>
          </a:prstGeom>
        </p:spPr>
        <p:txBody>
          <a:bodyPr vert="horz" wrap="square" lIns="0" tIns="12065" rIns="0" bIns="0" rtlCol="0">
            <a:spAutoFit/>
          </a:bodyPr>
          <a:lstStyle/>
          <a:p>
            <a:pPr>
              <a:lnSpc>
                <a:spcPct val="150000"/>
              </a:lnSpc>
            </a:pPr>
            <a:r>
              <a:rPr lang="en-US" sz="2400" dirty="0">
                <a:latin typeface="Times New Roman" panose="02020603050405020304" pitchFamily="18" charset="0"/>
                <a:cs typeface="Times New Roman" panose="02020603050405020304" pitchFamily="18" charset="0"/>
              </a:rPr>
              <a:t>The </a:t>
            </a:r>
            <a:r>
              <a:rPr lang="en-US" sz="2400" b="1" dirty="0">
                <a:latin typeface="Times New Roman" panose="02020603050405020304" pitchFamily="18" charset="0"/>
                <a:cs typeface="Times New Roman" panose="02020603050405020304" pitchFamily="18" charset="0"/>
              </a:rPr>
              <a:t>Federated Learning – Intrusion Detection</a:t>
            </a:r>
            <a:r>
              <a:rPr lang="en-US" sz="2400" dirty="0">
                <a:latin typeface="Times New Roman" panose="02020603050405020304" pitchFamily="18" charset="0"/>
                <a:cs typeface="Times New Roman" panose="02020603050405020304" pitchFamily="18" charset="0"/>
              </a:rPr>
              <a:t> System is designed to secure cloud environments in a collaborative and efficient way. It allows multiple cloud clients to train threat detection models locally, while a central server aggregates updates to build a stronger global model. The system protects sensitive data by keeping it private, detects attacks like malware and intrusions quickly, and reduces manual monitoring through automated alerts and adaptive learning. Overall, it makes cloud security smarter, faster, and more privacy-compliant for both providers and users.</a:t>
            </a:r>
          </a:p>
          <a:p>
            <a:pPr>
              <a:lnSpc>
                <a:spcPct val="150000"/>
              </a:lnSpc>
            </a:pPr>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2800" y="-28323"/>
            <a:ext cx="386562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Federated learning Intrusion Detection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Problem</a:t>
            </a:r>
            <a:r>
              <a:rPr spc="-185" dirty="0"/>
              <a:t> </a:t>
            </a:r>
            <a:r>
              <a:rPr spc="-10" dirty="0"/>
              <a:t>Statement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9" name="object 9"/>
          <p:cNvSpPr txBox="1">
            <a:spLocks noGrp="1"/>
          </p:cNvSpPr>
          <p:nvPr>
            <p:ph type="dt" sz="half" idx="6"/>
          </p:nvPr>
        </p:nvSpPr>
        <p:spPr>
          <a:xfrm>
            <a:off x="1262974" y="6629197"/>
            <a:ext cx="4071026" cy="228803"/>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705600" y="6607175"/>
            <a:ext cx="4223426"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5</a:t>
            </a:fld>
            <a:endParaRPr spc="-25" dirty="0"/>
          </a:p>
        </p:txBody>
      </p:sp>
      <p:sp>
        <p:nvSpPr>
          <p:cNvPr id="7" name="object 7"/>
          <p:cNvSpPr txBox="1">
            <a:spLocks noGrp="1"/>
          </p:cNvSpPr>
          <p:nvPr>
            <p:ph type="body" idx="1"/>
          </p:nvPr>
        </p:nvSpPr>
        <p:spPr>
          <a:xfrm>
            <a:off x="149031" y="1166328"/>
            <a:ext cx="11346815" cy="3139321"/>
          </a:xfrm>
          <a:prstGeom prst="rect">
            <a:avLst/>
          </a:prstGeom>
        </p:spPr>
        <p:txBody>
          <a:bodyPr vert="horz" wrap="square" lIns="0" tIns="60960" rIns="0" bIns="0" rtlCol="0">
            <a:spAutoFit/>
          </a:bodyPr>
          <a:lstStyle/>
          <a:p>
            <a:pPr marL="12700" marR="5080">
              <a:lnSpc>
                <a:spcPts val="3020"/>
              </a:lnSpc>
              <a:spcBef>
                <a:spcPts val="480"/>
              </a:spcBef>
              <a:tabLst>
                <a:tab pos="505459" algn="l"/>
                <a:tab pos="2227580" algn="l"/>
                <a:tab pos="4404995" algn="l"/>
                <a:tab pos="4942840" algn="l"/>
                <a:tab pos="6308090" algn="l"/>
                <a:tab pos="7319645" algn="l"/>
                <a:tab pos="7838440" algn="l"/>
                <a:tab pos="9808210" algn="l"/>
                <a:tab pos="10503535" algn="l"/>
              </a:tabLst>
            </a:pPr>
            <a:r>
              <a:rPr lang="en-US" dirty="0">
                <a:latin typeface="Times New Roman" panose="02020603050405020304" pitchFamily="18" charset="0"/>
                <a:cs typeface="Times New Roman" panose="02020603050405020304" pitchFamily="18" charset="0"/>
              </a:rPr>
              <a:t>“Traditional IDS systems require centralizing security logs, which exposes sensitive user data and violates privacy regulations. With increasing cyber-attacks in cloud platforms, there is a need for a secure IDS that can detect threats without sharing raw data.</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This project develops a Federated Learning-based Intrusion Detection System (FL-IDS) that allows multiple cloud nodes to collaboratively train a threat-detection model while keeping all sensitive data local, ensuring both strong security and privacy preservation.”</a:t>
            </a:r>
            <a:endParaRPr spc="-1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2800" y="-18836"/>
            <a:ext cx="383986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Federated learning Intrusion Detection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tabLst>
                <a:tab pos="3145790" algn="l"/>
              </a:tabLst>
            </a:pPr>
            <a:r>
              <a:rPr dirty="0"/>
              <a:t>Objectives</a:t>
            </a:r>
            <a:r>
              <a:rPr spc="-60" dirty="0"/>
              <a:t> </a:t>
            </a:r>
            <a:r>
              <a:rPr spc="-25" dirty="0"/>
              <a:t>of</a:t>
            </a:r>
            <a:r>
              <a:rPr dirty="0"/>
              <a:t>	</a:t>
            </a:r>
            <a:r>
              <a:rPr spc="-10" dirty="0"/>
              <a:t>Project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9" name="object 9"/>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093451"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6</a:t>
            </a:fld>
            <a:endParaRPr spc="-25" dirty="0"/>
          </a:p>
        </p:txBody>
      </p:sp>
      <p:sp>
        <p:nvSpPr>
          <p:cNvPr id="7" name="object 7"/>
          <p:cNvSpPr txBox="1"/>
          <p:nvPr/>
        </p:nvSpPr>
        <p:spPr>
          <a:xfrm>
            <a:off x="272465" y="1110318"/>
            <a:ext cx="11619230" cy="3270447"/>
          </a:xfrm>
          <a:prstGeom prst="rect">
            <a:avLst/>
          </a:prstGeom>
        </p:spPr>
        <p:txBody>
          <a:bodyPr vert="horz" wrap="square" lIns="0" tIns="12700" rIns="0" bIns="0" rtlCol="0">
            <a:spAutoFit/>
          </a:bodyPr>
          <a:lstStyle/>
          <a:p>
            <a:pPr>
              <a:lnSpc>
                <a:spcPct val="150000"/>
              </a:lnSpc>
            </a:pPr>
            <a:r>
              <a:rPr lang="en-US" sz="2400" b="1" dirty="0">
                <a:latin typeface="Times New Roman" panose="02020603050405020304" pitchFamily="18" charset="0"/>
                <a:cs typeface="Times New Roman" panose="02020603050405020304" pitchFamily="18" charset="0"/>
              </a:rPr>
              <a:t>Objective 1:</a:t>
            </a:r>
          </a:p>
          <a:p>
            <a:pPr>
              <a:lnSpc>
                <a:spcPct val="150000"/>
              </a:lnSpc>
            </a:pPr>
            <a:r>
              <a:rPr lang="en-US" sz="2400" dirty="0">
                <a:latin typeface="Times New Roman" panose="02020603050405020304" pitchFamily="18" charset="0"/>
                <a:cs typeface="Times New Roman" panose="02020603050405020304" pitchFamily="18" charset="0"/>
              </a:rPr>
              <a:t>To design a federated learning framework that enables multiple cloud clients to collaboratively train threat detection models without sharing raw data.</a:t>
            </a:r>
            <a:endParaRPr lang="en-US" sz="2400" b="1"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rPr>
              <a:t>Objective 2:</a:t>
            </a:r>
          </a:p>
          <a:p>
            <a:pPr>
              <a:lnSpc>
                <a:spcPct val="150000"/>
              </a:lnSpc>
            </a:pPr>
            <a:r>
              <a:rPr lang="en-US" sz="2400" dirty="0">
                <a:latin typeface="Times New Roman" panose="02020603050405020304" pitchFamily="18" charset="0"/>
                <a:cs typeface="Times New Roman" panose="02020603050405020304" pitchFamily="18" charset="0"/>
              </a:rPr>
              <a:t>To enhance cloud security and privacy by automating threat identification, anomaly detection, and alert generation while ensuring compliance with data protection regulations.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52800" y="0"/>
            <a:ext cx="6806310" cy="243656"/>
          </a:xfrm>
          <a:prstGeom prst="rect">
            <a:avLst/>
          </a:prstGeom>
        </p:spPr>
        <p:txBody>
          <a:bodyPr vert="horz" wrap="square" lIns="0" tIns="12700" rIns="0" bIns="0" rtlCol="0">
            <a:spAutoFit/>
          </a:bodyPr>
          <a:lstStyle/>
          <a:p>
            <a:pPr marL="12700">
              <a:lnSpc>
                <a:spcPct val="100000"/>
              </a:lnSpc>
              <a:spcBef>
                <a:spcPts val="100"/>
              </a:spcBef>
            </a:pPr>
            <a:r>
              <a:rPr lang="en-IN" sz="1500" b="1" i="1" spc="-10" dirty="0">
                <a:solidFill>
                  <a:srgbClr val="FFFFFF"/>
                </a:solidFill>
              </a:rPr>
              <a:t>                                    </a:t>
            </a:r>
            <a:r>
              <a:rPr lang="en-IN" sz="1500" b="1" i="1" dirty="0">
                <a:solidFill>
                  <a:srgbClr val="FFFFFF"/>
                </a:solidFill>
              </a:rPr>
              <a:t> Federated learning Intrusion Detection System</a:t>
            </a:r>
            <a:endParaRPr sz="1500" dirty="0">
              <a:latin typeface="Times New Roman"/>
              <a:cs typeface="Times New Roman"/>
            </a:endParaRPr>
          </a:p>
        </p:txBody>
      </p:sp>
      <p:grpSp>
        <p:nvGrpSpPr>
          <p:cNvPr id="3" name="object 3"/>
          <p:cNvGrpSpPr/>
          <p:nvPr/>
        </p:nvGrpSpPr>
        <p:grpSpPr>
          <a:xfrm>
            <a:off x="0" y="216408"/>
            <a:ext cx="12192000" cy="803275"/>
            <a:chOff x="0" y="216408"/>
            <a:chExt cx="12192000" cy="803275"/>
          </a:xfrm>
        </p:grpSpPr>
        <p:pic>
          <p:nvPicPr>
            <p:cNvPr id="4" name="object 4"/>
            <p:cNvPicPr/>
            <p:nvPr/>
          </p:nvPicPr>
          <p:blipFill>
            <a:blip r:embed="rId3" cstate="print"/>
            <a:stretch>
              <a:fillRect/>
            </a:stretch>
          </p:blipFill>
          <p:spPr>
            <a:xfrm>
              <a:off x="0" y="216408"/>
              <a:ext cx="12192000" cy="803148"/>
            </a:xfrm>
            <a:prstGeom prst="rect">
              <a:avLst/>
            </a:prstGeom>
          </p:spPr>
        </p:pic>
        <p:sp>
          <p:nvSpPr>
            <p:cNvPr id="5" name="object 5"/>
            <p:cNvSpPr/>
            <p:nvPr/>
          </p:nvSpPr>
          <p:spPr>
            <a:xfrm>
              <a:off x="0" y="233159"/>
              <a:ext cx="12192000" cy="715010"/>
            </a:xfrm>
            <a:custGeom>
              <a:avLst/>
              <a:gdLst/>
              <a:ahLst/>
              <a:cxnLst/>
              <a:rect l="l" t="t" r="r" b="b"/>
              <a:pathLst>
                <a:path w="12192000" h="715010">
                  <a:moveTo>
                    <a:pt x="12192000" y="0"/>
                  </a:moveTo>
                  <a:lnTo>
                    <a:pt x="0" y="0"/>
                  </a:lnTo>
                  <a:lnTo>
                    <a:pt x="0" y="714387"/>
                  </a:lnTo>
                  <a:lnTo>
                    <a:pt x="12192000" y="714387"/>
                  </a:lnTo>
                  <a:lnTo>
                    <a:pt x="12192000" y="0"/>
                  </a:lnTo>
                  <a:close/>
                </a:path>
              </a:pathLst>
            </a:custGeom>
            <a:solidFill>
              <a:srgbClr val="FF6600"/>
            </a:solidFill>
          </p:spPr>
          <p:txBody>
            <a:bodyPr wrap="square" lIns="0" tIns="0" rIns="0" bIns="0" rtlCol="0"/>
            <a:lstStyle/>
            <a:p>
              <a:endParaRPr/>
            </a:p>
          </p:txBody>
        </p:sp>
      </p:grpSp>
      <p:sp>
        <p:nvSpPr>
          <p:cNvPr id="6" name="object 6"/>
          <p:cNvSpPr txBox="1"/>
          <p:nvPr/>
        </p:nvSpPr>
        <p:spPr>
          <a:xfrm>
            <a:off x="133908" y="232028"/>
            <a:ext cx="3936365" cy="696595"/>
          </a:xfrm>
          <a:prstGeom prst="rect">
            <a:avLst/>
          </a:prstGeom>
        </p:spPr>
        <p:txBody>
          <a:bodyPr vert="horz" wrap="square" lIns="0" tIns="12700" rIns="0" bIns="0" rtlCol="0">
            <a:spAutoFit/>
          </a:bodyPr>
          <a:lstStyle/>
          <a:p>
            <a:pPr marL="12700">
              <a:lnSpc>
                <a:spcPct val="100000"/>
              </a:lnSpc>
              <a:spcBef>
                <a:spcPts val="100"/>
              </a:spcBef>
            </a:pPr>
            <a:r>
              <a:rPr sz="4400" dirty="0">
                <a:solidFill>
                  <a:srgbClr val="FFFFFF"/>
                </a:solidFill>
                <a:latin typeface="Times New Roman"/>
                <a:cs typeface="Times New Roman"/>
              </a:rPr>
              <a:t>Literature</a:t>
            </a:r>
            <a:r>
              <a:rPr sz="4400" spc="-100" dirty="0">
                <a:solidFill>
                  <a:srgbClr val="FFFFFF"/>
                </a:solidFill>
                <a:latin typeface="Times New Roman"/>
                <a:cs typeface="Times New Roman"/>
              </a:rPr>
              <a:t> </a:t>
            </a:r>
            <a:r>
              <a:rPr sz="4400" spc="-10" dirty="0">
                <a:solidFill>
                  <a:srgbClr val="FFFFFF"/>
                </a:solidFill>
                <a:latin typeface="Times New Roman"/>
                <a:cs typeface="Times New Roman"/>
              </a:rPr>
              <a:t>Survey</a:t>
            </a:r>
            <a:endParaRPr sz="4400" dirty="0">
              <a:latin typeface="Times New Roman"/>
              <a:cs typeface="Times New Roman"/>
            </a:endParaRPr>
          </a:p>
        </p:txBody>
      </p:sp>
      <p:sp>
        <p:nvSpPr>
          <p:cNvPr id="8" name="object 8"/>
          <p:cNvSpPr txBox="1"/>
          <p:nvPr/>
        </p:nvSpPr>
        <p:spPr>
          <a:xfrm>
            <a:off x="140614" y="6608595"/>
            <a:ext cx="535305" cy="230832"/>
          </a:xfrm>
          <a:prstGeom prst="rect">
            <a:avLst/>
          </a:prstGeom>
        </p:spPr>
        <p:txBody>
          <a:bodyPr vert="horz" wrap="square" lIns="0" tIns="0" rIns="0" bIns="0" rtlCol="0">
            <a:spAutoFit/>
          </a:bodyPr>
          <a:lstStyle/>
          <a:p>
            <a:pPr marL="12700">
              <a:lnSpc>
                <a:spcPts val="1839"/>
              </a:lnSpc>
            </a:pPr>
            <a:r>
              <a:rPr lang="en-IN" sz="1600" dirty="0">
                <a:solidFill>
                  <a:srgbClr val="FFFFFF"/>
                </a:solidFill>
                <a:latin typeface="Times New Roman"/>
                <a:cs typeface="Times New Roman"/>
              </a:rPr>
              <a:t>B -15</a:t>
            </a:r>
            <a:endParaRPr sz="1600" dirty="0">
              <a:latin typeface="Times New Roman"/>
              <a:cs typeface="Times New Roman"/>
            </a:endParaRPr>
          </a:p>
        </p:txBody>
      </p:sp>
      <p:sp>
        <p:nvSpPr>
          <p:cNvPr id="9" name="object 9"/>
          <p:cNvSpPr txBox="1">
            <a:spLocks noGrp="1"/>
          </p:cNvSpPr>
          <p:nvPr>
            <p:ph type="ftr" sz="quarter" idx="5"/>
          </p:nvPr>
        </p:nvSpPr>
        <p:spPr>
          <a:xfrm>
            <a:off x="1121765" y="6607681"/>
            <a:ext cx="4474184" cy="230832"/>
          </a:xfrm>
          <a:prstGeom prst="rect">
            <a:avLst/>
          </a:prstGeom>
        </p:spPr>
        <p:txBody>
          <a:bodyPr vert="horz" wrap="square" lIns="0" tIns="0" rIns="0" bIns="0" rtlCol="0">
            <a:spAutoFit/>
          </a:bodyPr>
          <a:lstStyle/>
          <a:p>
            <a:pPr marL="12700">
              <a:lnSpc>
                <a:spcPts val="1839"/>
              </a:lnSpc>
            </a:pPr>
            <a:r>
              <a:rPr cap="small" spc="-70" dirty="0"/>
              <a:t>Dept.</a:t>
            </a:r>
            <a:r>
              <a:rPr cap="small" spc="-130" dirty="0"/>
              <a:t> </a:t>
            </a:r>
            <a:r>
              <a:rPr cap="small" dirty="0"/>
              <a:t>of</a:t>
            </a:r>
            <a:r>
              <a:rPr cap="small" spc="55" dirty="0"/>
              <a:t> </a:t>
            </a:r>
            <a:r>
              <a:rPr cap="small" spc="-95" dirty="0"/>
              <a:t>Computer</a:t>
            </a:r>
            <a:r>
              <a:rPr cap="small" spc="45" dirty="0"/>
              <a:t> </a:t>
            </a:r>
            <a:r>
              <a:rPr cap="small" spc="-75" dirty="0"/>
              <a:t>Science</a:t>
            </a:r>
            <a:r>
              <a:rPr cap="small" spc="15" dirty="0"/>
              <a:t> </a:t>
            </a:r>
            <a:r>
              <a:rPr cap="small" spc="-40" dirty="0"/>
              <a:t>and</a:t>
            </a:r>
            <a:r>
              <a:rPr cap="small" spc="45" dirty="0"/>
              <a:t> </a:t>
            </a:r>
            <a:r>
              <a:rPr cap="small" spc="-90" dirty="0"/>
              <a:t>Engineering</a:t>
            </a:r>
            <a:r>
              <a:rPr cap="small" spc="-50" dirty="0"/>
              <a:t> </a:t>
            </a:r>
            <a:endParaRPr cap="small" spc="-125" dirty="0"/>
          </a:p>
        </p:txBody>
      </p:sp>
      <p:sp>
        <p:nvSpPr>
          <p:cNvPr id="10" name="object 10"/>
          <p:cNvSpPr txBox="1">
            <a:spLocks noGrp="1"/>
          </p:cNvSpPr>
          <p:nvPr>
            <p:ph type="dt" sz="half" idx="6"/>
          </p:nvPr>
        </p:nvSpPr>
        <p:spPr>
          <a:xfrm>
            <a:off x="6249315" y="6611112"/>
            <a:ext cx="4800600" cy="235549"/>
          </a:xfrm>
          <a:prstGeom prst="rect">
            <a:avLst/>
          </a:prstGeom>
        </p:spPr>
        <p:txBody>
          <a:bodyPr vert="horz" wrap="square" lIns="0" tIns="0" rIns="0" bIns="0" rtlCol="0">
            <a:spAutoFit/>
          </a:bodyPr>
          <a:lstStyle/>
          <a:p>
            <a:pPr marL="509270">
              <a:lnSpc>
                <a:spcPts val="1839"/>
              </a:lnSpc>
            </a:pPr>
            <a:r>
              <a:rPr lang="en-IN" cap="small" spc="-85" dirty="0"/>
              <a:t>Srinivasa</a:t>
            </a:r>
            <a:r>
              <a:rPr lang="en-IN" cap="small" spc="-10" dirty="0"/>
              <a:t> </a:t>
            </a:r>
            <a:r>
              <a:rPr lang="en-IN" cap="small" spc="-95" dirty="0"/>
              <a:t>Ramanujan</a:t>
            </a:r>
            <a:r>
              <a:rPr lang="en-IN" cap="small" spc="-20" dirty="0"/>
              <a:t> </a:t>
            </a:r>
            <a:r>
              <a:rPr lang="en-IN" cap="small" spc="-95" dirty="0"/>
              <a:t>Institute</a:t>
            </a:r>
            <a:r>
              <a:rPr lang="en-IN" cap="small" spc="80" dirty="0"/>
              <a:t> </a:t>
            </a:r>
            <a:r>
              <a:rPr lang="en-IN" cap="small" dirty="0"/>
              <a:t>of</a:t>
            </a:r>
            <a:r>
              <a:rPr lang="en-IN" cap="small" spc="145" dirty="0"/>
              <a:t> </a:t>
            </a:r>
            <a:r>
              <a:rPr lang="en-IN" cap="small" spc="-155" dirty="0"/>
              <a:t>Technology</a:t>
            </a:r>
            <a:endParaRPr cap="small" spc="-155" dirty="0"/>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38100">
              <a:lnSpc>
                <a:spcPts val="1839"/>
              </a:lnSpc>
            </a:pPr>
            <a:fld id="{81D60167-4931-47E6-BA6A-407CBD079E47}" type="slidenum">
              <a:rPr spc="-25" dirty="0"/>
              <a:t>7</a:t>
            </a:fld>
            <a:endParaRPr spc="-25" dirty="0"/>
          </a:p>
        </p:txBody>
      </p:sp>
      <p:graphicFrame>
        <p:nvGraphicFramePr>
          <p:cNvPr id="7" name="object 7"/>
          <p:cNvGraphicFramePr>
            <a:graphicFrameLocks noGrp="1"/>
          </p:cNvGraphicFramePr>
          <p:nvPr>
            <p:extLst>
              <p:ext uri="{D42A27DB-BD31-4B8C-83A1-F6EECF244321}">
                <p14:modId xmlns:p14="http://schemas.microsoft.com/office/powerpoint/2010/main" val="3019215903"/>
              </p:ext>
            </p:extLst>
          </p:nvPr>
        </p:nvGraphicFramePr>
        <p:xfrm>
          <a:off x="355619" y="1009339"/>
          <a:ext cx="11174133" cy="5605129"/>
        </p:xfrm>
        <a:graphic>
          <a:graphicData uri="http://schemas.openxmlformats.org/drawingml/2006/table">
            <a:tbl>
              <a:tblPr firstRow="1" bandRow="1">
                <a:tableStyleId>{2D5ABB26-0587-4C30-8999-92F81FD0307C}</a:tableStyleId>
              </a:tblPr>
              <a:tblGrid>
                <a:gridCol w="494944">
                  <a:extLst>
                    <a:ext uri="{9D8B030D-6E8A-4147-A177-3AD203B41FA5}">
                      <a16:colId xmlns:a16="http://schemas.microsoft.com/office/drawing/2014/main" val="20000"/>
                    </a:ext>
                  </a:extLst>
                </a:gridCol>
                <a:gridCol w="1930464">
                  <a:extLst>
                    <a:ext uri="{9D8B030D-6E8A-4147-A177-3AD203B41FA5}">
                      <a16:colId xmlns:a16="http://schemas.microsoft.com/office/drawing/2014/main" val="20001"/>
                    </a:ext>
                  </a:extLst>
                </a:gridCol>
                <a:gridCol w="1459559">
                  <a:extLst>
                    <a:ext uri="{9D8B030D-6E8A-4147-A177-3AD203B41FA5}">
                      <a16:colId xmlns:a16="http://schemas.microsoft.com/office/drawing/2014/main" val="20002"/>
                    </a:ext>
                  </a:extLst>
                </a:gridCol>
                <a:gridCol w="1479283">
                  <a:extLst>
                    <a:ext uri="{9D8B030D-6E8A-4147-A177-3AD203B41FA5}">
                      <a16:colId xmlns:a16="http://schemas.microsoft.com/office/drawing/2014/main" val="20003"/>
                    </a:ext>
                  </a:extLst>
                </a:gridCol>
                <a:gridCol w="1750783">
                  <a:extLst>
                    <a:ext uri="{9D8B030D-6E8A-4147-A177-3AD203B41FA5}">
                      <a16:colId xmlns:a16="http://schemas.microsoft.com/office/drawing/2014/main" val="20004"/>
                    </a:ext>
                  </a:extLst>
                </a:gridCol>
                <a:gridCol w="2185342">
                  <a:extLst>
                    <a:ext uri="{9D8B030D-6E8A-4147-A177-3AD203B41FA5}">
                      <a16:colId xmlns:a16="http://schemas.microsoft.com/office/drawing/2014/main" val="20005"/>
                    </a:ext>
                  </a:extLst>
                </a:gridCol>
                <a:gridCol w="1873758">
                  <a:extLst>
                    <a:ext uri="{9D8B030D-6E8A-4147-A177-3AD203B41FA5}">
                      <a16:colId xmlns:a16="http://schemas.microsoft.com/office/drawing/2014/main" val="20006"/>
                    </a:ext>
                  </a:extLst>
                </a:gridCol>
              </a:tblGrid>
              <a:tr h="545937">
                <a:tc>
                  <a:txBody>
                    <a:bodyPr/>
                    <a:lstStyle/>
                    <a:p>
                      <a:pPr marL="85090">
                        <a:lnSpc>
                          <a:spcPts val="2150"/>
                        </a:lnSpc>
                      </a:pPr>
                      <a:r>
                        <a:rPr lang="en-IN" sz="1800" b="1" spc="-25" dirty="0">
                          <a:solidFill>
                            <a:srgbClr val="FFFFFF"/>
                          </a:solidFill>
                          <a:latin typeface="Times New Roman" panose="02020603050405020304" pitchFamily="18" charset="0"/>
                          <a:cs typeface="Times New Roman" panose="02020603050405020304" pitchFamily="18" charset="0"/>
                        </a:rPr>
                        <a:t>No</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090">
                        <a:lnSpc>
                          <a:spcPts val="2150"/>
                        </a:lnSpc>
                      </a:pPr>
                      <a:r>
                        <a:rPr lang="en-IN" sz="1800" b="1" spc="-10">
                          <a:solidFill>
                            <a:srgbClr val="FFFFFF"/>
                          </a:solidFill>
                          <a:latin typeface="Times New Roman" panose="02020603050405020304" pitchFamily="18" charset="0"/>
                          <a:cs typeface="Times New Roman" panose="02020603050405020304" pitchFamily="18" charset="0"/>
                        </a:rPr>
                        <a:t>Title</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090">
                        <a:lnSpc>
                          <a:spcPts val="2150"/>
                        </a:lnSpc>
                      </a:pPr>
                      <a:r>
                        <a:rPr lang="en-IN" sz="1800" b="1" spc="-10">
                          <a:solidFill>
                            <a:srgbClr val="FFFFFF"/>
                          </a:solidFill>
                          <a:latin typeface="Times New Roman" panose="02020603050405020304" pitchFamily="18" charset="0"/>
                          <a:cs typeface="Times New Roman" panose="02020603050405020304" pitchFamily="18" charset="0"/>
                        </a:rPr>
                        <a:t>Author</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725" marR="137795">
                        <a:lnSpc>
                          <a:spcPts val="2160"/>
                        </a:lnSpc>
                        <a:spcBef>
                          <a:spcPts val="60"/>
                        </a:spcBef>
                      </a:pPr>
                      <a:r>
                        <a:rPr lang="en-IN" sz="1800" b="1">
                          <a:solidFill>
                            <a:srgbClr val="FFFFFF"/>
                          </a:solidFill>
                          <a:latin typeface="Times New Roman" panose="02020603050405020304" pitchFamily="18" charset="0"/>
                          <a:cs typeface="Times New Roman" panose="02020603050405020304" pitchFamily="18" charset="0"/>
                        </a:rPr>
                        <a:t>Journal</a:t>
                      </a:r>
                      <a:r>
                        <a:rPr lang="en-IN" sz="1800" b="1" spc="-75">
                          <a:solidFill>
                            <a:srgbClr val="FFFFFF"/>
                          </a:solidFill>
                          <a:latin typeface="Times New Roman" panose="02020603050405020304" pitchFamily="18" charset="0"/>
                          <a:cs typeface="Times New Roman" panose="02020603050405020304" pitchFamily="18" charset="0"/>
                        </a:rPr>
                        <a:t> </a:t>
                      </a:r>
                      <a:r>
                        <a:rPr lang="en-IN" sz="1800" b="1" spc="-30">
                          <a:solidFill>
                            <a:srgbClr val="FFFFFF"/>
                          </a:solidFill>
                          <a:latin typeface="Times New Roman" panose="02020603050405020304" pitchFamily="18" charset="0"/>
                          <a:cs typeface="Times New Roman" panose="02020603050405020304" pitchFamily="18" charset="0"/>
                        </a:rPr>
                        <a:t>Name </a:t>
                      </a:r>
                      <a:r>
                        <a:rPr lang="en-IN" sz="1800" b="1">
                          <a:solidFill>
                            <a:srgbClr val="FFFFFF"/>
                          </a:solidFill>
                          <a:latin typeface="Times New Roman" panose="02020603050405020304" pitchFamily="18" charset="0"/>
                          <a:cs typeface="Times New Roman" panose="02020603050405020304" pitchFamily="18" charset="0"/>
                        </a:rPr>
                        <a:t>&amp;</a:t>
                      </a:r>
                      <a:r>
                        <a:rPr lang="en-IN" sz="1800" b="1" spc="-10">
                          <a:solidFill>
                            <a:srgbClr val="FFFFFF"/>
                          </a:solidFill>
                          <a:latin typeface="Times New Roman" panose="02020603050405020304" pitchFamily="18" charset="0"/>
                          <a:cs typeface="Times New Roman" panose="02020603050405020304" pitchFamily="18" charset="0"/>
                        </a:rPr>
                        <a:t> </a:t>
                      </a:r>
                      <a:r>
                        <a:rPr lang="en-IN" sz="1800" b="1" spc="-20">
                          <a:solidFill>
                            <a:srgbClr val="FFFFFF"/>
                          </a:solidFill>
                          <a:latin typeface="Times New Roman" panose="02020603050405020304" pitchFamily="18" charset="0"/>
                          <a:cs typeface="Times New Roman" panose="02020603050405020304" pitchFamily="18" charset="0"/>
                        </a:rPr>
                        <a:t>Year</a:t>
                      </a:r>
                      <a:endParaRPr lang="en-IN" sz="1800">
                        <a:latin typeface="Times New Roman" panose="02020603050405020304" pitchFamily="18" charset="0"/>
                        <a:cs typeface="Times New Roman" panose="02020603050405020304" pitchFamily="18" charset="0"/>
                      </a:endParaRPr>
                    </a:p>
                  </a:txBody>
                  <a:tcPr marL="0" marR="0" marT="762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725" marR="513715">
                        <a:lnSpc>
                          <a:spcPts val="2160"/>
                        </a:lnSpc>
                        <a:spcBef>
                          <a:spcPts val="60"/>
                        </a:spcBef>
                      </a:pPr>
                      <a:r>
                        <a:rPr lang="en-IN" sz="1800" b="1" spc="-10">
                          <a:solidFill>
                            <a:srgbClr val="FFFFFF"/>
                          </a:solidFill>
                          <a:latin typeface="Times New Roman" panose="02020603050405020304" pitchFamily="18" charset="0"/>
                          <a:cs typeface="Times New Roman" panose="02020603050405020304" pitchFamily="18" charset="0"/>
                        </a:rPr>
                        <a:t>Methodology Adapted</a:t>
                      </a:r>
                      <a:endParaRPr lang="en-IN" sz="1800">
                        <a:latin typeface="Times New Roman" panose="02020603050405020304" pitchFamily="18" charset="0"/>
                        <a:cs typeface="Times New Roman" panose="02020603050405020304" pitchFamily="18" charset="0"/>
                      </a:endParaRPr>
                    </a:p>
                  </a:txBody>
                  <a:tcPr marL="0" marR="0" marT="762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725">
                        <a:lnSpc>
                          <a:spcPts val="2150"/>
                        </a:lnSpc>
                      </a:pPr>
                      <a:r>
                        <a:rPr lang="en-IN" sz="1800" b="1">
                          <a:solidFill>
                            <a:srgbClr val="FFFFFF"/>
                          </a:solidFill>
                          <a:latin typeface="Times New Roman" panose="02020603050405020304" pitchFamily="18" charset="0"/>
                          <a:cs typeface="Times New Roman" panose="02020603050405020304" pitchFamily="18" charset="0"/>
                        </a:rPr>
                        <a:t>Key</a:t>
                      </a:r>
                      <a:r>
                        <a:rPr lang="en-IN" sz="1800" b="1" spc="-40">
                          <a:solidFill>
                            <a:srgbClr val="FFFFFF"/>
                          </a:solidFill>
                          <a:latin typeface="Times New Roman" panose="02020603050405020304" pitchFamily="18" charset="0"/>
                          <a:cs typeface="Times New Roman" panose="02020603050405020304" pitchFamily="18" charset="0"/>
                        </a:rPr>
                        <a:t> </a:t>
                      </a:r>
                      <a:r>
                        <a:rPr lang="en-IN" sz="1800" b="1" spc="-10">
                          <a:solidFill>
                            <a:srgbClr val="FFFFFF"/>
                          </a:solidFill>
                          <a:latin typeface="Times New Roman" panose="02020603050405020304" pitchFamily="18" charset="0"/>
                          <a:cs typeface="Times New Roman" panose="02020603050405020304" pitchFamily="18" charset="0"/>
                        </a:rPr>
                        <a:t>Findings</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7630">
                        <a:lnSpc>
                          <a:spcPts val="2150"/>
                        </a:lnSpc>
                      </a:pPr>
                      <a:r>
                        <a:rPr lang="en-IN" sz="1800" b="1" spc="-20" dirty="0">
                          <a:solidFill>
                            <a:srgbClr val="FFFFFF"/>
                          </a:solidFill>
                          <a:latin typeface="Times New Roman" panose="02020603050405020304" pitchFamily="18" charset="0"/>
                          <a:cs typeface="Times New Roman" panose="02020603050405020304" pitchFamily="18" charset="0"/>
                        </a:rPr>
                        <a:t>Gaps</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extLst>
                  <a:ext uri="{0D108BD9-81ED-4DB2-BD59-A6C34878D82A}">
                    <a16:rowId xmlns:a16="http://schemas.microsoft.com/office/drawing/2014/main" val="10000"/>
                  </a:ext>
                </a:extLst>
              </a:tr>
              <a:tr h="1642170">
                <a:tc>
                  <a:txBody>
                    <a:bodyPr/>
                    <a:lstStyle/>
                    <a:p>
                      <a:pPr marL="85090">
                        <a:lnSpc>
                          <a:spcPts val="2155"/>
                        </a:lnSpc>
                      </a:pPr>
                      <a:r>
                        <a:rPr lang="en-IN" sz="1800" spc="-25">
                          <a:latin typeface="Times New Roman" panose="02020603050405020304" pitchFamily="18" charset="0"/>
                          <a:cs typeface="Times New Roman" panose="02020603050405020304" pitchFamily="18" charset="0"/>
                        </a:rPr>
                        <a:t>1.</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090" marR="195580">
                        <a:lnSpc>
                          <a:spcPts val="2160"/>
                        </a:lnSpc>
                        <a:spcBef>
                          <a:spcPts val="65"/>
                        </a:spcBef>
                      </a:pPr>
                      <a:r>
                        <a:rPr lang="en-US" dirty="0">
                          <a:latin typeface="Times New Roman" panose="02020603050405020304" pitchFamily="18" charset="0"/>
                          <a:cs typeface="Times New Roman" panose="02020603050405020304" pitchFamily="18" charset="0"/>
                        </a:rPr>
                        <a:t>Design and Development of Volunteer Management System</a:t>
                      </a:r>
                      <a:endParaRPr lang="en-US" sz="1800" dirty="0">
                        <a:latin typeface="Times New Roman" panose="02020603050405020304" pitchFamily="18" charset="0"/>
                        <a:cs typeface="Times New Roman" panose="02020603050405020304" pitchFamily="18" charset="0"/>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090" marR="629285">
                        <a:lnSpc>
                          <a:spcPts val="2160"/>
                        </a:lnSpc>
                        <a:spcBef>
                          <a:spcPts val="65"/>
                        </a:spcBef>
                      </a:pPr>
                      <a:r>
                        <a:rPr lang="en-IN">
                          <a:latin typeface="Times New Roman" panose="02020603050405020304" pitchFamily="18" charset="0"/>
                          <a:cs typeface="Times New Roman" panose="02020603050405020304" pitchFamily="18" charset="0"/>
                        </a:rPr>
                        <a:t>Wu Xiaofei</a:t>
                      </a:r>
                      <a:endParaRPr lang="en-IN" sz="1800" dirty="0">
                        <a:latin typeface="Times New Roman" panose="02020603050405020304" pitchFamily="18" charset="0"/>
                        <a:cs typeface="Times New Roman" panose="02020603050405020304" pitchFamily="18" charset="0"/>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725">
                        <a:lnSpc>
                          <a:spcPts val="2155"/>
                        </a:lnSpc>
                      </a:pPr>
                      <a:r>
                        <a:rPr lang="en-IN">
                          <a:latin typeface="Times New Roman" panose="02020603050405020304" pitchFamily="18" charset="0"/>
                          <a:cs typeface="Times New Roman" panose="02020603050405020304" pitchFamily="18" charset="0"/>
                        </a:rPr>
                        <a:t>IJTSRD, 2023</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725" marR="471170">
                        <a:lnSpc>
                          <a:spcPts val="2160"/>
                        </a:lnSpc>
                        <a:spcBef>
                          <a:spcPts val="65"/>
                        </a:spcBef>
                      </a:pPr>
                      <a:r>
                        <a:rPr lang="en-US">
                          <a:latin typeface="Times New Roman" panose="02020603050405020304" pitchFamily="18" charset="0"/>
                          <a:cs typeface="Times New Roman" panose="02020603050405020304" pitchFamily="18" charset="0"/>
                        </a:rPr>
                        <a:t>Basic web-based volunteer registration + event creation</a:t>
                      </a:r>
                      <a:endParaRPr lang="en-US" sz="1800" dirty="0">
                        <a:latin typeface="Times New Roman" panose="02020603050405020304" pitchFamily="18" charset="0"/>
                        <a:cs typeface="Times New Roman" panose="02020603050405020304" pitchFamily="18" charset="0"/>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5725" marR="450850">
                        <a:lnSpc>
                          <a:spcPts val="2160"/>
                        </a:lnSpc>
                        <a:spcBef>
                          <a:spcPts val="65"/>
                        </a:spcBef>
                      </a:pPr>
                      <a:r>
                        <a:rPr lang="en-US">
                          <a:latin typeface="Times New Roman" panose="02020603050405020304" pitchFamily="18" charset="0"/>
                          <a:cs typeface="Times New Roman" panose="02020603050405020304" pitchFamily="18" charset="0"/>
                        </a:rPr>
                        <a:t>Provided simple volunteer registration and approval system</a:t>
                      </a:r>
                      <a:endParaRPr lang="en-US" sz="1800" dirty="0">
                        <a:latin typeface="Times New Roman" panose="02020603050405020304" pitchFamily="18" charset="0"/>
                        <a:cs typeface="Times New Roman" panose="02020603050405020304" pitchFamily="18" charset="0"/>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tc>
                  <a:txBody>
                    <a:bodyPr/>
                    <a:lstStyle/>
                    <a:p>
                      <a:pPr marL="87630" marR="459740">
                        <a:lnSpc>
                          <a:spcPts val="2160"/>
                        </a:lnSpc>
                        <a:spcBef>
                          <a:spcPts val="65"/>
                        </a:spcBef>
                      </a:pPr>
                      <a:r>
                        <a:rPr lang="en-US">
                          <a:latin typeface="Times New Roman" panose="02020603050405020304" pitchFamily="18" charset="0"/>
                          <a:cs typeface="Times New Roman" panose="02020603050405020304" pitchFamily="18" charset="0"/>
                        </a:rPr>
                        <a:t>No automation, no reminders, no reward system, limited roles</a:t>
                      </a:r>
                      <a:endParaRPr lang="en-US" sz="1800" dirty="0">
                        <a:latin typeface="Times New Roman" panose="02020603050405020304" pitchFamily="18" charset="0"/>
                        <a:cs typeface="Times New Roman" panose="02020603050405020304" pitchFamily="18" charset="0"/>
                      </a:endParaRPr>
                    </a:p>
                  </a:txBody>
                  <a:tcPr marL="0" marR="0" marT="825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EEC"/>
                    </a:solidFill>
                  </a:tcPr>
                </a:tc>
                <a:extLst>
                  <a:ext uri="{0D108BD9-81ED-4DB2-BD59-A6C34878D82A}">
                    <a16:rowId xmlns:a16="http://schemas.microsoft.com/office/drawing/2014/main" val="10001"/>
                  </a:ext>
                </a:extLst>
              </a:tr>
              <a:tr h="851646">
                <a:tc>
                  <a:txBody>
                    <a:bodyPr/>
                    <a:lstStyle/>
                    <a:p>
                      <a:pPr marL="85090">
                        <a:lnSpc>
                          <a:spcPts val="2155"/>
                        </a:lnSpc>
                      </a:pPr>
                      <a:r>
                        <a:rPr lang="en-IN" sz="1800" spc="-50">
                          <a:latin typeface="Times New Roman" panose="02020603050405020304" pitchFamily="18" charset="0"/>
                          <a:cs typeface="Times New Roman" panose="02020603050405020304" pitchFamily="18" charset="0"/>
                        </a:rPr>
                        <a:t>2</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a:lnSpc>
                          <a:spcPts val="2045"/>
                        </a:lnSpc>
                      </a:pPr>
                      <a:r>
                        <a:rPr lang="en-IN" dirty="0">
                          <a:latin typeface="Times New Roman" panose="02020603050405020304" pitchFamily="18" charset="0"/>
                          <a:cs typeface="Times New Roman" panose="02020603050405020304" pitchFamily="18" charset="0"/>
                        </a:rPr>
                        <a:t>Digital Volunteer Coordination Models</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51435">
                        <a:lnSpc>
                          <a:spcPts val="2045"/>
                        </a:lnSpc>
                      </a:pPr>
                      <a:r>
                        <a:rPr lang="en-IN" dirty="0">
                          <a:latin typeface="Times New Roman" panose="02020603050405020304" pitchFamily="18" charset="0"/>
                          <a:cs typeface="Times New Roman" panose="02020603050405020304" pitchFamily="18" charset="0"/>
                        </a:rPr>
                        <a:t>Nguyen &amp; Tran</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52069">
                        <a:lnSpc>
                          <a:spcPts val="2045"/>
                        </a:lnSpc>
                      </a:pPr>
                      <a:r>
                        <a:rPr lang="en-US" dirty="0">
                          <a:latin typeface="Times New Roman" panose="02020603050405020304" pitchFamily="18" charset="0"/>
                          <a:cs typeface="Times New Roman" panose="02020603050405020304" pitchFamily="18" charset="0"/>
                        </a:rPr>
                        <a:t>Int. Journal of Info Systems, 2022</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45"/>
                        </a:lnSpc>
                      </a:pPr>
                      <a:r>
                        <a:rPr lang="en-US">
                          <a:latin typeface="Times New Roman" panose="02020603050405020304" pitchFamily="18" charset="0"/>
                          <a:cs typeface="Times New Roman" panose="02020603050405020304" pitchFamily="18" charset="0"/>
                        </a:rPr>
                        <a:t>Web platform for volunteer-event matching</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45"/>
                        </a:lnSpc>
                      </a:pPr>
                      <a:r>
                        <a:rPr lang="en-US">
                          <a:latin typeface="Times New Roman" panose="02020603050405020304" pitchFamily="18" charset="0"/>
                          <a:cs typeface="Times New Roman" panose="02020603050405020304" pitchFamily="18" charset="0"/>
                        </a:rPr>
                        <a:t>Improved volunteer participation using digital communication</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45"/>
                        </a:lnSpc>
                      </a:pPr>
                      <a:r>
                        <a:rPr lang="en-US">
                          <a:latin typeface="Times New Roman" panose="02020603050405020304" pitchFamily="18" charset="0"/>
                          <a:cs typeface="Times New Roman" panose="02020603050405020304" pitchFamily="18" charset="0"/>
                        </a:rPr>
                        <a:t>No attendance tracking, no coordinator role</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extLst>
                  <a:ext uri="{0D108BD9-81ED-4DB2-BD59-A6C34878D82A}">
                    <a16:rowId xmlns:a16="http://schemas.microsoft.com/office/drawing/2014/main" val="10002"/>
                  </a:ext>
                </a:extLst>
              </a:tr>
              <a:tr h="1045809">
                <a:tc>
                  <a:txBody>
                    <a:bodyPr/>
                    <a:lstStyle/>
                    <a:p>
                      <a:pPr marL="85090">
                        <a:lnSpc>
                          <a:spcPts val="2150"/>
                        </a:lnSpc>
                      </a:pPr>
                      <a:r>
                        <a:rPr lang="en-IN" sz="1800" spc="-50">
                          <a:latin typeface="Times New Roman" panose="02020603050405020304" pitchFamily="18" charset="0"/>
                          <a:cs typeface="Times New Roman" panose="02020603050405020304" pitchFamily="18" charset="0"/>
                        </a:rPr>
                        <a:t>3</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a:lnSpc>
                          <a:spcPts val="2050"/>
                        </a:lnSpc>
                      </a:pPr>
                      <a:r>
                        <a:rPr lang="en-IN">
                          <a:latin typeface="Times New Roman" panose="02020603050405020304" pitchFamily="18" charset="0"/>
                          <a:cs typeface="Times New Roman" panose="02020603050405020304" pitchFamily="18" charset="0"/>
                        </a:rPr>
                        <a:t>NGO Volunteer Matching System</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51435">
                        <a:lnSpc>
                          <a:spcPts val="2050"/>
                        </a:lnSpc>
                      </a:pPr>
                      <a:r>
                        <a:rPr lang="en-IN" dirty="0">
                          <a:latin typeface="Times New Roman" panose="02020603050405020304" pitchFamily="18" charset="0"/>
                          <a:cs typeface="Times New Roman" panose="02020603050405020304" pitchFamily="18" charset="0"/>
                        </a:rPr>
                        <a:t>Kumar &amp; Singh</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52069">
                        <a:lnSpc>
                          <a:spcPts val="2050"/>
                        </a:lnSpc>
                      </a:pPr>
                      <a:r>
                        <a:rPr lang="en-IN" dirty="0">
                          <a:latin typeface="Times New Roman" panose="02020603050405020304" pitchFamily="18" charset="0"/>
                          <a:cs typeface="Times New Roman" panose="02020603050405020304" pitchFamily="18" charset="0"/>
                        </a:rPr>
                        <a:t>IJCS&amp;T, 2021</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635">
                        <a:lnSpc>
                          <a:spcPts val="2050"/>
                        </a:lnSpc>
                      </a:pPr>
                      <a:r>
                        <a:rPr lang="en-US">
                          <a:latin typeface="Times New Roman" panose="02020603050405020304" pitchFamily="18" charset="0"/>
                          <a:cs typeface="Times New Roman" panose="02020603050405020304" pitchFamily="18" charset="0"/>
                        </a:rPr>
                        <a:t>Volunteer-task matching based on skills</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635">
                        <a:lnSpc>
                          <a:spcPts val="2050"/>
                        </a:lnSpc>
                      </a:pPr>
                      <a:r>
                        <a:rPr lang="en-US">
                          <a:latin typeface="Times New Roman" panose="02020603050405020304" pitchFamily="18" charset="0"/>
                          <a:cs typeface="Times New Roman" panose="02020603050405020304" pitchFamily="18" charset="0"/>
                        </a:rPr>
                        <a:t>Better matching of volunteers to tasks</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EEC"/>
                    </a:solidFill>
                  </a:tcPr>
                </a:tc>
                <a:tc>
                  <a:txBody>
                    <a:bodyPr/>
                    <a:lstStyle/>
                    <a:p>
                      <a:pPr marL="635">
                        <a:lnSpc>
                          <a:spcPts val="2050"/>
                        </a:lnSpc>
                      </a:pPr>
                      <a:r>
                        <a:rPr lang="en-US" dirty="0">
                          <a:latin typeface="Times New Roman" panose="02020603050405020304" pitchFamily="18" charset="0"/>
                          <a:cs typeface="Times New Roman" panose="02020603050405020304" pitchFamily="18" charset="0"/>
                        </a:rPr>
                        <a:t>Does not support college-based workflows or certificates</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cap="flat" cmpd="sng" algn="ctr">
                      <a:solidFill>
                        <a:srgbClr val="FFFFFF"/>
                      </a:solidFill>
                      <a:prstDash val="solid"/>
                      <a:round/>
                      <a:headEnd type="none" w="med" len="med"/>
                      <a:tailEnd type="none" w="med" len="med"/>
                    </a:lnB>
                    <a:solidFill>
                      <a:srgbClr val="D0DEEC"/>
                    </a:solidFill>
                  </a:tcPr>
                </a:tc>
                <a:extLst>
                  <a:ext uri="{0D108BD9-81ED-4DB2-BD59-A6C34878D82A}">
                    <a16:rowId xmlns:a16="http://schemas.microsoft.com/office/drawing/2014/main" val="10003"/>
                  </a:ext>
                </a:extLst>
              </a:tr>
              <a:tr h="1165330">
                <a:tc>
                  <a:txBody>
                    <a:bodyPr/>
                    <a:lstStyle/>
                    <a:p>
                      <a:pPr marL="85090">
                        <a:lnSpc>
                          <a:spcPts val="2160"/>
                        </a:lnSpc>
                      </a:pPr>
                      <a:r>
                        <a:rPr lang="en-IN" sz="1800" spc="-50">
                          <a:latin typeface="Times New Roman" panose="02020603050405020304" pitchFamily="18" charset="0"/>
                          <a:cs typeface="Times New Roman" panose="02020603050405020304" pitchFamily="18" charset="0"/>
                        </a:rPr>
                        <a:t>4</a:t>
                      </a:r>
                      <a:endParaRPr lang="en-IN" sz="180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a:lnSpc>
                          <a:spcPts val="2050"/>
                        </a:lnSpc>
                      </a:pPr>
                      <a:r>
                        <a:rPr lang="en-US">
                          <a:latin typeface="Times New Roman" panose="02020603050405020304" pitchFamily="18" charset="0"/>
                          <a:cs typeface="Times New Roman" panose="02020603050405020304" pitchFamily="18" charset="0"/>
                        </a:rPr>
                        <a:t>Smart Task Assignment &amp; Attendance Tracking</a:t>
                      </a:r>
                      <a:endParaRPr lang="en-US"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51435">
                        <a:lnSpc>
                          <a:spcPts val="2050"/>
                        </a:lnSpc>
                      </a:pPr>
                      <a:r>
                        <a:rPr lang="en-IN">
                          <a:latin typeface="Times New Roman" panose="02020603050405020304" pitchFamily="18" charset="0"/>
                          <a:cs typeface="Times New Roman" panose="02020603050405020304" pitchFamily="18" charset="0"/>
                        </a:rPr>
                        <a:t>Abbas &amp; Noor</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52069">
                        <a:lnSpc>
                          <a:spcPts val="2050"/>
                        </a:lnSpc>
                      </a:pPr>
                      <a:r>
                        <a:rPr lang="en-IN">
                          <a:latin typeface="Times New Roman" panose="02020603050405020304" pitchFamily="18" charset="0"/>
                          <a:cs typeface="Times New Roman" panose="02020603050405020304" pitchFamily="18" charset="0"/>
                        </a:rPr>
                        <a:t>IEEE Access, 2023</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50"/>
                        </a:lnSpc>
                      </a:pPr>
                      <a:r>
                        <a:rPr lang="en-IN" dirty="0">
                          <a:latin typeface="Times New Roman" panose="02020603050405020304" pitchFamily="18" charset="0"/>
                          <a:cs typeface="Times New Roman" panose="02020603050405020304" pitchFamily="18" charset="0"/>
                        </a:rPr>
                        <a:t>Smart attendance + task assignment</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tc>
                  <a:txBody>
                    <a:bodyPr/>
                    <a:lstStyle/>
                    <a:p>
                      <a:pPr marL="635">
                        <a:lnSpc>
                          <a:spcPts val="2050"/>
                        </a:lnSpc>
                      </a:pPr>
                      <a:r>
                        <a:rPr lang="en-IN">
                          <a:latin typeface="Times New Roman" panose="02020603050405020304" pitchFamily="18" charset="0"/>
                          <a:cs typeface="Times New Roman" panose="02020603050405020304" pitchFamily="18" charset="0"/>
                        </a:rPr>
                        <a:t>Automated attendance improved accuracy</a:t>
                      </a:r>
                      <a:endParaRPr lang="en-IN" sz="1800" dirty="0">
                        <a:latin typeface="Times New Roman" panose="02020603050405020304" pitchFamily="18" charset="0"/>
                        <a:cs typeface="Times New Roman" panose="02020603050405020304" pitchFamily="18" charset="0"/>
                      </a:endParaRPr>
                    </a:p>
                  </a:txBody>
                  <a:tcPr marL="0" marR="0" marT="0" marB="0">
                    <a:lnL w="12700">
                      <a:solidFill>
                        <a:srgbClr val="FFFFFF"/>
                      </a:solidFill>
                      <a:prstDash val="solid"/>
                    </a:lnL>
                    <a:lnR w="12700" cap="flat" cmpd="sng" algn="ctr">
                      <a:solidFill>
                        <a:srgbClr val="FFFFFF"/>
                      </a:solidFill>
                      <a:prstDash val="solid"/>
                      <a:round/>
                      <a:headEnd type="none" w="med" len="med"/>
                      <a:tailEnd type="none" w="med" len="med"/>
                    </a:lnR>
                    <a:lnT w="12700">
                      <a:solidFill>
                        <a:srgbClr val="FFFFFF"/>
                      </a:solidFill>
                      <a:prstDash val="solid"/>
                    </a:lnT>
                    <a:lnB w="12700">
                      <a:solidFill>
                        <a:srgbClr val="FFFFFF"/>
                      </a:solidFill>
                      <a:prstDash val="solid"/>
                    </a:lnB>
                    <a:solidFill>
                      <a:srgbClr val="E9ECF6"/>
                    </a:solidFill>
                  </a:tcPr>
                </a:tc>
                <a:tc>
                  <a:txBody>
                    <a:bodyPr/>
                    <a:lstStyle/>
                    <a:p>
                      <a:pPr>
                        <a:buNone/>
                      </a:pPr>
                      <a:r>
                        <a:rPr lang="en-US" dirty="0">
                          <a:latin typeface="Times New Roman" panose="02020603050405020304" pitchFamily="18" charset="0"/>
                          <a:cs typeface="Times New Roman" panose="02020603050405020304" pitchFamily="18" charset="0"/>
                        </a:rPr>
                        <a:t>No reward system, no community event structure</a:t>
                      </a:r>
                    </a:p>
                  </a:txBody>
                  <a:tcPr anchor="ctr">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667000" y="-18339"/>
            <a:ext cx="417192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Federated learning Intrusion Detection System</a:t>
            </a:r>
            <a:endParaRPr sz="1500" dirty="0">
              <a:latin typeface="Times New Roman"/>
              <a:cs typeface="Times New Roman"/>
            </a:endParaRPr>
          </a:p>
        </p:txBody>
      </p:sp>
      <p:sp>
        <p:nvSpPr>
          <p:cNvPr id="3" name="object 3"/>
          <p:cNvSpPr txBox="1"/>
          <p:nvPr/>
        </p:nvSpPr>
        <p:spPr>
          <a:xfrm>
            <a:off x="236899" y="1002318"/>
            <a:ext cx="11164570" cy="4370427"/>
          </a:xfrm>
          <a:prstGeom prst="rect">
            <a:avLst/>
          </a:prstGeom>
        </p:spPr>
        <p:txBody>
          <a:bodyPr vert="horz" wrap="square" lIns="0" tIns="60960" rIns="0" bIns="0" rtlCol="0">
            <a:spAutoFit/>
          </a:bodyPr>
          <a:lstStyle/>
          <a:p>
            <a:r>
              <a:rPr lang="en-US" sz="2800" dirty="0">
                <a:latin typeface="Times New Roman" panose="02020603050405020304" pitchFamily="18" charset="0"/>
                <a:cs typeface="Times New Roman" panose="02020603050405020304" pitchFamily="18" charset="0"/>
              </a:rPr>
              <a:t>The proposed system is a federated learning–based framework designed to detect cloud threats in a secure and privacy-preserving way. The system allows multiple cloud clients to train models locally on their own sensitive data, while a central server aggregates updates to build a stronger global detection model. Instead of sharing raw logs or private information, all threat-related learning takes place collaboratively across distributed nodes. This makes detection faster, more accurate, and compliant with privacy regulations. The system also provides automated alerts, anomaly detection, and resilience against adversarial attacks, making cloud threat detection more efficient, transparent, and trustworthy for both providers and users.</a:t>
            </a:r>
          </a:p>
        </p:txBody>
      </p:sp>
      <p:grpSp>
        <p:nvGrpSpPr>
          <p:cNvPr id="4" name="object 4"/>
          <p:cNvGrpSpPr/>
          <p:nvPr/>
        </p:nvGrpSpPr>
        <p:grpSpPr>
          <a:xfrm>
            <a:off x="0" y="216720"/>
            <a:ext cx="12192000" cy="803275"/>
            <a:chOff x="0" y="216720"/>
            <a:chExt cx="12192000" cy="803275"/>
          </a:xfrm>
        </p:grpSpPr>
        <p:pic>
          <p:nvPicPr>
            <p:cNvPr id="5" name="object 5"/>
            <p:cNvPicPr/>
            <p:nvPr/>
          </p:nvPicPr>
          <p:blipFill>
            <a:blip r:embed="rId2" cstate="print"/>
            <a:stretch>
              <a:fillRect/>
            </a:stretch>
          </p:blipFill>
          <p:spPr>
            <a:xfrm>
              <a:off x="0" y="216720"/>
              <a:ext cx="12192000" cy="803160"/>
            </a:xfrm>
            <a:prstGeom prst="rect">
              <a:avLst/>
            </a:prstGeom>
          </p:spPr>
        </p:pic>
        <p:sp>
          <p:nvSpPr>
            <p:cNvPr id="6" name="object 6"/>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xfrm>
            <a:off x="73025" y="182323"/>
            <a:ext cx="3888104" cy="695960"/>
          </a:xfrm>
          <a:prstGeom prst="rect">
            <a:avLst/>
          </a:prstGeom>
        </p:spPr>
        <p:txBody>
          <a:bodyPr vert="horz" wrap="square" lIns="0" tIns="12700" rIns="0" bIns="0" rtlCol="0">
            <a:spAutoFit/>
          </a:bodyPr>
          <a:lstStyle/>
          <a:p>
            <a:pPr marL="12700">
              <a:lnSpc>
                <a:spcPct val="100000"/>
              </a:lnSpc>
              <a:spcBef>
                <a:spcPts val="100"/>
              </a:spcBef>
              <a:tabLst>
                <a:tab pos="2232025" algn="l"/>
              </a:tabLst>
            </a:pPr>
            <a:r>
              <a:rPr spc="-10" dirty="0"/>
              <a:t>Proposed</a:t>
            </a:r>
            <a:r>
              <a:rPr dirty="0"/>
              <a:t>	</a:t>
            </a:r>
            <a:r>
              <a:rPr spc="-10" dirty="0"/>
              <a:t>System</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9" name="object 9"/>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093451"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8</a:t>
            </a:fld>
            <a:endParaRPr spc="-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0" y="-18836"/>
            <a:ext cx="394592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F</a:t>
            </a:r>
            <a:r>
              <a:rPr lang="en-IN" sz="1500" b="1" i="1" dirty="0" err="1">
                <a:solidFill>
                  <a:srgbClr val="FFFFFF"/>
                </a:solidFill>
                <a:latin typeface="Times New Roman"/>
                <a:cs typeface="Times New Roman"/>
              </a:rPr>
              <a:t>ederated</a:t>
            </a:r>
            <a:r>
              <a:rPr lang="en-IN" sz="1500" b="1" i="1" dirty="0">
                <a:solidFill>
                  <a:srgbClr val="FFFFFF"/>
                </a:solidFill>
                <a:latin typeface="Times New Roman"/>
                <a:cs typeface="Times New Roman"/>
              </a:rPr>
              <a:t> Learning Intrusion Detection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52400">
              <a:lnSpc>
                <a:spcPct val="100000"/>
              </a:lnSpc>
              <a:spcBef>
                <a:spcPts val="100"/>
              </a:spcBef>
            </a:pPr>
            <a:r>
              <a:rPr spc="-10" dirty="0"/>
              <a:t>References</a:t>
            </a:r>
          </a:p>
        </p:txBody>
      </p:sp>
      <p:sp>
        <p:nvSpPr>
          <p:cNvPr id="9" name="object 9"/>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10" name="object 10"/>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1" name="object 11"/>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9</a:t>
            </a:fld>
            <a:endParaRPr spc="-25" dirty="0"/>
          </a:p>
        </p:txBody>
      </p:sp>
      <p:pic>
        <p:nvPicPr>
          <p:cNvPr id="13" name="Picture 12">
            <a:extLst>
              <a:ext uri="{FF2B5EF4-FFF2-40B4-BE49-F238E27FC236}">
                <a16:creationId xmlns:a16="http://schemas.microsoft.com/office/drawing/2014/main" id="{9048E7AA-2C62-315D-3F1D-20136114BEFB}"/>
              </a:ext>
            </a:extLst>
          </p:cNvPr>
          <p:cNvPicPr>
            <a:picLocks noChangeAspect="1"/>
          </p:cNvPicPr>
          <p:nvPr/>
        </p:nvPicPr>
        <p:blipFill>
          <a:blip r:embed="rId3"/>
          <a:stretch>
            <a:fillRect/>
          </a:stretch>
        </p:blipFill>
        <p:spPr>
          <a:xfrm>
            <a:off x="102522" y="1204341"/>
            <a:ext cx="11545911" cy="46297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4" name="object 4"/>
          <p:cNvSpPr txBox="1"/>
          <p:nvPr/>
        </p:nvSpPr>
        <p:spPr>
          <a:xfrm>
            <a:off x="3352800" y="-39165"/>
            <a:ext cx="380176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F</a:t>
            </a:r>
            <a:r>
              <a:rPr lang="en-IN" sz="1500" b="1" i="1" dirty="0" err="1">
                <a:solidFill>
                  <a:srgbClr val="FFFFFF"/>
                </a:solidFill>
                <a:latin typeface="Times New Roman"/>
                <a:cs typeface="Times New Roman"/>
              </a:rPr>
              <a:t>ederated</a:t>
            </a:r>
            <a:r>
              <a:rPr lang="en-IN" sz="1500" b="1" i="1" dirty="0">
                <a:solidFill>
                  <a:srgbClr val="FFFFFF"/>
                </a:solidFill>
                <a:latin typeface="Times New Roman"/>
                <a:cs typeface="Times New Roman"/>
              </a:rPr>
              <a:t> Learning Intrusion Detection System</a:t>
            </a:r>
            <a:endParaRPr sz="1500" dirty="0">
              <a:latin typeface="Times New Roman"/>
              <a:cs typeface="Times New Roman"/>
            </a:endParaRPr>
          </a:p>
        </p:txBody>
      </p:sp>
      <p:grpSp>
        <p:nvGrpSpPr>
          <p:cNvPr id="5" name="object 5"/>
          <p:cNvGrpSpPr/>
          <p:nvPr/>
        </p:nvGrpSpPr>
        <p:grpSpPr>
          <a:xfrm>
            <a:off x="0" y="216720"/>
            <a:ext cx="12192000" cy="803275"/>
            <a:chOff x="0" y="216720"/>
            <a:chExt cx="12192000" cy="803275"/>
          </a:xfrm>
        </p:grpSpPr>
        <p:pic>
          <p:nvPicPr>
            <p:cNvPr id="6" name="object 6"/>
            <p:cNvPicPr/>
            <p:nvPr/>
          </p:nvPicPr>
          <p:blipFill>
            <a:blip r:embed="rId2" cstate="print"/>
            <a:stretch>
              <a:fillRect/>
            </a:stretch>
          </p:blipFill>
          <p:spPr>
            <a:xfrm>
              <a:off x="0" y="216720"/>
              <a:ext cx="12192000" cy="803160"/>
            </a:xfrm>
            <a:prstGeom prst="rect">
              <a:avLst/>
            </a:prstGeom>
          </p:spPr>
        </p:pic>
        <p:sp>
          <p:nvSpPr>
            <p:cNvPr id="7" name="object 7"/>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8" name="object 8"/>
          <p:cNvSpPr txBox="1">
            <a:spLocks noGrp="1"/>
          </p:cNvSpPr>
          <p:nvPr>
            <p:ph type="title"/>
          </p:nvPr>
        </p:nvSpPr>
        <p:spPr>
          <a:xfrm>
            <a:off x="73025" y="182323"/>
            <a:ext cx="8136255" cy="695960"/>
          </a:xfrm>
          <a:prstGeom prst="rect">
            <a:avLst/>
          </a:prstGeom>
        </p:spPr>
        <p:txBody>
          <a:bodyPr vert="horz" wrap="square" lIns="0" tIns="12700" rIns="0" bIns="0" rtlCol="0">
            <a:spAutoFit/>
          </a:bodyPr>
          <a:lstStyle/>
          <a:p>
            <a:pPr marL="12700">
              <a:lnSpc>
                <a:spcPct val="100000"/>
              </a:lnSpc>
              <a:spcBef>
                <a:spcPts val="100"/>
              </a:spcBef>
              <a:tabLst>
                <a:tab pos="1966595" algn="l"/>
                <a:tab pos="5348605" algn="l"/>
                <a:tab pos="6511925" algn="l"/>
              </a:tabLst>
            </a:pPr>
            <a:r>
              <a:rPr dirty="0"/>
              <a:t>Git</a:t>
            </a:r>
            <a:r>
              <a:rPr spc="-75" dirty="0"/>
              <a:t> </a:t>
            </a:r>
            <a:r>
              <a:rPr spc="-25" dirty="0"/>
              <a:t>Hub</a:t>
            </a:r>
            <a:r>
              <a:rPr dirty="0"/>
              <a:t>	Dashboards</a:t>
            </a:r>
            <a:r>
              <a:rPr spc="-60" dirty="0"/>
              <a:t> </a:t>
            </a:r>
            <a:r>
              <a:rPr spc="-25" dirty="0"/>
              <a:t>of</a:t>
            </a:r>
            <a:r>
              <a:rPr dirty="0"/>
              <a:t>	</a:t>
            </a:r>
            <a:r>
              <a:rPr spc="-20" dirty="0"/>
              <a:t>each</a:t>
            </a:r>
            <a:r>
              <a:rPr dirty="0"/>
              <a:t>	</a:t>
            </a:r>
            <a:r>
              <a:rPr spc="-10" dirty="0"/>
              <a:t>student</a:t>
            </a:r>
          </a:p>
        </p:txBody>
      </p:sp>
      <p:sp>
        <p:nvSpPr>
          <p:cNvPr id="10" name="object 10"/>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11" name="object 11"/>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2" name="object 12"/>
          <p:cNvSpPr txBox="1"/>
          <p:nvPr/>
        </p:nvSpPr>
        <p:spPr>
          <a:xfrm>
            <a:off x="7147541" y="6629197"/>
            <a:ext cx="4206259"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10</a:t>
            </a:fld>
            <a:endParaRPr spc="-25" dirty="0"/>
          </a:p>
        </p:txBody>
      </p:sp>
      <p:sp>
        <p:nvSpPr>
          <p:cNvPr id="9" name="object 9"/>
          <p:cNvSpPr txBox="1"/>
          <p:nvPr/>
        </p:nvSpPr>
        <p:spPr>
          <a:xfrm>
            <a:off x="596402" y="5987760"/>
            <a:ext cx="10147798" cy="289823"/>
          </a:xfrm>
          <a:prstGeom prst="rect">
            <a:avLst/>
          </a:prstGeom>
        </p:spPr>
        <p:txBody>
          <a:bodyPr vert="horz" wrap="square" lIns="0" tIns="12700" rIns="0" bIns="0" rtlCol="0">
            <a:spAutoFit/>
          </a:bodyPr>
          <a:lstStyle/>
          <a:p>
            <a:pPr marL="12700">
              <a:lnSpc>
                <a:spcPct val="100000"/>
              </a:lnSpc>
              <a:spcBef>
                <a:spcPts val="100"/>
              </a:spcBef>
            </a:pPr>
            <a:r>
              <a:rPr sz="1800" dirty="0">
                <a:latin typeface="Times New Roman" panose="02020603050405020304" pitchFamily="18" charset="0"/>
                <a:cs typeface="Times New Roman" panose="02020603050405020304" pitchFamily="18" charset="0"/>
              </a:rPr>
              <a:t>link</a:t>
            </a:r>
            <a:r>
              <a:rPr sz="1800" spc="-10" dirty="0">
                <a:latin typeface="Times New Roman" panose="02020603050405020304" pitchFamily="18" charset="0"/>
                <a:cs typeface="Times New Roman" panose="02020603050405020304" pitchFamily="18" charset="0"/>
              </a:rPr>
              <a:t> </a:t>
            </a:r>
            <a:r>
              <a:rPr sz="1800" dirty="0">
                <a:latin typeface="Times New Roman" panose="02020603050405020304" pitchFamily="18" charset="0"/>
                <a:cs typeface="Times New Roman" panose="02020603050405020304" pitchFamily="18" charset="0"/>
              </a:rPr>
              <a:t>of</a:t>
            </a:r>
            <a:r>
              <a:rPr sz="1800" spc="-10" dirty="0">
                <a:latin typeface="Times New Roman" panose="02020603050405020304" pitchFamily="18" charset="0"/>
                <a:cs typeface="Times New Roman" panose="02020603050405020304" pitchFamily="18" charset="0"/>
              </a:rPr>
              <a:t> </a:t>
            </a:r>
            <a:r>
              <a:rPr sz="1800" dirty="0">
                <a:latin typeface="Times New Roman" panose="02020603050405020304" pitchFamily="18" charset="0"/>
                <a:cs typeface="Times New Roman" panose="02020603050405020304" pitchFamily="18" charset="0"/>
              </a:rPr>
              <a:t>the</a:t>
            </a:r>
            <a:r>
              <a:rPr sz="1800" spc="-10" dirty="0">
                <a:latin typeface="Times New Roman" panose="02020603050405020304" pitchFamily="18" charset="0"/>
                <a:cs typeface="Times New Roman" panose="02020603050405020304" pitchFamily="18" charset="0"/>
              </a:rPr>
              <a:t> </a:t>
            </a:r>
            <a:r>
              <a:rPr sz="1800" spc="-10" dirty="0" err="1">
                <a:latin typeface="Times New Roman" panose="02020603050405020304" pitchFamily="18" charset="0"/>
                <a:cs typeface="Times New Roman" panose="02020603050405020304" pitchFamily="18" charset="0"/>
              </a:rPr>
              <a:t>Github</a:t>
            </a:r>
            <a:r>
              <a:rPr lang="en-IN" sz="1800" spc="-10" dirty="0">
                <a:latin typeface="Times New Roman" panose="02020603050405020304" pitchFamily="18" charset="0"/>
                <a:cs typeface="Times New Roman" panose="02020603050405020304" pitchFamily="18" charset="0"/>
              </a:rPr>
              <a:t> : https://github.com/pranathibestha/CSE-2022-26-Batch-B15</a:t>
            </a:r>
            <a:endParaRPr sz="1800" dirty="0">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53A07F24-0726-88D4-58E4-EB93EB2EF84E}"/>
              </a:ext>
            </a:extLst>
          </p:cNvPr>
          <p:cNvPicPr>
            <a:picLocks noChangeAspect="1"/>
          </p:cNvPicPr>
          <p:nvPr/>
        </p:nvPicPr>
        <p:blipFill>
          <a:blip r:embed="rId3"/>
          <a:stretch>
            <a:fillRect/>
          </a:stretch>
        </p:blipFill>
        <p:spPr>
          <a:xfrm>
            <a:off x="766665" y="1074240"/>
            <a:ext cx="10053735" cy="473753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3" name="object 3"/>
          <p:cNvSpPr txBox="1"/>
          <p:nvPr/>
        </p:nvSpPr>
        <p:spPr>
          <a:xfrm>
            <a:off x="3200400" y="-10611"/>
            <a:ext cx="3871897"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F</a:t>
            </a:r>
            <a:r>
              <a:rPr lang="en-IN" sz="1500" b="1" i="1" dirty="0" err="1">
                <a:solidFill>
                  <a:srgbClr val="FFFFFF"/>
                </a:solidFill>
                <a:latin typeface="Times New Roman"/>
                <a:cs typeface="Times New Roman"/>
              </a:rPr>
              <a:t>ederated</a:t>
            </a:r>
            <a:r>
              <a:rPr lang="en-IN" sz="1500" b="1" i="1" dirty="0">
                <a:solidFill>
                  <a:srgbClr val="FFFFFF"/>
                </a:solidFill>
                <a:latin typeface="Times New Roman"/>
                <a:cs typeface="Times New Roman"/>
              </a:rPr>
              <a:t> Learning intrusion Detection System</a:t>
            </a:r>
            <a:endParaRPr sz="1500" dirty="0">
              <a:latin typeface="Times New Roman"/>
              <a:cs typeface="Times New Roman"/>
            </a:endParaRPr>
          </a:p>
        </p:txBody>
      </p:sp>
      <p:sp>
        <p:nvSpPr>
          <p:cNvPr id="5" name="object 5"/>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15</a:t>
            </a:r>
            <a:endParaRPr spc="-25" dirty="0"/>
          </a:p>
        </p:txBody>
      </p:sp>
      <p:sp>
        <p:nvSpPr>
          <p:cNvPr id="6" name="object 6"/>
          <p:cNvSpPr txBox="1">
            <a:spLocks noGrp="1"/>
          </p:cNvSpPr>
          <p:nvPr>
            <p:ph type="dt" sz="half" idx="6"/>
          </p:nvPr>
        </p:nvSpPr>
        <p:spPr>
          <a:xfrm>
            <a:off x="1773948" y="6629559"/>
            <a:ext cx="41696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p:cNvSpPr txBox="1"/>
          <p:nvPr/>
        </p:nvSpPr>
        <p:spPr>
          <a:xfrm>
            <a:off x="7147541" y="6629197"/>
            <a:ext cx="42824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11</a:t>
            </a:fld>
            <a:endParaRPr spc="-25" dirty="0"/>
          </a:p>
        </p:txBody>
      </p:sp>
      <p:sp>
        <p:nvSpPr>
          <p:cNvPr id="4" name="object 4"/>
          <p:cNvSpPr txBox="1">
            <a:spLocks noGrp="1"/>
          </p:cNvSpPr>
          <p:nvPr>
            <p:ph type="title"/>
          </p:nvPr>
        </p:nvSpPr>
        <p:spPr>
          <a:xfrm>
            <a:off x="2705705" y="2352272"/>
            <a:ext cx="6692265" cy="1488440"/>
          </a:xfrm>
          <a:prstGeom prst="rect">
            <a:avLst/>
          </a:prstGeom>
        </p:spPr>
        <p:txBody>
          <a:bodyPr vert="horz" wrap="square" lIns="0" tIns="12700" rIns="0" bIns="0" rtlCol="0">
            <a:spAutoFit/>
          </a:bodyPr>
          <a:lstStyle/>
          <a:p>
            <a:pPr marL="12700">
              <a:lnSpc>
                <a:spcPct val="100000"/>
              </a:lnSpc>
              <a:spcBef>
                <a:spcPts val="100"/>
              </a:spcBef>
            </a:pPr>
            <a:r>
              <a:rPr sz="9600" i="1" dirty="0">
                <a:solidFill>
                  <a:srgbClr val="FF6600"/>
                </a:solidFill>
                <a:latin typeface="Times New Roman"/>
                <a:cs typeface="Times New Roman"/>
              </a:rPr>
              <a:t>Any</a:t>
            </a:r>
            <a:r>
              <a:rPr sz="9600" i="1" spc="-30" dirty="0">
                <a:solidFill>
                  <a:srgbClr val="FF6600"/>
                </a:solidFill>
                <a:latin typeface="Times New Roman"/>
                <a:cs typeface="Times New Roman"/>
              </a:rPr>
              <a:t> </a:t>
            </a:r>
            <a:r>
              <a:rPr sz="9600" i="1" spc="-10" dirty="0">
                <a:solidFill>
                  <a:srgbClr val="FF6600"/>
                </a:solidFill>
                <a:latin typeface="Times New Roman"/>
                <a:cs typeface="Times New Roman"/>
              </a:rPr>
              <a:t>Queries?</a:t>
            </a:r>
            <a:endParaRPr sz="9600">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143</TotalTime>
  <Words>968</Words>
  <Application>Microsoft Office PowerPoint</Application>
  <PresentationFormat>Widescreen</PresentationFormat>
  <Paragraphs>135</Paragraphs>
  <Slides>11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Calibri</vt:lpstr>
      <vt:lpstr>Times New Roman</vt:lpstr>
      <vt:lpstr>Office Theme</vt:lpstr>
      <vt:lpstr>                    Federated Learning Intrusion Detection System   </vt:lpstr>
      <vt:lpstr>Contents</vt:lpstr>
      <vt:lpstr>Title Justification</vt:lpstr>
      <vt:lpstr>Abstract</vt:lpstr>
      <vt:lpstr>Problem Statement</vt:lpstr>
      <vt:lpstr>Objectives of Project</vt:lpstr>
      <vt:lpstr>                                     Federated learning Intrusion Detection System</vt:lpstr>
      <vt:lpstr>Proposed System</vt:lpstr>
      <vt:lpstr>References</vt:lpstr>
      <vt:lpstr>Git Hub Dashboards of each student</vt:lpstr>
      <vt:lpstr>Any Queries?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joshika</dc:creator>
  <cp:lastModifiedBy>dinesh chinnu</cp:lastModifiedBy>
  <cp:revision>9</cp:revision>
  <dcterms:created xsi:type="dcterms:W3CDTF">2025-12-02T11:29:58Z</dcterms:created>
  <dcterms:modified xsi:type="dcterms:W3CDTF">2025-12-12T04:51:08Z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2025-12-02T00:00:00Z</vt:filetime>
  </property>
  <property fmtid="{D5CDD505-2E9C-101B-9397-08002B2CF9AE}" pid="3" name="Creator">
    <vt:lpwstr>Google</vt:lpwstr>
  </property>
  <property fmtid="{D5CDD505-2E9C-101B-9397-08002B2CF9AE}" pid="4" name="LastSaved">
    <vt:filetime>2025-12-02T00:00:00Z</vt:filetime>
  </property>
</Properties>
</file>